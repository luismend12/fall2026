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Luis. My project asks a simple question about graph neural networks: which edges in a graph should the model actually trust? I want to answer it with a Bayesian model that uses an LLM to read the node texts, so we get not just a decision but uncertainty about each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GNNs work by passing messages along edges, and they assume every neighbor is reliable. In practice edges can be noisy or deliberately injected, and an attacker can add edges between nodes whose texts look related, so the fake edges are hard to spot. We have two kinds of evidence about each edge, the graph structure and the node texts, and an LLM can read the texts and judge whether a link makes sense, but its judgments are noisy and current defenses combine these signals with hand-made rules. My goal is to treat each edge's reliability as a hidden variable and infer it the Bayesian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use four standard graphs where every node has text: Cora, CiteSeer and PubMed are citation networks of papers, and WikiCS is a network of Wikipedia computer science articles. Each node has its raw text, a topic label, and citation or hyperlink edges. To study unreliable edges, I'll inject fake edges between nodes whose texts look related, from 5 to 40 percent of the edge count, and have an LLM read both endpoint texts of every edge and rate whether the link makes sense, with SBERT similarity as a cheaper baseline. Because I inject the edges myself, I know exactly which ones are fake.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of the model is Bayes' rule, applied to every edge. The hidden question is whether the edge is real or injected. The prior comes from text: an LLM reads both nodes' texts and rates whether the link makes sense, and I treat that rating as noisy evidence rather than truth. The likelihood comes from structure: whether the two endpoints' representations agree during propagation. Multiplying them gives a posterior probability that the edge is real, with uncertainty. The GNN then weights each message by that posterior, its own weights get an approximate posterior too, and the result is node predictions with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hypotheses. One: combining the text prior with the structural likelihood finds injected edges better than either source alone, measured by AUROC. Two: a Bayesian GNN should be more uncertain on the nodes that received fake edges, and stay better calibrated as the attack grows. Three: an LLM that reads both texts should give a better prior than plain embedding similarity, and the gain should be biggest on graphs where the text predicts the labels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this testable is that I inject the fake edges myself, so I know the true answer for every edge. That means I can check the edge posteriors directly against ground truth, at every attack size from 5 to 40 percent, instead of only looking at final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trust the results, I'll first simulate graphs where I control which edges are fake and check that the posterior recovers them. Then I'll compare fake-edge detection using the LLM only, structure only and both, check how well calibrated the LLM's ratings are, check calibration with reliability diagrams on clean and attacked graphs, run a posterior predictive check on label agreement along edges, and compare three ways of approximating the posterior. I'm looking for one or two teammates interested in graph learning, LLMs or Bayesian modeling.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188720"/>
            <a:ext cx="7315200" cy="365760"/>
          </a:xfrm>
          <a:prstGeom prst="rect">
            <a:avLst/>
          </a:prstGeom>
          <a:noFill/>
          <a:ln/>
        </p:spPr>
        <p:txBody>
          <a:bodyPr wrap="square" lIns="0" tIns="0" rIns="0" bIns="0" rtlCol="0" anchor="ctr"/>
          <a:lstStyle/>
          <a:p>
            <a:pPr indent="0" marL="0">
              <a:buNone/>
            </a:pPr>
            <a:r>
              <a:rPr lang="en-US" sz="1400" b="1" spc="400" kern="0" dirty="0">
                <a:solidFill>
                  <a:srgbClr val="F2A65A"/>
                </a:solidFill>
                <a:latin typeface="Calibri" pitchFamily="34" charset="0"/>
                <a:ea typeface="Calibri" pitchFamily="34" charset="-122"/>
                <a:cs typeface="Calibri" pitchFamily="34" charset="-120"/>
              </a:rPr>
              <a:t>CSE5825 · PROJECT 0 PITCH</a:t>
            </a:r>
            <a:endParaRPr lang="en-US" sz="1400" dirty="0"/>
          </a:p>
        </p:txBody>
      </p:sp>
      <p:sp>
        <p:nvSpPr>
          <p:cNvPr id="3" name="Text 1"/>
          <p:cNvSpPr txBox="1"/>
          <p:nvPr/>
        </p:nvSpPr>
        <p:spPr>
          <a:xfrm>
            <a:off x="731520" y="1737360"/>
            <a:ext cx="7498080" cy="201168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Which edges can a GNN trust?</a:t>
            </a:r>
            <a:endParaRPr lang="en-US" sz="4800" dirty="0"/>
          </a:p>
        </p:txBody>
      </p:sp>
      <p:sp>
        <p:nvSpPr>
          <p:cNvPr id="4" name="Text 2"/>
          <p:cNvSpPr txBox="1"/>
          <p:nvPr/>
        </p:nvSpPr>
        <p:spPr>
          <a:xfrm>
            <a:off x="731520" y="3886200"/>
            <a:ext cx="7498080" cy="822960"/>
          </a:xfrm>
          <a:prstGeom prst="rect">
            <a:avLst/>
          </a:prstGeom>
          <a:noFill/>
          <a:ln/>
        </p:spPr>
        <p:txBody>
          <a:bodyPr wrap="square" lIns="0" tIns="0" rIns="0" bIns="0" rtlCol="0" anchor="t"/>
          <a:lstStyle/>
          <a:p>
            <a:pPr indent="0" marL="0">
              <a:buNone/>
            </a:pPr>
            <a:r>
              <a:rPr lang="en-US" sz="2200" dirty="0">
                <a:solidFill>
                  <a:srgbClr val="C9D2E3"/>
                </a:solidFill>
                <a:latin typeface="Calibri" pitchFamily="34" charset="0"/>
                <a:ea typeface="Calibri" pitchFamily="34" charset="-122"/>
                <a:cs typeface="Calibri" pitchFamily="34" charset="-120"/>
              </a:rPr>
              <a:t>A Bayesian view of edge reliability, with LLMs reading the node text</a:t>
            </a:r>
            <a:endParaRPr lang="en-US" sz="2200" dirty="0"/>
          </a:p>
        </p:txBody>
      </p:sp>
      <p:sp>
        <p:nvSpPr>
          <p:cNvPr id="5" name="Text 3"/>
          <p:cNvSpPr txBox="1"/>
          <p:nvPr/>
        </p:nvSpPr>
        <p:spPr>
          <a:xfrm>
            <a:off x="731520" y="5669280"/>
            <a:ext cx="548640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Luis Mendez</a:t>
            </a:r>
            <a:endParaRPr lang="en-US" sz="1800" dirty="0"/>
          </a:p>
        </p:txBody>
      </p:sp>
      <p:sp>
        <p:nvSpPr>
          <p:cNvPr id="6" name="Shape 4"/>
          <p:cNvSpPr/>
          <p:nvPr/>
        </p:nvSpPr>
        <p:spPr>
          <a:xfrm>
            <a:off x="8778240" y="1828800"/>
            <a:ext cx="2743200" cy="2743200"/>
          </a:xfrm>
          <a:prstGeom prst="ellipse">
            <a:avLst/>
          </a:prstGeom>
          <a:solidFill>
            <a:srgbClr val="B4540A"/>
          </a:solidFill>
          <a:ln w="12700">
            <a:solidFill>
              <a:srgbClr val="B4540A"/>
            </a:solidFill>
            <a:prstDash val="solid"/>
          </a:ln>
        </p:spPr>
      </p:sp>
      <p:pic>
        <p:nvPicPr>
          <p:cNvPr id="7" name="Image 0" descr="preencoded.png">    </p:cNvPr>
          <p:cNvPicPr>
            <a:picLocks noChangeAspect="1"/>
          </p:cNvPicPr>
          <p:nvPr/>
        </p:nvPicPr>
        <p:blipFill>
          <a:blip r:embed="rId1"/>
          <a:stretch>
            <a:fillRect/>
          </a:stretch>
        </p:blipFill>
        <p:spPr>
          <a:xfrm>
            <a:off x="9464040" y="251460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Motivation</a:t>
            </a:r>
            <a:endParaRPr lang="en-US" sz="3600" dirty="0"/>
          </a:p>
        </p:txBody>
      </p:sp>
      <p:sp>
        <p:nvSpPr>
          <p:cNvPr id="3" name="Text 1"/>
          <p:cNvSpPr txBox="1"/>
          <p:nvPr/>
        </p:nvSpPr>
        <p:spPr>
          <a:xfrm>
            <a:off x="548640" y="1463040"/>
            <a:ext cx="5029200" cy="2194560"/>
          </a:xfrm>
          <a:prstGeom prst="rect">
            <a:avLst/>
          </a:prstGeom>
          <a:noFill/>
          <a:ln/>
        </p:spPr>
        <p:txBody>
          <a:bodyPr wrap="square" lIns="0" tIns="0" rIns="0" bIns="0" rtlCol="0" anchor="t"/>
          <a:lstStyle/>
          <a:p>
            <a:pPr indent="0" marL="0">
              <a:buNone/>
            </a:pPr>
            <a:r>
              <a:rPr lang="en-US" sz="2600" i="1" dirty="0">
                <a:solidFill>
                  <a:srgbClr val="14213D"/>
                </a:solidFill>
                <a:latin typeface="Cambria" pitchFamily="34" charset="0"/>
                <a:ea typeface="Cambria" pitchFamily="34" charset="-122"/>
                <a:cs typeface="Cambria" pitchFamily="34" charset="-120"/>
              </a:rPr>
              <a:t>GNNs learn by passing messages along edges. But what if some edges are wrong?</a:t>
            </a:r>
            <a:endParaRPr lang="en-US" sz="2600" dirty="0"/>
          </a:p>
        </p:txBody>
      </p:sp>
      <p:sp>
        <p:nvSpPr>
          <p:cNvPr id="4" name="Shape 2"/>
          <p:cNvSpPr/>
          <p:nvPr/>
        </p:nvSpPr>
        <p:spPr>
          <a:xfrm>
            <a:off x="548640" y="4206240"/>
            <a:ext cx="5029200" cy="1325880"/>
          </a:xfrm>
          <a:prstGeom prst="roundRect">
            <a:avLst>
              <a:gd name="adj" fmla="val 8276"/>
            </a:avLst>
          </a:prstGeom>
          <a:solidFill>
            <a:srgbClr val="F4F5F8"/>
          </a:solidFill>
          <a:ln w="12700">
            <a:solidFill>
              <a:srgbClr val="F4F5F8"/>
            </a:solidFill>
            <a:prstDash val="solid"/>
          </a:ln>
        </p:spPr>
      </p:sp>
      <p:sp>
        <p:nvSpPr>
          <p:cNvPr id="5" name="Text 3"/>
          <p:cNvSpPr txBox="1"/>
          <p:nvPr/>
        </p:nvSpPr>
        <p:spPr>
          <a:xfrm>
            <a:off x="822960" y="4389120"/>
            <a:ext cx="4480560" cy="1005840"/>
          </a:xfrm>
          <a:prstGeom prst="rect">
            <a:avLst/>
          </a:prstGeom>
          <a:noFill/>
          <a:ln/>
        </p:spPr>
        <p:txBody>
          <a:bodyPr wrap="square" lIns="0" tIns="0" rIns="0" bIns="0" rtlCol="0" anchor="t"/>
          <a:lstStyle/>
          <a:p>
            <a:pPr indent="0" marL="0">
              <a:spcAft>
                <a:spcPts val="600"/>
              </a:spcAft>
              <a:buNone/>
            </a:pPr>
            <a:r>
              <a:rPr lang="en-US" sz="1300" b="1" spc="300" kern="0" dirty="0">
                <a:solidFill>
                  <a:srgbClr val="B4540A"/>
                </a:solidFill>
                <a:latin typeface="Calibri" pitchFamily="34" charset="0"/>
                <a:ea typeface="Calibri" pitchFamily="34" charset="-122"/>
                <a:cs typeface="Calibri" pitchFamily="34" charset="-120"/>
              </a:rPr>
              <a:t>GOAL</a:t>
            </a:r>
            <a:endParaRPr lang="en-US" sz="1300" dirty="0"/>
          </a:p>
          <a:p>
            <a:pPr indent="0" marL="0">
              <a:spcAft>
                <a:spcPts val="600"/>
              </a:spcAft>
              <a:buNone/>
            </a:pPr>
            <a:r>
              <a:rPr lang="en-US" sz="1800" dirty="0">
                <a:solidFill>
                  <a:srgbClr val="14213D"/>
                </a:solidFill>
                <a:latin typeface="Calibri" pitchFamily="34" charset="0"/>
                <a:ea typeface="Calibri" pitchFamily="34" charset="-122"/>
                <a:cs typeface="Calibri" pitchFamily="34" charset="-120"/>
              </a:rPr>
              <a:t>Treat each edge’s reliability as a hidden variable, and infer it with uncertainty.</a:t>
            </a:r>
            <a:endParaRPr lang="en-US" sz="1300" dirty="0"/>
          </a:p>
        </p:txBody>
      </p:sp>
      <p:sp>
        <p:nvSpPr>
          <p:cNvPr id="6" name="Shape 4"/>
          <p:cNvSpPr/>
          <p:nvPr/>
        </p:nvSpPr>
        <p:spPr>
          <a:xfrm>
            <a:off x="6217920" y="1463040"/>
            <a:ext cx="731520" cy="731520"/>
          </a:xfrm>
          <a:prstGeom prst="ellipse">
            <a:avLst/>
          </a:prstGeom>
          <a:solidFill>
            <a:srgbClr val="B4540A"/>
          </a:solidFill>
          <a:ln w="12700">
            <a:solidFill>
              <a:srgbClr val="B4540A"/>
            </a:solidFill>
            <a:prstDash val="solid"/>
          </a:ln>
        </p:spPr>
      </p:sp>
      <p:pic>
        <p:nvPicPr>
          <p:cNvPr id="7" name="Image 0" descr="preencoded.png">    </p:cNvPr>
          <p:cNvPicPr>
            <a:picLocks noChangeAspect="1"/>
          </p:cNvPicPr>
          <p:nvPr/>
        </p:nvPicPr>
        <p:blipFill>
          <a:blip r:embed="rId1"/>
          <a:stretch>
            <a:fillRect/>
          </a:stretch>
        </p:blipFill>
        <p:spPr>
          <a:xfrm>
            <a:off x="6400800" y="1645920"/>
            <a:ext cx="365760" cy="365760"/>
          </a:xfrm>
          <a:prstGeom prst="rect">
            <a:avLst/>
          </a:prstGeom>
        </p:spPr>
      </p:pic>
      <p:sp>
        <p:nvSpPr>
          <p:cNvPr id="8" name="Text 5"/>
          <p:cNvSpPr txBox="1"/>
          <p:nvPr/>
        </p:nvSpPr>
        <p:spPr>
          <a:xfrm>
            <a:off x="7178040" y="1417320"/>
            <a:ext cx="4480560" cy="1280160"/>
          </a:xfrm>
          <a:prstGeom prst="rect">
            <a:avLst/>
          </a:prstGeom>
          <a:noFill/>
          <a:ln/>
        </p:spPr>
        <p:txBody>
          <a:bodyPr wrap="square" lIns="0" tIns="0" rIns="0" bIns="0" rtlCol="0" anchor="t"/>
          <a:lstStyle/>
          <a:p>
            <a:pPr indent="0" marL="0">
              <a:spcAft>
                <a:spcPts val="400"/>
              </a:spcAft>
              <a:buNone/>
            </a:pPr>
            <a:r>
              <a:rPr lang="en-US" sz="1800" b="1" dirty="0">
                <a:solidFill>
                  <a:srgbClr val="14213D"/>
                </a:solidFill>
                <a:latin typeface="Calibri" pitchFamily="34" charset="0"/>
                <a:ea typeface="Calibri" pitchFamily="34" charset="-122"/>
                <a:cs typeface="Calibri" pitchFamily="34" charset="-120"/>
              </a:rPr>
              <a:t>GNNs trust every edge</a:t>
            </a:r>
            <a:endParaRPr lang="en-US" sz="1800" dirty="0"/>
          </a:p>
          <a:p>
            <a:pPr indent="0" marL="0">
              <a:spcAft>
                <a:spcPts val="400"/>
              </a:spcAft>
              <a:buNone/>
            </a:pPr>
            <a:r>
              <a:rPr lang="en-US" sz="1400" dirty="0">
                <a:solidFill>
                  <a:srgbClr val="4A5568"/>
                </a:solidFill>
                <a:latin typeface="Calibri" pitchFamily="34" charset="0"/>
                <a:ea typeface="Calibri" pitchFamily="34" charset="-122"/>
                <a:cs typeface="Calibri" pitchFamily="34" charset="-120"/>
              </a:rPr>
              <a:t>Message passing assumes each neighbor is reliable evidence about a node.</a:t>
            </a:r>
            <a:endParaRPr lang="en-US" sz="1800" dirty="0"/>
          </a:p>
        </p:txBody>
      </p:sp>
      <p:sp>
        <p:nvSpPr>
          <p:cNvPr id="9" name="Shape 6"/>
          <p:cNvSpPr/>
          <p:nvPr/>
        </p:nvSpPr>
        <p:spPr>
          <a:xfrm>
            <a:off x="6217920" y="2926080"/>
            <a:ext cx="731520" cy="731520"/>
          </a:xfrm>
          <a:prstGeom prst="ellipse">
            <a:avLst/>
          </a:prstGeom>
          <a:solidFill>
            <a:srgbClr val="B4540A"/>
          </a:solidFill>
          <a:ln w="12700">
            <a:solidFill>
              <a:srgbClr val="B4540A"/>
            </a:solidFill>
            <a:prstDash val="solid"/>
          </a:ln>
        </p:spPr>
      </p:sp>
      <p:pic>
        <p:nvPicPr>
          <p:cNvPr id="10" name="Image 1" descr="preencoded.png">    </p:cNvPr>
          <p:cNvPicPr>
            <a:picLocks noChangeAspect="1"/>
          </p:cNvPicPr>
          <p:nvPr/>
        </p:nvPicPr>
        <p:blipFill>
          <a:blip r:embed="rId2"/>
          <a:stretch>
            <a:fillRect/>
          </a:stretch>
        </p:blipFill>
        <p:spPr>
          <a:xfrm>
            <a:off x="6400800" y="3108960"/>
            <a:ext cx="365760" cy="365760"/>
          </a:xfrm>
          <a:prstGeom prst="rect">
            <a:avLst/>
          </a:prstGeom>
        </p:spPr>
      </p:pic>
      <p:sp>
        <p:nvSpPr>
          <p:cNvPr id="11" name="Text 7"/>
          <p:cNvSpPr txBox="1"/>
          <p:nvPr/>
        </p:nvSpPr>
        <p:spPr>
          <a:xfrm>
            <a:off x="7178040" y="2880360"/>
            <a:ext cx="4480560" cy="1280160"/>
          </a:xfrm>
          <a:prstGeom prst="rect">
            <a:avLst/>
          </a:prstGeom>
          <a:noFill/>
          <a:ln/>
        </p:spPr>
        <p:txBody>
          <a:bodyPr wrap="square" lIns="0" tIns="0" rIns="0" bIns="0" rtlCol="0" anchor="t"/>
          <a:lstStyle/>
          <a:p>
            <a:pPr indent="0" marL="0">
              <a:spcAft>
                <a:spcPts val="400"/>
              </a:spcAft>
              <a:buNone/>
            </a:pPr>
            <a:r>
              <a:rPr lang="en-US" sz="1800" b="1" dirty="0">
                <a:solidFill>
                  <a:srgbClr val="14213D"/>
                </a:solidFill>
                <a:latin typeface="Calibri" pitchFamily="34" charset="0"/>
                <a:ea typeface="Calibri" pitchFamily="34" charset="-122"/>
                <a:cs typeface="Calibri" pitchFamily="34" charset="-120"/>
              </a:rPr>
              <a:t>Edges can be noisy or attacked</a:t>
            </a:r>
            <a:endParaRPr lang="en-US" sz="1800" dirty="0"/>
          </a:p>
          <a:p>
            <a:pPr indent="0" marL="0">
              <a:spcAft>
                <a:spcPts val="400"/>
              </a:spcAft>
              <a:buNone/>
            </a:pPr>
            <a:r>
              <a:rPr lang="en-US" sz="1400" dirty="0">
                <a:solidFill>
                  <a:srgbClr val="4A5568"/>
                </a:solidFill>
                <a:latin typeface="Calibri" pitchFamily="34" charset="0"/>
                <a:ea typeface="Calibri" pitchFamily="34" charset="-122"/>
                <a:cs typeface="Calibri" pitchFamily="34" charset="-120"/>
              </a:rPr>
              <a:t>An attacker can add edges between nodes whose texts look related, which are hard to spot.</a:t>
            </a:r>
            <a:endParaRPr lang="en-US" sz="1800" dirty="0"/>
          </a:p>
        </p:txBody>
      </p:sp>
      <p:sp>
        <p:nvSpPr>
          <p:cNvPr id="12" name="Shape 8"/>
          <p:cNvSpPr/>
          <p:nvPr/>
        </p:nvSpPr>
        <p:spPr>
          <a:xfrm>
            <a:off x="6217920" y="4389120"/>
            <a:ext cx="731520" cy="731520"/>
          </a:xfrm>
          <a:prstGeom prst="ellipse">
            <a:avLst/>
          </a:prstGeom>
          <a:solidFill>
            <a:srgbClr val="B4540A"/>
          </a:solidFill>
          <a:ln w="12700">
            <a:solidFill>
              <a:srgbClr val="B4540A"/>
            </a:solidFill>
            <a:prstDash val="solid"/>
          </a:ln>
        </p:spPr>
      </p:sp>
      <p:pic>
        <p:nvPicPr>
          <p:cNvPr id="13" name="Image 2" descr="preencoded.png">    </p:cNvPr>
          <p:cNvPicPr>
            <a:picLocks noChangeAspect="1"/>
          </p:cNvPicPr>
          <p:nvPr/>
        </p:nvPicPr>
        <p:blipFill>
          <a:blip r:embed="rId3"/>
          <a:stretch>
            <a:fillRect/>
          </a:stretch>
        </p:blipFill>
        <p:spPr>
          <a:xfrm>
            <a:off x="6400800" y="4572000"/>
            <a:ext cx="365760" cy="365760"/>
          </a:xfrm>
          <a:prstGeom prst="rect">
            <a:avLst/>
          </a:prstGeom>
        </p:spPr>
      </p:pic>
      <p:sp>
        <p:nvSpPr>
          <p:cNvPr id="14" name="Text 9"/>
          <p:cNvSpPr txBox="1"/>
          <p:nvPr/>
        </p:nvSpPr>
        <p:spPr>
          <a:xfrm>
            <a:off x="7178040" y="4343400"/>
            <a:ext cx="4480560" cy="1280160"/>
          </a:xfrm>
          <a:prstGeom prst="rect">
            <a:avLst/>
          </a:prstGeom>
          <a:noFill/>
          <a:ln/>
        </p:spPr>
        <p:txBody>
          <a:bodyPr wrap="square" lIns="0" tIns="0" rIns="0" bIns="0" rtlCol="0" anchor="t"/>
          <a:lstStyle/>
          <a:p>
            <a:pPr indent="0" marL="0">
              <a:spcAft>
                <a:spcPts val="400"/>
              </a:spcAft>
              <a:buNone/>
            </a:pPr>
            <a:r>
              <a:rPr lang="en-US" sz="1800" b="1" dirty="0">
                <a:solidFill>
                  <a:srgbClr val="14213D"/>
                </a:solidFill>
                <a:latin typeface="Calibri" pitchFamily="34" charset="0"/>
                <a:ea typeface="Calibri" pitchFamily="34" charset="-122"/>
                <a:cs typeface="Calibri" pitchFamily="34" charset="-120"/>
              </a:rPr>
              <a:t>Two kinds of evidence, no principled mix</a:t>
            </a:r>
            <a:endParaRPr lang="en-US" sz="1800" dirty="0"/>
          </a:p>
          <a:p>
            <a:pPr indent="0" marL="0">
              <a:spcAft>
                <a:spcPts val="400"/>
              </a:spcAft>
              <a:buNone/>
            </a:pPr>
            <a:r>
              <a:rPr lang="en-US" sz="1400" dirty="0">
                <a:solidFill>
                  <a:srgbClr val="4A5568"/>
                </a:solidFill>
                <a:latin typeface="Calibri" pitchFamily="34" charset="0"/>
                <a:ea typeface="Calibri" pitchFamily="34" charset="-122"/>
                <a:cs typeface="Calibri" pitchFamily="34" charset="-120"/>
              </a:rPr>
              <a:t>Structure and text both say something about an edge. An LLM can read the texts, but its judgments are noisy.</a:t>
            </a:r>
            <a:endParaRPr lang="en-US" sz="1800" dirty="0"/>
          </a:p>
        </p:txBody>
      </p:sp>
      <p:sp>
        <p:nvSpPr>
          <p:cNvPr id="15" name="Text 10"/>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16" name="Text 11"/>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100" dirty="0">
                <a:solidFill>
                  <a:srgbClr val="4A5568"/>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Datasets: four text-attributed graphs</a:t>
            </a:r>
            <a:endParaRPr lang="en-US" sz="3600" dirty="0"/>
          </a:p>
        </p:txBody>
      </p:sp>
      <p:sp>
        <p:nvSpPr>
          <p:cNvPr id="3" name="Text 1"/>
          <p:cNvSpPr txBox="1"/>
          <p:nvPr/>
        </p:nvSpPr>
        <p:spPr>
          <a:xfrm>
            <a:off x="548640" y="1325880"/>
            <a:ext cx="2606040" cy="731520"/>
          </a:xfrm>
          <a:prstGeom prst="rect">
            <a:avLst/>
          </a:prstGeom>
          <a:noFill/>
          <a:ln/>
        </p:spPr>
        <p:txBody>
          <a:bodyPr wrap="square" lIns="0" tIns="0" rIns="0" bIns="0" rtlCol="0" anchor="ctr"/>
          <a:lstStyle/>
          <a:p>
            <a:pPr indent="0" marL="0">
              <a:buNone/>
            </a:pPr>
            <a:r>
              <a:rPr lang="en-US" sz="3400" b="1" dirty="0">
                <a:solidFill>
                  <a:srgbClr val="B4540A"/>
                </a:solidFill>
                <a:latin typeface="Cambria" pitchFamily="34" charset="0"/>
                <a:ea typeface="Cambria" pitchFamily="34" charset="-122"/>
                <a:cs typeface="Cambria" pitchFamily="34" charset="-120"/>
              </a:rPr>
              <a:t>Cora</a:t>
            </a:r>
            <a:endParaRPr lang="en-US" sz="3400" dirty="0"/>
          </a:p>
        </p:txBody>
      </p:sp>
      <p:sp>
        <p:nvSpPr>
          <p:cNvPr id="4" name="Text 2"/>
          <p:cNvSpPr txBox="1"/>
          <p:nvPr/>
        </p:nvSpPr>
        <p:spPr>
          <a:xfrm>
            <a:off x="548640" y="2057400"/>
            <a:ext cx="2606040" cy="86868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2,708 nodes · 5,429 edges · 7 classes</a:t>
            </a:r>
            <a:endParaRPr lang="en-US" sz="1400" dirty="0"/>
          </a:p>
          <a:p>
            <a:pPr indent="0" marL="0">
              <a:buNone/>
            </a:pPr>
            <a:r>
              <a:rPr lang="en-US" sz="1400" dirty="0">
                <a:solidFill>
                  <a:srgbClr val="4A5568"/>
                </a:solidFill>
                <a:latin typeface="Calibri" pitchFamily="34" charset="0"/>
                <a:ea typeface="Calibri" pitchFamily="34" charset="-122"/>
                <a:cs typeface="Calibri" pitchFamily="34" charset="-120"/>
              </a:rPr>
              <a:t>ML paper citations</a:t>
            </a:r>
            <a:endParaRPr lang="en-US" sz="1400" dirty="0"/>
          </a:p>
        </p:txBody>
      </p:sp>
      <p:sp>
        <p:nvSpPr>
          <p:cNvPr id="5" name="Text 3"/>
          <p:cNvSpPr txBox="1"/>
          <p:nvPr/>
        </p:nvSpPr>
        <p:spPr>
          <a:xfrm>
            <a:off x="3364992" y="1325880"/>
            <a:ext cx="2606040" cy="731520"/>
          </a:xfrm>
          <a:prstGeom prst="rect">
            <a:avLst/>
          </a:prstGeom>
          <a:noFill/>
          <a:ln/>
        </p:spPr>
        <p:txBody>
          <a:bodyPr wrap="square" lIns="0" tIns="0" rIns="0" bIns="0" rtlCol="0" anchor="ctr"/>
          <a:lstStyle/>
          <a:p>
            <a:pPr indent="0" marL="0">
              <a:buNone/>
            </a:pPr>
            <a:r>
              <a:rPr lang="en-US" sz="3400" b="1" dirty="0">
                <a:solidFill>
                  <a:srgbClr val="B4540A"/>
                </a:solidFill>
                <a:latin typeface="Cambria" pitchFamily="34" charset="0"/>
                <a:ea typeface="Cambria" pitchFamily="34" charset="-122"/>
                <a:cs typeface="Cambria" pitchFamily="34" charset="-120"/>
              </a:rPr>
              <a:t>CiteSeer</a:t>
            </a:r>
            <a:endParaRPr lang="en-US" sz="3400" dirty="0"/>
          </a:p>
        </p:txBody>
      </p:sp>
      <p:sp>
        <p:nvSpPr>
          <p:cNvPr id="6" name="Text 4"/>
          <p:cNvSpPr txBox="1"/>
          <p:nvPr/>
        </p:nvSpPr>
        <p:spPr>
          <a:xfrm>
            <a:off x="3364992" y="2057400"/>
            <a:ext cx="2606040" cy="86868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3,327 nodes · 4,732 edges · 6 classes</a:t>
            </a:r>
            <a:endParaRPr lang="en-US" sz="1400" dirty="0"/>
          </a:p>
          <a:p>
            <a:pPr indent="0" marL="0">
              <a:buNone/>
            </a:pPr>
            <a:r>
              <a:rPr lang="en-US" sz="1400" dirty="0">
                <a:solidFill>
                  <a:srgbClr val="4A5568"/>
                </a:solidFill>
                <a:latin typeface="Calibri" pitchFamily="34" charset="0"/>
                <a:ea typeface="Calibri" pitchFamily="34" charset="-122"/>
                <a:cs typeface="Calibri" pitchFamily="34" charset="-120"/>
              </a:rPr>
              <a:t>CS paper citations</a:t>
            </a:r>
            <a:endParaRPr lang="en-US" sz="1400" dirty="0"/>
          </a:p>
        </p:txBody>
      </p:sp>
      <p:sp>
        <p:nvSpPr>
          <p:cNvPr id="7" name="Text 5"/>
          <p:cNvSpPr txBox="1"/>
          <p:nvPr/>
        </p:nvSpPr>
        <p:spPr>
          <a:xfrm>
            <a:off x="6181344" y="1325880"/>
            <a:ext cx="2606040" cy="731520"/>
          </a:xfrm>
          <a:prstGeom prst="rect">
            <a:avLst/>
          </a:prstGeom>
          <a:noFill/>
          <a:ln/>
        </p:spPr>
        <p:txBody>
          <a:bodyPr wrap="square" lIns="0" tIns="0" rIns="0" bIns="0" rtlCol="0" anchor="ctr"/>
          <a:lstStyle/>
          <a:p>
            <a:pPr indent="0" marL="0">
              <a:buNone/>
            </a:pPr>
            <a:r>
              <a:rPr lang="en-US" sz="3400" b="1" dirty="0">
                <a:solidFill>
                  <a:srgbClr val="B4540A"/>
                </a:solidFill>
                <a:latin typeface="Cambria" pitchFamily="34" charset="0"/>
                <a:ea typeface="Cambria" pitchFamily="34" charset="-122"/>
                <a:cs typeface="Cambria" pitchFamily="34" charset="-120"/>
              </a:rPr>
              <a:t>PubMed</a:t>
            </a:r>
            <a:endParaRPr lang="en-US" sz="3400" dirty="0"/>
          </a:p>
        </p:txBody>
      </p:sp>
      <p:sp>
        <p:nvSpPr>
          <p:cNvPr id="8" name="Text 6"/>
          <p:cNvSpPr txBox="1"/>
          <p:nvPr/>
        </p:nvSpPr>
        <p:spPr>
          <a:xfrm>
            <a:off x="6181344" y="2057400"/>
            <a:ext cx="2606040" cy="86868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19,717 nodes · 44,338 edges · 3 classes</a:t>
            </a:r>
            <a:endParaRPr lang="en-US" sz="1400" dirty="0"/>
          </a:p>
          <a:p>
            <a:pPr indent="0" marL="0">
              <a:buNone/>
            </a:pPr>
            <a:r>
              <a:rPr lang="en-US" sz="1400" dirty="0">
                <a:solidFill>
                  <a:srgbClr val="4A5568"/>
                </a:solidFill>
                <a:latin typeface="Calibri" pitchFamily="34" charset="0"/>
                <a:ea typeface="Calibri" pitchFamily="34" charset="-122"/>
                <a:cs typeface="Calibri" pitchFamily="34" charset="-120"/>
              </a:rPr>
              <a:t>diabetes paper citations</a:t>
            </a:r>
            <a:endParaRPr lang="en-US" sz="1400" dirty="0"/>
          </a:p>
        </p:txBody>
      </p:sp>
      <p:sp>
        <p:nvSpPr>
          <p:cNvPr id="9" name="Text 7"/>
          <p:cNvSpPr txBox="1"/>
          <p:nvPr/>
        </p:nvSpPr>
        <p:spPr>
          <a:xfrm>
            <a:off x="8997696" y="1325880"/>
            <a:ext cx="2606040" cy="731520"/>
          </a:xfrm>
          <a:prstGeom prst="rect">
            <a:avLst/>
          </a:prstGeom>
          <a:noFill/>
          <a:ln/>
        </p:spPr>
        <p:txBody>
          <a:bodyPr wrap="square" lIns="0" tIns="0" rIns="0" bIns="0" rtlCol="0" anchor="ctr"/>
          <a:lstStyle/>
          <a:p>
            <a:pPr indent="0" marL="0">
              <a:buNone/>
            </a:pPr>
            <a:r>
              <a:rPr lang="en-US" sz="3400" b="1" dirty="0">
                <a:solidFill>
                  <a:srgbClr val="B4540A"/>
                </a:solidFill>
                <a:latin typeface="Cambria" pitchFamily="34" charset="0"/>
                <a:ea typeface="Cambria" pitchFamily="34" charset="-122"/>
                <a:cs typeface="Cambria" pitchFamily="34" charset="-120"/>
              </a:rPr>
              <a:t>WikiCS</a:t>
            </a:r>
            <a:endParaRPr lang="en-US" sz="3400" dirty="0"/>
          </a:p>
        </p:txBody>
      </p:sp>
      <p:sp>
        <p:nvSpPr>
          <p:cNvPr id="10" name="Text 8"/>
          <p:cNvSpPr txBox="1"/>
          <p:nvPr/>
        </p:nvSpPr>
        <p:spPr>
          <a:xfrm>
            <a:off x="8997696" y="2057400"/>
            <a:ext cx="2606040" cy="86868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11,701 nodes · 216,123 edges · 10 classes</a:t>
            </a:r>
            <a:endParaRPr lang="en-US" sz="1400" dirty="0"/>
          </a:p>
          <a:p>
            <a:pPr indent="0" marL="0">
              <a:buNone/>
            </a:pPr>
            <a:r>
              <a:rPr lang="en-US" sz="1400" dirty="0">
                <a:solidFill>
                  <a:srgbClr val="4A5568"/>
                </a:solidFill>
                <a:latin typeface="Calibri" pitchFamily="34" charset="0"/>
                <a:ea typeface="Calibri" pitchFamily="34" charset="-122"/>
                <a:cs typeface="Calibri" pitchFamily="34" charset="-120"/>
              </a:rPr>
              <a:t>Wikipedia CS articles</a:t>
            </a:r>
            <a:endParaRPr lang="en-US" sz="1400" dirty="0"/>
          </a:p>
        </p:txBody>
      </p:sp>
      <p:sp>
        <p:nvSpPr>
          <p:cNvPr id="11" name="Shape 9"/>
          <p:cNvSpPr/>
          <p:nvPr/>
        </p:nvSpPr>
        <p:spPr>
          <a:xfrm>
            <a:off x="548640" y="3246120"/>
            <a:ext cx="5440680" cy="2743200"/>
          </a:xfrm>
          <a:prstGeom prst="roundRect">
            <a:avLst>
              <a:gd name="adj" fmla="val 4000"/>
            </a:avLst>
          </a:prstGeom>
          <a:solidFill>
            <a:srgbClr val="F4F5F8"/>
          </a:solidFill>
          <a:ln w="12700">
            <a:solidFill>
              <a:srgbClr val="F4F5F8"/>
            </a:solidFill>
            <a:prstDash val="solid"/>
          </a:ln>
        </p:spPr>
      </p:sp>
      <p:sp>
        <p:nvSpPr>
          <p:cNvPr id="12" name="Text 10"/>
          <p:cNvSpPr txBox="1"/>
          <p:nvPr/>
        </p:nvSpPr>
        <p:spPr>
          <a:xfrm>
            <a:off x="822960" y="3429000"/>
            <a:ext cx="4937760" cy="41148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Each node comes with</a:t>
            </a:r>
            <a:endParaRPr lang="en-US" sz="1800" dirty="0"/>
          </a:p>
        </p:txBody>
      </p:sp>
      <p:sp>
        <p:nvSpPr>
          <p:cNvPr id="13" name="Text 11"/>
          <p:cNvSpPr txBox="1"/>
          <p:nvPr/>
        </p:nvSpPr>
        <p:spPr>
          <a:xfrm>
            <a:off x="822960" y="3886200"/>
            <a:ext cx="493776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Raw text: a paper’s title and abstract, or an article</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A class label (the paper’s or article’s topic)</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Edges: citations or hyperlinks</a:t>
            </a:r>
            <a:endParaRPr lang="en-US" sz="1500" dirty="0"/>
          </a:p>
          <a:p>
            <a:pPr marL="342900" indent="-342900">
              <a:spcAft>
                <a:spcPts val="600"/>
              </a:spcAft>
              <a:buSzPct val="100000"/>
              <a:buChar char="•"/>
            </a:pPr>
            <a:r>
              <a:rPr lang="en-US" sz="1500" dirty="0">
                <a:solidFill>
                  <a:srgbClr val="4A5568"/>
                </a:solidFill>
                <a:latin typeface="Calibri" pitchFamily="34" charset="0"/>
                <a:ea typeface="Calibri" pitchFamily="34" charset="-122"/>
                <a:cs typeface="Calibri" pitchFamily="34" charset="-120"/>
              </a:rPr>
              <a:t>Standard train / validation / test splits</a:t>
            </a:r>
            <a:endParaRPr lang="en-US" sz="1500" dirty="0"/>
          </a:p>
        </p:txBody>
      </p:sp>
      <p:sp>
        <p:nvSpPr>
          <p:cNvPr id="14" name="Shape 12"/>
          <p:cNvSpPr/>
          <p:nvPr/>
        </p:nvSpPr>
        <p:spPr>
          <a:xfrm>
            <a:off x="6199632" y="3246120"/>
            <a:ext cx="5440680" cy="2743200"/>
          </a:xfrm>
          <a:prstGeom prst="roundRect">
            <a:avLst>
              <a:gd name="adj" fmla="val 4000"/>
            </a:avLst>
          </a:prstGeom>
          <a:solidFill>
            <a:srgbClr val="14213D"/>
          </a:solidFill>
          <a:ln w="12700">
            <a:solidFill>
              <a:srgbClr val="14213D"/>
            </a:solidFill>
            <a:prstDash val="solid"/>
          </a:ln>
        </p:spPr>
      </p:sp>
      <p:sp>
        <p:nvSpPr>
          <p:cNvPr id="15" name="Text 13"/>
          <p:cNvSpPr txBox="1"/>
          <p:nvPr/>
        </p:nvSpPr>
        <p:spPr>
          <a:xfrm>
            <a:off x="6473952" y="3429000"/>
            <a:ext cx="4937760" cy="411480"/>
          </a:xfrm>
          <a:prstGeom prst="rect">
            <a:avLst/>
          </a:prstGeom>
          <a:noFill/>
          <a:ln/>
        </p:spPr>
        <p:txBody>
          <a:bodyPr wrap="square" lIns="0" tIns="0" rIns="0" bIns="0" rtlCol="0" anchor="ctr"/>
          <a:lstStyle/>
          <a:p>
            <a:pPr indent="0" marL="0">
              <a:buNone/>
            </a:pPr>
            <a:r>
              <a:rPr lang="en-US" sz="1800" b="1" dirty="0">
                <a:solidFill>
                  <a:srgbClr val="F2A65A"/>
                </a:solidFill>
                <a:latin typeface="Calibri" pitchFamily="34" charset="0"/>
                <a:ea typeface="Calibri" pitchFamily="34" charset="-122"/>
                <a:cs typeface="Calibri" pitchFamily="34" charset="-120"/>
              </a:rPr>
              <a:t>What I add</a:t>
            </a:r>
            <a:endParaRPr lang="en-US" sz="1800" dirty="0"/>
          </a:p>
        </p:txBody>
      </p:sp>
      <p:sp>
        <p:nvSpPr>
          <p:cNvPr id="16" name="Text 14"/>
          <p:cNvSpPr txBox="1"/>
          <p:nvPr/>
        </p:nvSpPr>
        <p:spPr>
          <a:xfrm>
            <a:off x="6473952" y="3886200"/>
            <a:ext cx="4937760" cy="1920240"/>
          </a:xfrm>
          <a:prstGeom prst="rect">
            <a:avLst/>
          </a:prstGeom>
          <a:noFill/>
          <a:ln/>
        </p:spPr>
        <p:txBody>
          <a:bodyPr wrap="square" lIns="0" tIns="0" rIns="0" bIns="0" rtlCol="0" anchor="t"/>
          <a:lstStyle/>
          <a:p>
            <a:pPr indent="0" marL="0">
              <a:spcAft>
                <a:spcPts val="1000"/>
              </a:spcAft>
              <a:buNone/>
            </a:pPr>
            <a:r>
              <a:rPr lang="en-US" sz="1600" dirty="0">
                <a:solidFill>
                  <a:srgbClr val="FFFFFF"/>
                </a:solidFill>
                <a:latin typeface="Calibri" pitchFamily="34" charset="0"/>
                <a:ea typeface="Calibri" pitchFamily="34" charset="-122"/>
                <a:cs typeface="Calibri" pitchFamily="34" charset="-120"/>
              </a:rPr>
              <a:t>Injected edges between textually similar non-neighbors, at 5–40% of the edge count</a:t>
            </a:r>
            <a:endParaRPr lang="en-US" sz="1600" dirty="0"/>
          </a:p>
          <a:p>
            <a:pPr indent="0" marL="0">
              <a:spcAft>
                <a:spcPts val="1000"/>
              </a:spcAft>
              <a:buNone/>
            </a:pPr>
            <a:r>
              <a:rPr lang="en-US" sz="1600" dirty="0">
                <a:solidFill>
                  <a:srgbClr val="FFFFFF"/>
                </a:solidFill>
                <a:latin typeface="Calibri" pitchFamily="34" charset="0"/>
                <a:ea typeface="Calibri" pitchFamily="34" charset="-122"/>
                <a:cs typeface="Calibri" pitchFamily="34" charset="-120"/>
              </a:rPr>
              <a:t>An LLM score for every edge: it reads both texts and rates whether the link makes sense (SBERT similarity as a cheaper baseline)</a:t>
            </a:r>
            <a:endParaRPr lang="en-US" sz="1600" dirty="0"/>
          </a:p>
          <a:p>
            <a:pPr indent="0" marL="0">
              <a:spcAft>
                <a:spcPts val="1000"/>
              </a:spcAft>
              <a:buNone/>
            </a:pPr>
            <a:r>
              <a:rPr lang="en-US" sz="1600" b="1" dirty="0">
                <a:solidFill>
                  <a:srgbClr val="FFFFFF"/>
                </a:solidFill>
                <a:latin typeface="Calibri" pitchFamily="34" charset="0"/>
                <a:ea typeface="Calibri" pitchFamily="34" charset="-122"/>
                <a:cs typeface="Calibri" pitchFamily="34" charset="-120"/>
              </a:rPr>
              <a:t>→ ground truth: which edges are real and which are fake</a:t>
            </a:r>
            <a:endParaRPr lang="en-US" sz="1600" dirty="0"/>
          </a:p>
        </p:txBody>
      </p:sp>
      <p:sp>
        <p:nvSpPr>
          <p:cNvPr id="17" name="Text 15"/>
          <p:cNvSpPr txBox="1"/>
          <p:nvPr/>
        </p:nvSpPr>
        <p:spPr>
          <a:xfrm>
            <a:off x="548640" y="6080760"/>
            <a:ext cx="10972800" cy="228600"/>
          </a:xfrm>
          <a:prstGeom prst="rect">
            <a:avLst/>
          </a:prstGeom>
          <a:noFill/>
          <a:ln/>
        </p:spPr>
        <p:txBody>
          <a:bodyPr wrap="square" lIns="0" tIns="0" rIns="0" bIns="0"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Sources: Cora, CiteSeer, PubMed (Sen et al., 2008) · WikiCS (Mernyei &amp; Cangea, 2020) · counts are the standard versions</a:t>
            </a:r>
            <a:endParaRPr lang="en-US" sz="1000" dirty="0"/>
          </a:p>
        </p:txBody>
      </p:sp>
      <p:sp>
        <p:nvSpPr>
          <p:cNvPr id="18" name="Text 16"/>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19" name="Text 17"/>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100" dirty="0">
                <a:solidFill>
                  <a:srgbClr val="4A5568"/>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8"/>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Approach: Bayes’ rule for every edge</a:t>
            </a:r>
            <a:endParaRPr lang="en-US" sz="3600" dirty="0"/>
          </a:p>
        </p:txBody>
      </p:sp>
      <p:sp>
        <p:nvSpPr>
          <p:cNvPr id="3" name="Text 1"/>
          <p:cNvSpPr txBox="1"/>
          <p:nvPr/>
        </p:nvSpPr>
        <p:spPr>
          <a:xfrm>
            <a:off x="548640" y="1143000"/>
            <a:ext cx="11091672" cy="365760"/>
          </a:xfrm>
          <a:prstGeom prst="rect">
            <a:avLst/>
          </a:prstGeom>
          <a:noFill/>
          <a:ln/>
        </p:spPr>
        <p:txBody>
          <a:bodyPr wrap="square" lIns="0" tIns="0" rIns="0" bIns="0" rtlCol="0" anchor="ctr"/>
          <a:lstStyle/>
          <a:p>
            <a:pPr indent="0" marL="0">
              <a:buNone/>
            </a:pPr>
            <a:r>
              <a:rPr lang="en-US" sz="1600" dirty="0">
                <a:solidFill>
                  <a:srgbClr val="4A5568"/>
                </a:solidFill>
                <a:latin typeface="Calibri" pitchFamily="34" charset="0"/>
                <a:ea typeface="Calibri" pitchFamily="34" charset="-122"/>
                <a:cs typeface="Calibri" pitchFamily="34" charset="-120"/>
              </a:rPr>
              <a:t>Hidden question for each edge: is it real (</a:t>
            </a:r>
            <a:pPr indent="0" marL="0">
              <a:buNone/>
            </a:pPr>
            <a:r>
              <a:rPr lang="en-US" sz="1600" i="1" dirty="0">
                <a:solidFill>
                  <a:srgbClr val="4A5568"/>
                </a:solidFill>
                <a:latin typeface="Calibri" pitchFamily="34" charset="0"/>
                <a:ea typeface="Calibri" pitchFamily="34" charset="-122"/>
                <a:cs typeface="Calibri" pitchFamily="34" charset="-120"/>
              </a:rPr>
              <a:t>z</a:t>
            </a:r>
            <a:pPr indent="0" marL="0">
              <a:buNone/>
            </a:pPr>
            <a:r>
              <a:rPr lang="en-US" sz="1600" i="1" baseline="-40000" dirty="0">
                <a:solidFill>
                  <a:srgbClr val="4A5568"/>
                </a:solidFill>
                <a:latin typeface="Calibri" pitchFamily="34" charset="0"/>
                <a:ea typeface="Calibri" pitchFamily="34" charset="-122"/>
                <a:cs typeface="Calibri" pitchFamily="34" charset="-120"/>
              </a:rPr>
              <a:t>ij</a:t>
            </a:r>
            <a:pPr indent="0" marL="0">
              <a:buNone/>
            </a:pPr>
            <a:r>
              <a:rPr lang="en-US" sz="1600" dirty="0">
                <a:solidFill>
                  <a:srgbClr val="4A5568"/>
                </a:solidFill>
                <a:latin typeface="Calibri" pitchFamily="34" charset="0"/>
                <a:ea typeface="Calibri" pitchFamily="34" charset="-122"/>
                <a:cs typeface="Calibri" pitchFamily="34" charset="-120"/>
              </a:rPr>
              <a:t> </a:t>
            </a:r>
            <a:pPr indent="0" marL="0">
              <a:buNone/>
            </a:pPr>
            <a:r>
              <a:rPr lang="en-US" sz="1600" dirty="0">
                <a:solidFill>
                  <a:srgbClr val="4A5568"/>
                </a:solidFill>
                <a:latin typeface="Calibri" pitchFamily="34" charset="0"/>
                <a:ea typeface="Calibri" pitchFamily="34" charset="-122"/>
                <a:cs typeface="Calibri" pitchFamily="34" charset="-120"/>
              </a:rPr>
              <a:t> = 1) or injected (</a:t>
            </a:r>
            <a:pPr indent="0" marL="0">
              <a:buNone/>
            </a:pPr>
            <a:r>
              <a:rPr lang="en-US" sz="1600" i="1" dirty="0">
                <a:solidFill>
                  <a:srgbClr val="4A5568"/>
                </a:solidFill>
                <a:latin typeface="Calibri" pitchFamily="34" charset="0"/>
                <a:ea typeface="Calibri" pitchFamily="34" charset="-122"/>
                <a:cs typeface="Calibri" pitchFamily="34" charset="-120"/>
              </a:rPr>
              <a:t>z</a:t>
            </a:r>
            <a:pPr indent="0" marL="0">
              <a:buNone/>
            </a:pPr>
            <a:r>
              <a:rPr lang="en-US" sz="1600" i="1" baseline="-40000" dirty="0">
                <a:solidFill>
                  <a:srgbClr val="4A5568"/>
                </a:solidFill>
                <a:latin typeface="Calibri" pitchFamily="34" charset="0"/>
                <a:ea typeface="Calibri" pitchFamily="34" charset="-122"/>
                <a:cs typeface="Calibri" pitchFamily="34" charset="-120"/>
              </a:rPr>
              <a:t>ij</a:t>
            </a:r>
            <a:pPr indent="0" marL="0">
              <a:buNone/>
            </a:pPr>
            <a:r>
              <a:rPr lang="en-US" sz="1600" dirty="0">
                <a:solidFill>
                  <a:srgbClr val="4A5568"/>
                </a:solidFill>
                <a:latin typeface="Calibri" pitchFamily="34" charset="0"/>
                <a:ea typeface="Calibri" pitchFamily="34" charset="-122"/>
                <a:cs typeface="Calibri" pitchFamily="34" charset="-120"/>
              </a:rPr>
              <a:t> </a:t>
            </a:r>
            <a:pPr indent="0" marL="0">
              <a:buNone/>
            </a:pPr>
            <a:r>
              <a:rPr lang="en-US" sz="1600" dirty="0">
                <a:solidFill>
                  <a:srgbClr val="4A5568"/>
                </a:solidFill>
                <a:latin typeface="Calibri" pitchFamily="34" charset="0"/>
                <a:ea typeface="Calibri" pitchFamily="34" charset="-122"/>
                <a:cs typeface="Calibri" pitchFamily="34" charset="-120"/>
              </a:rPr>
              <a:t> = 0)?</a:t>
            </a:r>
            <a:endParaRPr lang="en-US" sz="1600" dirty="0"/>
          </a:p>
        </p:txBody>
      </p:sp>
      <p:sp>
        <p:nvSpPr>
          <p:cNvPr id="4" name="Shape 2"/>
          <p:cNvSpPr/>
          <p:nvPr/>
        </p:nvSpPr>
        <p:spPr>
          <a:xfrm>
            <a:off x="548640" y="1737360"/>
            <a:ext cx="3200400" cy="2606040"/>
          </a:xfrm>
          <a:prstGeom prst="roundRect">
            <a:avLst>
              <a:gd name="adj" fmla="val 421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5" name="Shape 3"/>
          <p:cNvSpPr/>
          <p:nvPr/>
        </p:nvSpPr>
        <p:spPr>
          <a:xfrm>
            <a:off x="822960" y="2011680"/>
            <a:ext cx="548640" cy="548640"/>
          </a:xfrm>
          <a:prstGeom prst="ellipse">
            <a:avLst/>
          </a:prstGeom>
          <a:solidFill>
            <a:srgbClr val="B4540A"/>
          </a:solidFill>
          <a:ln w="12700">
            <a:solidFill>
              <a:srgbClr val="B4540A"/>
            </a:solidFill>
            <a:prstDash val="solid"/>
          </a:ln>
        </p:spPr>
      </p:sp>
      <p:pic>
        <p:nvPicPr>
          <p:cNvPr id="6" name="Image 0" descr="preencoded.png">    </p:cNvPr>
          <p:cNvPicPr>
            <a:picLocks noChangeAspect="1"/>
          </p:cNvPicPr>
          <p:nvPr/>
        </p:nvPicPr>
        <p:blipFill>
          <a:blip r:embed="rId1"/>
          <a:stretch>
            <a:fillRect/>
          </a:stretch>
        </p:blipFill>
        <p:spPr>
          <a:xfrm>
            <a:off x="960120" y="2148840"/>
            <a:ext cx="274320" cy="274320"/>
          </a:xfrm>
          <a:prstGeom prst="rect">
            <a:avLst/>
          </a:prstGeom>
        </p:spPr>
      </p:pic>
      <p:sp>
        <p:nvSpPr>
          <p:cNvPr id="7" name="Text 4"/>
          <p:cNvSpPr txBox="1"/>
          <p:nvPr/>
        </p:nvSpPr>
        <p:spPr>
          <a:xfrm>
            <a:off x="1508760" y="2011680"/>
            <a:ext cx="2057400" cy="548640"/>
          </a:xfrm>
          <a:prstGeom prst="rect">
            <a:avLst/>
          </a:prstGeom>
          <a:noFill/>
          <a:ln/>
        </p:spPr>
        <p:txBody>
          <a:bodyPr wrap="square" lIns="0" tIns="0" rIns="0" bIns="0" rtlCol="0" anchor="ctr"/>
          <a:lstStyle/>
          <a:p>
            <a:pPr indent="0" marL="0">
              <a:buNone/>
            </a:pPr>
            <a:r>
              <a:rPr lang="en-US" sz="1200" b="1" spc="150" kern="0" dirty="0">
                <a:solidFill>
                  <a:srgbClr val="B4540A"/>
                </a:solidFill>
                <a:latin typeface="Calibri" pitchFamily="34" charset="0"/>
                <a:ea typeface="Calibri" pitchFamily="34" charset="-122"/>
                <a:cs typeface="Calibri" pitchFamily="34" charset="-120"/>
              </a:rPr>
              <a:t>PRIOR · TEXT</a:t>
            </a:r>
            <a:endParaRPr lang="en-US" sz="1200" dirty="0"/>
          </a:p>
        </p:txBody>
      </p:sp>
      <p:sp>
        <p:nvSpPr>
          <p:cNvPr id="8" name="Text 5"/>
          <p:cNvSpPr txBox="1"/>
          <p:nvPr/>
        </p:nvSpPr>
        <p:spPr>
          <a:xfrm>
            <a:off x="822960" y="2697480"/>
            <a:ext cx="2651760" cy="457200"/>
          </a:xfrm>
          <a:prstGeom prst="rect">
            <a:avLst/>
          </a:prstGeom>
          <a:noFill/>
          <a:ln/>
        </p:spPr>
        <p:txBody>
          <a:bodyPr wrap="square" lIns="0" tIns="0" rIns="0" bIns="0" rtlCol="0" anchor="ctr"/>
          <a:lstStyle/>
          <a:p>
            <a:pPr indent="0" marL="0">
              <a:buNone/>
            </a:pPr>
            <a:r>
              <a:rPr lang="en-US" sz="2000" dirty="0">
                <a:solidFill>
                  <a:srgbClr val="14213D"/>
                </a:solidFill>
                <a:latin typeface="Cambria Math" pitchFamily="34" charset="0"/>
                <a:ea typeface="Cambria Math" pitchFamily="34" charset="-122"/>
                <a:cs typeface="Cambria Math" pitchFamily="34" charset="-120"/>
              </a:rPr>
              <a:t>p(</a:t>
            </a:r>
            <a:pPr indent="0" marL="0">
              <a:buNone/>
            </a:pPr>
            <a:r>
              <a:rPr lang="en-US" sz="2000" i="1" dirty="0">
                <a:solidFill>
                  <a:srgbClr val="14213D"/>
                </a:solidFill>
                <a:latin typeface="Cambria Math" pitchFamily="34" charset="0"/>
                <a:ea typeface="Cambria Math" pitchFamily="34" charset="-122"/>
                <a:cs typeface="Cambria Math" pitchFamily="34" charset="-120"/>
              </a:rPr>
              <a:t>z</a:t>
            </a:r>
            <a:pPr indent="0" marL="0">
              <a:buNone/>
            </a:pPr>
            <a:r>
              <a:rPr lang="en-US" sz="2000" i="1" baseline="-40000" dirty="0">
                <a:solidFill>
                  <a:srgbClr val="14213D"/>
                </a:solidFill>
                <a:latin typeface="Cambria Math" pitchFamily="34" charset="0"/>
                <a:ea typeface="Cambria Math" pitchFamily="34" charset="-122"/>
                <a:cs typeface="Cambria Math" pitchFamily="34" charset="-120"/>
              </a:rPr>
              <a:t>ij</a:t>
            </a:r>
            <a:pPr indent="0" marL="0">
              <a:buNone/>
            </a:pPr>
            <a:r>
              <a:rPr lang="en-US" sz="2000" dirty="0">
                <a:solidFill>
                  <a:srgbClr val="14213D"/>
                </a:solidFill>
                <a:latin typeface="Cambria Math" pitchFamily="34" charset="0"/>
                <a:ea typeface="Cambria Math" pitchFamily="34" charset="-122"/>
                <a:cs typeface="Cambria Math" pitchFamily="34" charset="-120"/>
              </a:rPr>
              <a:t> </a:t>
            </a:r>
            <a:pPr indent="0" marL="0">
              <a:buNone/>
            </a:pPr>
            <a:r>
              <a:rPr lang="en-US" sz="2000" dirty="0">
                <a:solidFill>
                  <a:srgbClr val="14213D"/>
                </a:solidFill>
                <a:latin typeface="Cambria Math" pitchFamily="34" charset="0"/>
                <a:ea typeface="Cambria Math" pitchFamily="34" charset="-122"/>
                <a:cs typeface="Cambria Math" pitchFamily="34" charset="-120"/>
              </a:rPr>
              <a:t> = 1 | </a:t>
            </a:r>
            <a:pPr indent="0" marL="0">
              <a:buNone/>
            </a:pPr>
            <a:r>
              <a:rPr lang="en-US" sz="2000" i="1" dirty="0">
                <a:solidFill>
                  <a:srgbClr val="14213D"/>
                </a:solidFill>
                <a:latin typeface="Cambria Math" pitchFamily="34" charset="0"/>
                <a:ea typeface="Cambria Math" pitchFamily="34" charset="-122"/>
                <a:cs typeface="Cambria Math" pitchFamily="34" charset="-120"/>
              </a:rPr>
              <a:t>s</a:t>
            </a:r>
            <a:pPr indent="0" marL="0">
              <a:buNone/>
            </a:pPr>
            <a:r>
              <a:rPr lang="en-US" sz="2000" i="1" baseline="-40000" dirty="0">
                <a:solidFill>
                  <a:srgbClr val="14213D"/>
                </a:solidFill>
                <a:latin typeface="Cambria Math" pitchFamily="34" charset="0"/>
                <a:ea typeface="Cambria Math" pitchFamily="34" charset="-122"/>
                <a:cs typeface="Cambria Math" pitchFamily="34" charset="-120"/>
              </a:rPr>
              <a:t>ij</a:t>
            </a:r>
            <a:pPr indent="0" marL="0">
              <a:buNone/>
            </a:pPr>
            <a:r>
              <a:rPr lang="en-US" sz="2000" dirty="0">
                <a:solidFill>
                  <a:srgbClr val="14213D"/>
                </a:solidFill>
                <a:latin typeface="Cambria Math" pitchFamily="34" charset="0"/>
                <a:ea typeface="Cambria Math" pitchFamily="34" charset="-122"/>
                <a:cs typeface="Cambria Math" pitchFamily="34" charset="-120"/>
              </a:rPr>
              <a:t> </a:t>
            </a:r>
            <a:pPr indent="0" marL="0">
              <a:buNone/>
            </a:pPr>
            <a:r>
              <a:rPr lang="en-US" sz="2000" dirty="0">
                <a:solidFill>
                  <a:srgbClr val="14213D"/>
                </a:solidFill>
                <a:latin typeface="Cambria Math" pitchFamily="34" charset="0"/>
                <a:ea typeface="Cambria Math" pitchFamily="34" charset="-122"/>
                <a:cs typeface="Cambria Math" pitchFamily="34" charset="-120"/>
              </a:rPr>
              <a:t>)</a:t>
            </a:r>
            <a:endParaRPr lang="en-US" sz="2000" dirty="0"/>
          </a:p>
        </p:txBody>
      </p:sp>
      <p:sp>
        <p:nvSpPr>
          <p:cNvPr id="9" name="Text 6"/>
          <p:cNvSpPr txBox="1"/>
          <p:nvPr/>
        </p:nvSpPr>
        <p:spPr>
          <a:xfrm>
            <a:off x="822960" y="3246120"/>
            <a:ext cx="2651760" cy="960120"/>
          </a:xfrm>
          <a:prstGeom prst="rect">
            <a:avLst/>
          </a:prstGeom>
          <a:noFill/>
          <a:ln/>
        </p:spPr>
        <p:txBody>
          <a:bodyPr wrap="square" lIns="0" tIns="0" rIns="0" bIns="0" rtlCol="0" anchor="t"/>
          <a:lstStyle/>
          <a:p>
            <a:pPr indent="0" marL="0">
              <a:buNone/>
            </a:pPr>
            <a:r>
              <a:rPr lang="en-US" sz="1400" dirty="0">
                <a:solidFill>
                  <a:srgbClr val="4A5568"/>
                </a:solidFill>
                <a:latin typeface="Calibri" pitchFamily="34" charset="0"/>
                <a:ea typeface="Calibri" pitchFamily="34" charset="-122"/>
                <a:cs typeface="Calibri" pitchFamily="34" charset="-120"/>
              </a:rPr>
              <a:t>An LLM reads both nodes’ texts and rates whether the link makes sense. Treated as noisy evidence.</a:t>
            </a:r>
            <a:endParaRPr lang="en-US" sz="1400" dirty="0"/>
          </a:p>
        </p:txBody>
      </p:sp>
      <p:sp>
        <p:nvSpPr>
          <p:cNvPr id="10" name="Text 7"/>
          <p:cNvSpPr txBox="1"/>
          <p:nvPr/>
        </p:nvSpPr>
        <p:spPr>
          <a:xfrm>
            <a:off x="3749040" y="1737360"/>
            <a:ext cx="745236" cy="2606040"/>
          </a:xfrm>
          <a:prstGeom prst="rect">
            <a:avLst/>
          </a:prstGeom>
          <a:noFill/>
          <a:ln/>
        </p:spPr>
        <p:txBody>
          <a:bodyPr wrap="square" lIns="0" tIns="0" rIns="0" bIns="0" rtlCol="0" anchor="ctr"/>
          <a:lstStyle/>
          <a:p>
            <a:pPr algn="ctr" indent="0" marL="0">
              <a:buNone/>
            </a:pPr>
            <a:r>
              <a:rPr lang="en-US" sz="4000" b="1" dirty="0">
                <a:solidFill>
                  <a:srgbClr val="B4540A"/>
                </a:solidFill>
                <a:latin typeface="Cambria Math" pitchFamily="34" charset="0"/>
                <a:ea typeface="Cambria Math" pitchFamily="34" charset="-122"/>
                <a:cs typeface="Cambria Math" pitchFamily="34" charset="-120"/>
              </a:rPr>
              <a:t>×</a:t>
            </a:r>
            <a:endParaRPr lang="en-US" sz="4000" dirty="0"/>
          </a:p>
        </p:txBody>
      </p:sp>
      <p:sp>
        <p:nvSpPr>
          <p:cNvPr id="11" name="Shape 8"/>
          <p:cNvSpPr/>
          <p:nvPr/>
        </p:nvSpPr>
        <p:spPr>
          <a:xfrm>
            <a:off x="4494276" y="1737360"/>
            <a:ext cx="3200400" cy="2606040"/>
          </a:xfrm>
          <a:prstGeom prst="roundRect">
            <a:avLst>
              <a:gd name="adj" fmla="val 421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9"/>
          <p:cNvSpPr/>
          <p:nvPr/>
        </p:nvSpPr>
        <p:spPr>
          <a:xfrm>
            <a:off x="4768596" y="2011680"/>
            <a:ext cx="548640" cy="548640"/>
          </a:xfrm>
          <a:prstGeom prst="ellipse">
            <a:avLst/>
          </a:prstGeom>
          <a:solidFill>
            <a:srgbClr val="B4540A"/>
          </a:solidFill>
          <a:ln w="12700">
            <a:solidFill>
              <a:srgbClr val="B4540A"/>
            </a:solidFill>
            <a:prstDash val="solid"/>
          </a:ln>
        </p:spPr>
      </p:sp>
      <p:pic>
        <p:nvPicPr>
          <p:cNvPr id="13" name="Image 1" descr="preencoded.png">    </p:cNvPr>
          <p:cNvPicPr>
            <a:picLocks noChangeAspect="1"/>
          </p:cNvPicPr>
          <p:nvPr/>
        </p:nvPicPr>
        <p:blipFill>
          <a:blip r:embed="rId2"/>
          <a:stretch>
            <a:fillRect/>
          </a:stretch>
        </p:blipFill>
        <p:spPr>
          <a:xfrm>
            <a:off x="4905756" y="2148840"/>
            <a:ext cx="274320" cy="274320"/>
          </a:xfrm>
          <a:prstGeom prst="rect">
            <a:avLst/>
          </a:prstGeom>
        </p:spPr>
      </p:pic>
      <p:sp>
        <p:nvSpPr>
          <p:cNvPr id="14" name="Text 10"/>
          <p:cNvSpPr txBox="1"/>
          <p:nvPr/>
        </p:nvSpPr>
        <p:spPr>
          <a:xfrm>
            <a:off x="5454396" y="2011680"/>
            <a:ext cx="2057400" cy="548640"/>
          </a:xfrm>
          <a:prstGeom prst="rect">
            <a:avLst/>
          </a:prstGeom>
          <a:noFill/>
          <a:ln/>
        </p:spPr>
        <p:txBody>
          <a:bodyPr wrap="square" lIns="0" tIns="0" rIns="0" bIns="0" rtlCol="0" anchor="ctr"/>
          <a:lstStyle/>
          <a:p>
            <a:pPr indent="0" marL="0">
              <a:buNone/>
            </a:pPr>
            <a:r>
              <a:rPr lang="en-US" sz="1200" b="1" spc="150" kern="0" dirty="0">
                <a:solidFill>
                  <a:srgbClr val="B4540A"/>
                </a:solidFill>
                <a:latin typeface="Calibri" pitchFamily="34" charset="0"/>
                <a:ea typeface="Calibri" pitchFamily="34" charset="-122"/>
                <a:cs typeface="Calibri" pitchFamily="34" charset="-120"/>
              </a:rPr>
              <a:t>LIKELIHOOD · GRAPH</a:t>
            </a:r>
            <a:endParaRPr lang="en-US" sz="1200" dirty="0"/>
          </a:p>
        </p:txBody>
      </p:sp>
      <p:sp>
        <p:nvSpPr>
          <p:cNvPr id="15" name="Text 11"/>
          <p:cNvSpPr txBox="1"/>
          <p:nvPr/>
        </p:nvSpPr>
        <p:spPr>
          <a:xfrm>
            <a:off x="4768596" y="2697480"/>
            <a:ext cx="2651760" cy="457200"/>
          </a:xfrm>
          <a:prstGeom prst="rect">
            <a:avLst/>
          </a:prstGeom>
          <a:noFill/>
          <a:ln/>
        </p:spPr>
        <p:txBody>
          <a:bodyPr wrap="square" lIns="0" tIns="0" rIns="0" bIns="0" rtlCol="0" anchor="ctr"/>
          <a:lstStyle/>
          <a:p>
            <a:pPr indent="0" marL="0">
              <a:buNone/>
            </a:pPr>
            <a:r>
              <a:rPr lang="en-US" sz="2000" dirty="0">
                <a:solidFill>
                  <a:srgbClr val="14213D"/>
                </a:solidFill>
                <a:latin typeface="Cambria Math" pitchFamily="34" charset="0"/>
                <a:ea typeface="Cambria Math" pitchFamily="34" charset="-122"/>
                <a:cs typeface="Cambria Math" pitchFamily="34" charset="-120"/>
              </a:rPr>
              <a:t>p(</a:t>
            </a:r>
            <a:pPr indent="0" marL="0">
              <a:buNone/>
            </a:pPr>
            <a:r>
              <a:rPr lang="en-US" sz="2000" i="1" dirty="0">
                <a:solidFill>
                  <a:srgbClr val="14213D"/>
                </a:solidFill>
                <a:latin typeface="Cambria Math" pitchFamily="34" charset="0"/>
                <a:ea typeface="Cambria Math" pitchFamily="34" charset="-122"/>
                <a:cs typeface="Cambria Math" pitchFamily="34" charset="-120"/>
              </a:rPr>
              <a:t>d</a:t>
            </a:r>
            <a:pPr indent="0" marL="0">
              <a:buNone/>
            </a:pPr>
            <a:r>
              <a:rPr lang="en-US" sz="2000" i="1" baseline="-40000" dirty="0">
                <a:solidFill>
                  <a:srgbClr val="14213D"/>
                </a:solidFill>
                <a:latin typeface="Cambria Math" pitchFamily="34" charset="0"/>
                <a:ea typeface="Cambria Math" pitchFamily="34" charset="-122"/>
                <a:cs typeface="Cambria Math" pitchFamily="34" charset="-120"/>
              </a:rPr>
              <a:t>ij</a:t>
            </a:r>
            <a:pPr indent="0" marL="0">
              <a:buNone/>
            </a:pPr>
            <a:r>
              <a:rPr lang="en-US" sz="2000" dirty="0">
                <a:solidFill>
                  <a:srgbClr val="14213D"/>
                </a:solidFill>
                <a:latin typeface="Cambria Math" pitchFamily="34" charset="0"/>
                <a:ea typeface="Cambria Math" pitchFamily="34" charset="-122"/>
                <a:cs typeface="Cambria Math" pitchFamily="34" charset="-120"/>
              </a:rPr>
              <a:t> </a:t>
            </a:r>
            <a:pPr indent="0" marL="0">
              <a:buNone/>
            </a:pPr>
            <a:r>
              <a:rPr lang="en-US" sz="2000" dirty="0">
                <a:solidFill>
                  <a:srgbClr val="14213D"/>
                </a:solidFill>
                <a:latin typeface="Cambria Math" pitchFamily="34" charset="0"/>
                <a:ea typeface="Cambria Math" pitchFamily="34" charset="-122"/>
                <a:cs typeface="Cambria Math" pitchFamily="34" charset="-120"/>
              </a:rPr>
              <a:t> | </a:t>
            </a:r>
            <a:pPr indent="0" marL="0">
              <a:buNone/>
            </a:pPr>
            <a:r>
              <a:rPr lang="en-US" sz="2000" i="1" dirty="0">
                <a:solidFill>
                  <a:srgbClr val="14213D"/>
                </a:solidFill>
                <a:latin typeface="Cambria Math" pitchFamily="34" charset="0"/>
                <a:ea typeface="Cambria Math" pitchFamily="34" charset="-122"/>
                <a:cs typeface="Cambria Math" pitchFamily="34" charset="-120"/>
              </a:rPr>
              <a:t>z</a:t>
            </a:r>
            <a:pPr indent="0" marL="0">
              <a:buNone/>
            </a:pPr>
            <a:r>
              <a:rPr lang="en-US" sz="2000" i="1" baseline="-40000" dirty="0">
                <a:solidFill>
                  <a:srgbClr val="14213D"/>
                </a:solidFill>
                <a:latin typeface="Cambria Math" pitchFamily="34" charset="0"/>
                <a:ea typeface="Cambria Math" pitchFamily="34" charset="-122"/>
                <a:cs typeface="Cambria Math" pitchFamily="34" charset="-120"/>
              </a:rPr>
              <a:t>ij</a:t>
            </a:r>
            <a:pPr indent="0" marL="0">
              <a:buNone/>
            </a:pPr>
            <a:r>
              <a:rPr lang="en-US" sz="2000" dirty="0">
                <a:solidFill>
                  <a:srgbClr val="14213D"/>
                </a:solidFill>
                <a:latin typeface="Cambria Math" pitchFamily="34" charset="0"/>
                <a:ea typeface="Cambria Math" pitchFamily="34" charset="-122"/>
                <a:cs typeface="Cambria Math" pitchFamily="34" charset="-120"/>
              </a:rPr>
              <a:t> </a:t>
            </a:r>
            <a:pPr indent="0" marL="0">
              <a:buNone/>
            </a:pPr>
            <a:r>
              <a:rPr lang="en-US" sz="2000" dirty="0">
                <a:solidFill>
                  <a:srgbClr val="14213D"/>
                </a:solidFill>
                <a:latin typeface="Cambria Math" pitchFamily="34" charset="0"/>
                <a:ea typeface="Cambria Math" pitchFamily="34" charset="-122"/>
                <a:cs typeface="Cambria Math" pitchFamily="34" charset="-120"/>
              </a:rPr>
              <a:t>)</a:t>
            </a:r>
            <a:endParaRPr lang="en-US" sz="2000" dirty="0"/>
          </a:p>
        </p:txBody>
      </p:sp>
      <p:sp>
        <p:nvSpPr>
          <p:cNvPr id="16" name="Text 12"/>
          <p:cNvSpPr txBox="1"/>
          <p:nvPr/>
        </p:nvSpPr>
        <p:spPr>
          <a:xfrm>
            <a:off x="4768596" y="3246120"/>
            <a:ext cx="2651760" cy="960120"/>
          </a:xfrm>
          <a:prstGeom prst="rect">
            <a:avLst/>
          </a:prstGeom>
          <a:noFill/>
          <a:ln/>
        </p:spPr>
        <p:txBody>
          <a:bodyPr wrap="square" lIns="0" tIns="0" rIns="0" bIns="0" rtlCol="0" anchor="t"/>
          <a:lstStyle/>
          <a:p>
            <a:pPr indent="0" marL="0">
              <a:buNone/>
            </a:pPr>
            <a:r>
              <a:rPr lang="en-US" sz="1400" dirty="0">
                <a:solidFill>
                  <a:srgbClr val="4A5568"/>
                </a:solidFill>
                <a:latin typeface="Calibri" pitchFamily="34" charset="0"/>
                <a:ea typeface="Calibri" pitchFamily="34" charset="-122"/>
                <a:cs typeface="Calibri" pitchFamily="34" charset="-120"/>
              </a:rPr>
              <a:t>Do the endpoints’ representations agree during propagation? Fake edges tend to join mismatched nodes.</a:t>
            </a:r>
            <a:endParaRPr lang="en-US" sz="1400" dirty="0"/>
          </a:p>
        </p:txBody>
      </p:sp>
      <p:sp>
        <p:nvSpPr>
          <p:cNvPr id="17" name="Text 13"/>
          <p:cNvSpPr txBox="1"/>
          <p:nvPr/>
        </p:nvSpPr>
        <p:spPr>
          <a:xfrm>
            <a:off x="7694676" y="1737360"/>
            <a:ext cx="745236" cy="2606040"/>
          </a:xfrm>
          <a:prstGeom prst="rect">
            <a:avLst/>
          </a:prstGeom>
          <a:noFill/>
          <a:ln/>
        </p:spPr>
        <p:txBody>
          <a:bodyPr wrap="square" lIns="0" tIns="0" rIns="0" bIns="0" rtlCol="0" anchor="ctr"/>
          <a:lstStyle/>
          <a:p>
            <a:pPr algn="ctr" indent="0" marL="0">
              <a:buNone/>
            </a:pPr>
            <a:r>
              <a:rPr lang="en-US" sz="4000" b="1" dirty="0">
                <a:solidFill>
                  <a:srgbClr val="B4540A"/>
                </a:solidFill>
                <a:latin typeface="Cambria Math" pitchFamily="34" charset="0"/>
                <a:ea typeface="Cambria Math" pitchFamily="34" charset="-122"/>
                <a:cs typeface="Cambria Math" pitchFamily="34" charset="-120"/>
              </a:rPr>
              <a:t>∝</a:t>
            </a:r>
            <a:endParaRPr lang="en-US" sz="4000" dirty="0"/>
          </a:p>
        </p:txBody>
      </p:sp>
      <p:sp>
        <p:nvSpPr>
          <p:cNvPr id="18" name="Shape 14"/>
          <p:cNvSpPr/>
          <p:nvPr/>
        </p:nvSpPr>
        <p:spPr>
          <a:xfrm>
            <a:off x="8439912" y="1737360"/>
            <a:ext cx="3200400" cy="2606040"/>
          </a:xfrm>
          <a:prstGeom prst="roundRect">
            <a:avLst>
              <a:gd name="adj" fmla="val 4211"/>
            </a:avLst>
          </a:prstGeom>
          <a:solidFill>
            <a:srgbClr val="14213D"/>
          </a:solidFill>
          <a:ln w="12700">
            <a:solidFill>
              <a:srgbClr val="14213D"/>
            </a:solidFill>
            <a:prstDash val="solid"/>
          </a:ln>
          <a:effectLst>
            <a:outerShdw sx="100000" sy="100000" kx="0" ky="0" algn="bl" rotWithShape="0" blurRad="76200" dist="25400" dir="5400000">
              <a:srgbClr val="000000">
                <a:alpha val="8000"/>
              </a:srgbClr>
            </a:outerShdw>
          </a:effectLst>
        </p:spPr>
      </p:sp>
      <p:sp>
        <p:nvSpPr>
          <p:cNvPr id="19" name="Shape 15"/>
          <p:cNvSpPr/>
          <p:nvPr/>
        </p:nvSpPr>
        <p:spPr>
          <a:xfrm>
            <a:off x="8714232" y="2011680"/>
            <a:ext cx="548640" cy="548640"/>
          </a:xfrm>
          <a:prstGeom prst="ellipse">
            <a:avLst/>
          </a:prstGeom>
          <a:solidFill>
            <a:srgbClr val="B4540A"/>
          </a:solidFill>
          <a:ln w="12700">
            <a:solidFill>
              <a:srgbClr val="B4540A"/>
            </a:solidFill>
            <a:prstDash val="solid"/>
          </a:ln>
        </p:spPr>
      </p:sp>
      <p:pic>
        <p:nvPicPr>
          <p:cNvPr id="20" name="Image 2" descr="preencoded.png">    </p:cNvPr>
          <p:cNvPicPr>
            <a:picLocks noChangeAspect="1"/>
          </p:cNvPicPr>
          <p:nvPr/>
        </p:nvPicPr>
        <p:blipFill>
          <a:blip r:embed="rId3"/>
          <a:stretch>
            <a:fillRect/>
          </a:stretch>
        </p:blipFill>
        <p:spPr>
          <a:xfrm>
            <a:off x="8851392" y="2148840"/>
            <a:ext cx="274320" cy="274320"/>
          </a:xfrm>
          <a:prstGeom prst="rect">
            <a:avLst/>
          </a:prstGeom>
        </p:spPr>
      </p:pic>
      <p:sp>
        <p:nvSpPr>
          <p:cNvPr id="21" name="Text 16"/>
          <p:cNvSpPr txBox="1"/>
          <p:nvPr/>
        </p:nvSpPr>
        <p:spPr>
          <a:xfrm>
            <a:off x="9400032" y="2011680"/>
            <a:ext cx="2057400" cy="548640"/>
          </a:xfrm>
          <a:prstGeom prst="rect">
            <a:avLst/>
          </a:prstGeom>
          <a:noFill/>
          <a:ln/>
        </p:spPr>
        <p:txBody>
          <a:bodyPr wrap="square" lIns="0" tIns="0" rIns="0" bIns="0" rtlCol="0" anchor="ctr"/>
          <a:lstStyle/>
          <a:p>
            <a:pPr indent="0" marL="0">
              <a:buNone/>
            </a:pPr>
            <a:r>
              <a:rPr lang="en-US" sz="1200" b="1" spc="150" kern="0" dirty="0">
                <a:solidFill>
                  <a:srgbClr val="F2A65A"/>
                </a:solidFill>
                <a:latin typeface="Calibri" pitchFamily="34" charset="0"/>
                <a:ea typeface="Calibri" pitchFamily="34" charset="-122"/>
                <a:cs typeface="Calibri" pitchFamily="34" charset="-120"/>
              </a:rPr>
              <a:t>POSTERIOR</a:t>
            </a:r>
            <a:endParaRPr lang="en-US" sz="1200" dirty="0"/>
          </a:p>
        </p:txBody>
      </p:sp>
      <p:sp>
        <p:nvSpPr>
          <p:cNvPr id="22" name="Text 17"/>
          <p:cNvSpPr txBox="1"/>
          <p:nvPr/>
        </p:nvSpPr>
        <p:spPr>
          <a:xfrm>
            <a:off x="8714232" y="2697480"/>
            <a:ext cx="2651760" cy="457200"/>
          </a:xfrm>
          <a:prstGeom prst="rect">
            <a:avLst/>
          </a:prstGeom>
          <a:noFill/>
          <a:ln/>
        </p:spPr>
        <p:txBody>
          <a:bodyPr wrap="square" lIns="0" tIns="0" rIns="0" bIns="0" rtlCol="0" anchor="ctr"/>
          <a:lstStyle/>
          <a:p>
            <a:pPr indent="0" marL="0">
              <a:buNone/>
            </a:pPr>
            <a:r>
              <a:rPr lang="en-US" sz="2000" dirty="0">
                <a:solidFill>
                  <a:srgbClr val="FFFFFF"/>
                </a:solidFill>
                <a:latin typeface="Cambria Math" pitchFamily="34" charset="0"/>
                <a:ea typeface="Cambria Math" pitchFamily="34" charset="-122"/>
                <a:cs typeface="Cambria Math" pitchFamily="34" charset="-120"/>
              </a:rPr>
              <a:t>p(</a:t>
            </a:r>
            <a:pPr indent="0" marL="0">
              <a:buNone/>
            </a:pPr>
            <a:r>
              <a:rPr lang="en-US" sz="2000" i="1" dirty="0">
                <a:solidFill>
                  <a:srgbClr val="FFFFFF"/>
                </a:solidFill>
                <a:latin typeface="Cambria Math" pitchFamily="34" charset="0"/>
                <a:ea typeface="Cambria Math" pitchFamily="34" charset="-122"/>
                <a:cs typeface="Cambria Math" pitchFamily="34" charset="-120"/>
              </a:rPr>
              <a:t>z</a:t>
            </a:r>
            <a:pPr indent="0" marL="0">
              <a:buNone/>
            </a:pPr>
            <a:r>
              <a:rPr lang="en-US" sz="2000" i="1" baseline="-40000" dirty="0">
                <a:solidFill>
                  <a:srgbClr val="FFFFFF"/>
                </a:solidFill>
                <a:latin typeface="Cambria Math" pitchFamily="34" charset="0"/>
                <a:ea typeface="Cambria Math" pitchFamily="34" charset="-122"/>
                <a:cs typeface="Cambria Math" pitchFamily="34" charset="-120"/>
              </a:rPr>
              <a:t>ij</a:t>
            </a:r>
            <a:pPr indent="0" marL="0">
              <a:buNone/>
            </a:pPr>
            <a:r>
              <a:rPr lang="en-US" sz="2000" dirty="0">
                <a:solidFill>
                  <a:srgbClr val="FFFFFF"/>
                </a:solidFill>
                <a:latin typeface="Cambria Math" pitchFamily="34" charset="0"/>
                <a:ea typeface="Cambria Math" pitchFamily="34" charset="-122"/>
                <a:cs typeface="Cambria Math" pitchFamily="34" charset="-120"/>
              </a:rPr>
              <a:t> </a:t>
            </a:r>
            <a:pPr indent="0" marL="0">
              <a:buNone/>
            </a:pPr>
            <a:r>
              <a:rPr lang="en-US" sz="2000" dirty="0">
                <a:solidFill>
                  <a:srgbClr val="FFFFFF"/>
                </a:solidFill>
                <a:latin typeface="Cambria Math" pitchFamily="34" charset="0"/>
                <a:ea typeface="Cambria Math" pitchFamily="34" charset="-122"/>
                <a:cs typeface="Cambria Math" pitchFamily="34" charset="-120"/>
              </a:rPr>
              <a:t> = 1 | </a:t>
            </a:r>
            <a:pPr indent="0" marL="0">
              <a:buNone/>
            </a:pPr>
            <a:r>
              <a:rPr lang="en-US" sz="2000" i="1" dirty="0">
                <a:solidFill>
                  <a:srgbClr val="FFFFFF"/>
                </a:solidFill>
                <a:latin typeface="Cambria Math" pitchFamily="34" charset="0"/>
                <a:ea typeface="Cambria Math" pitchFamily="34" charset="-122"/>
                <a:cs typeface="Cambria Math" pitchFamily="34" charset="-120"/>
              </a:rPr>
              <a:t>s</a:t>
            </a:r>
            <a:pPr indent="0" marL="0">
              <a:buNone/>
            </a:pPr>
            <a:r>
              <a:rPr lang="en-US" sz="2000" i="1" baseline="-40000" dirty="0">
                <a:solidFill>
                  <a:srgbClr val="FFFFFF"/>
                </a:solidFill>
                <a:latin typeface="Cambria Math" pitchFamily="34" charset="0"/>
                <a:ea typeface="Cambria Math" pitchFamily="34" charset="-122"/>
                <a:cs typeface="Cambria Math" pitchFamily="34" charset="-120"/>
              </a:rPr>
              <a:t>ij</a:t>
            </a:r>
            <a:pPr indent="0" marL="0">
              <a:buNone/>
            </a:pPr>
            <a:r>
              <a:rPr lang="en-US" sz="2000" dirty="0">
                <a:solidFill>
                  <a:srgbClr val="FFFFFF"/>
                </a:solidFill>
                <a:latin typeface="Cambria Math" pitchFamily="34" charset="0"/>
                <a:ea typeface="Cambria Math" pitchFamily="34" charset="-122"/>
                <a:cs typeface="Cambria Math" pitchFamily="34" charset="-120"/>
              </a:rPr>
              <a:t> </a:t>
            </a:r>
            <a:pPr indent="0" marL="0">
              <a:buNone/>
            </a:pPr>
            <a:r>
              <a:rPr lang="en-US" sz="2000" dirty="0">
                <a:solidFill>
                  <a:srgbClr val="FFFFFF"/>
                </a:solidFill>
                <a:latin typeface="Cambria Math" pitchFamily="34" charset="0"/>
                <a:ea typeface="Cambria Math" pitchFamily="34" charset="-122"/>
                <a:cs typeface="Cambria Math" pitchFamily="34" charset="-120"/>
              </a:rPr>
              <a:t>, </a:t>
            </a:r>
            <a:pPr indent="0" marL="0">
              <a:buNone/>
            </a:pPr>
            <a:r>
              <a:rPr lang="en-US" sz="2000" i="1" dirty="0">
                <a:solidFill>
                  <a:srgbClr val="FFFFFF"/>
                </a:solidFill>
                <a:latin typeface="Cambria Math" pitchFamily="34" charset="0"/>
                <a:ea typeface="Cambria Math" pitchFamily="34" charset="-122"/>
                <a:cs typeface="Cambria Math" pitchFamily="34" charset="-120"/>
              </a:rPr>
              <a:t>d</a:t>
            </a:r>
            <a:pPr indent="0" marL="0">
              <a:buNone/>
            </a:pPr>
            <a:r>
              <a:rPr lang="en-US" sz="2000" i="1" baseline="-40000" dirty="0">
                <a:solidFill>
                  <a:srgbClr val="FFFFFF"/>
                </a:solidFill>
                <a:latin typeface="Cambria Math" pitchFamily="34" charset="0"/>
                <a:ea typeface="Cambria Math" pitchFamily="34" charset="-122"/>
                <a:cs typeface="Cambria Math" pitchFamily="34" charset="-120"/>
              </a:rPr>
              <a:t>ij</a:t>
            </a:r>
            <a:pPr indent="0" marL="0">
              <a:buNone/>
            </a:pPr>
            <a:r>
              <a:rPr lang="en-US" sz="2000" dirty="0">
                <a:solidFill>
                  <a:srgbClr val="FFFFFF"/>
                </a:solidFill>
                <a:latin typeface="Cambria Math" pitchFamily="34" charset="0"/>
                <a:ea typeface="Cambria Math" pitchFamily="34" charset="-122"/>
                <a:cs typeface="Cambria Math" pitchFamily="34" charset="-120"/>
              </a:rPr>
              <a:t> </a:t>
            </a:r>
            <a:pPr indent="0" marL="0">
              <a:buNone/>
            </a:pPr>
            <a:r>
              <a:rPr lang="en-US" sz="2000" dirty="0">
                <a:solidFill>
                  <a:srgbClr val="FFFFFF"/>
                </a:solidFill>
                <a:latin typeface="Cambria Math" pitchFamily="34" charset="0"/>
                <a:ea typeface="Cambria Math" pitchFamily="34" charset="-122"/>
                <a:cs typeface="Cambria Math" pitchFamily="34" charset="-120"/>
              </a:rPr>
              <a:t>)</a:t>
            </a:r>
            <a:endParaRPr lang="en-US" sz="2000" dirty="0"/>
          </a:p>
        </p:txBody>
      </p:sp>
      <p:sp>
        <p:nvSpPr>
          <p:cNvPr id="23" name="Text 18"/>
          <p:cNvSpPr txBox="1"/>
          <p:nvPr/>
        </p:nvSpPr>
        <p:spPr>
          <a:xfrm>
            <a:off x="8714232" y="3246120"/>
            <a:ext cx="2651760" cy="960120"/>
          </a:xfrm>
          <a:prstGeom prst="rect">
            <a:avLst/>
          </a:prstGeom>
          <a:noFill/>
          <a:ln/>
        </p:spPr>
        <p:txBody>
          <a:bodyPr wrap="square" lIns="0" tIns="0" rIns="0" bIns="0" rtlCol="0" anchor="t"/>
          <a:lstStyle/>
          <a:p>
            <a:pPr indent="0" marL="0">
              <a:buNone/>
            </a:pPr>
            <a:r>
              <a:rPr lang="en-US" sz="1400" dirty="0">
                <a:solidFill>
                  <a:srgbClr val="C9D2E3"/>
                </a:solidFill>
                <a:latin typeface="Calibri" pitchFamily="34" charset="0"/>
                <a:ea typeface="Calibri" pitchFamily="34" charset="-122"/>
                <a:cs typeface="Calibri" pitchFamily="34" charset="-120"/>
              </a:rPr>
              <a:t>Probability the edge is real, with uncertainty, combining both sources of evidence.</a:t>
            </a:r>
            <a:endParaRPr lang="en-US" sz="1400" dirty="0"/>
          </a:p>
        </p:txBody>
      </p:sp>
      <p:sp>
        <p:nvSpPr>
          <p:cNvPr id="24" name="Shape 19"/>
          <p:cNvSpPr/>
          <p:nvPr/>
        </p:nvSpPr>
        <p:spPr>
          <a:xfrm>
            <a:off x="548640" y="4617720"/>
            <a:ext cx="11091672" cy="1280160"/>
          </a:xfrm>
          <a:prstGeom prst="roundRect">
            <a:avLst>
              <a:gd name="adj" fmla="val 8571"/>
            </a:avLst>
          </a:prstGeom>
          <a:solidFill>
            <a:srgbClr val="FFFFFF"/>
          </a:solidFill>
          <a:ln w="12700">
            <a:solidFill>
              <a:srgbClr val="FFFFFF"/>
            </a:solidFill>
            <a:prstDash val="solid"/>
          </a:ln>
        </p:spPr>
      </p:sp>
      <p:sp>
        <p:nvSpPr>
          <p:cNvPr id="25" name="Text 20"/>
          <p:cNvSpPr txBox="1"/>
          <p:nvPr/>
        </p:nvSpPr>
        <p:spPr>
          <a:xfrm>
            <a:off x="822960" y="4617720"/>
            <a:ext cx="822960" cy="1280160"/>
          </a:xfrm>
          <a:prstGeom prst="rect">
            <a:avLst/>
          </a:prstGeom>
          <a:noFill/>
          <a:ln/>
        </p:spPr>
        <p:txBody>
          <a:bodyPr wrap="square" lIns="0" tIns="0" rIns="0" bIns="0" rtlCol="0" anchor="ctr"/>
          <a:lstStyle/>
          <a:p>
            <a:pPr indent="0" marL="0">
              <a:buNone/>
            </a:pPr>
            <a:r>
              <a:rPr lang="en-US" sz="1300" b="1" spc="300" kern="0" dirty="0">
                <a:solidFill>
                  <a:srgbClr val="B4540A"/>
                </a:solidFill>
                <a:latin typeface="Calibri" pitchFamily="34" charset="0"/>
                <a:ea typeface="Calibri" pitchFamily="34" charset="-122"/>
                <a:cs typeface="Calibri" pitchFamily="34" charset="-120"/>
              </a:rPr>
              <a:t>THEN</a:t>
            </a:r>
            <a:endParaRPr lang="en-US" sz="1300" dirty="0"/>
          </a:p>
        </p:txBody>
      </p:sp>
      <p:sp>
        <p:nvSpPr>
          <p:cNvPr id="26" name="Shape 21"/>
          <p:cNvSpPr/>
          <p:nvPr/>
        </p:nvSpPr>
        <p:spPr>
          <a:xfrm>
            <a:off x="1737360" y="4846320"/>
            <a:ext cx="2788920" cy="822960"/>
          </a:xfrm>
          <a:prstGeom prst="roundRect">
            <a:avLst>
              <a:gd name="adj" fmla="val 8889"/>
            </a:avLst>
          </a:prstGeom>
          <a:solidFill>
            <a:srgbClr val="F4F5F8"/>
          </a:solidFill>
          <a:ln w="12700">
            <a:solidFill>
              <a:srgbClr val="F4F5F8"/>
            </a:solidFill>
            <a:prstDash val="solid"/>
          </a:ln>
        </p:spPr>
      </p:sp>
      <p:sp>
        <p:nvSpPr>
          <p:cNvPr id="27" name="Text 22"/>
          <p:cNvSpPr txBox="1"/>
          <p:nvPr/>
        </p:nvSpPr>
        <p:spPr>
          <a:xfrm>
            <a:off x="1920240" y="4846320"/>
            <a:ext cx="2423160" cy="822960"/>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Weight each GNN message by its edge’s posterior</a:t>
            </a:r>
            <a:endParaRPr lang="en-US" sz="1400" dirty="0"/>
          </a:p>
        </p:txBody>
      </p:sp>
      <p:sp>
        <p:nvSpPr>
          <p:cNvPr id="28" name="Shape 23"/>
          <p:cNvSpPr/>
          <p:nvPr/>
        </p:nvSpPr>
        <p:spPr>
          <a:xfrm>
            <a:off x="4590288" y="5102352"/>
            <a:ext cx="384048" cy="310896"/>
          </a:xfrm>
          <a:prstGeom prst="rightArrow">
            <a:avLst/>
          </a:prstGeom>
          <a:solidFill>
            <a:srgbClr val="B4540A"/>
          </a:solidFill>
          <a:ln w="12700">
            <a:solidFill>
              <a:srgbClr val="B4540A"/>
            </a:solidFill>
            <a:prstDash val="solid"/>
          </a:ln>
        </p:spPr>
      </p:sp>
      <p:sp>
        <p:nvSpPr>
          <p:cNvPr id="29" name="Shape 24"/>
          <p:cNvSpPr/>
          <p:nvPr/>
        </p:nvSpPr>
        <p:spPr>
          <a:xfrm>
            <a:off x="5047488" y="4846320"/>
            <a:ext cx="2788920" cy="822960"/>
          </a:xfrm>
          <a:prstGeom prst="roundRect">
            <a:avLst>
              <a:gd name="adj" fmla="val 8889"/>
            </a:avLst>
          </a:prstGeom>
          <a:solidFill>
            <a:srgbClr val="F4F5F8"/>
          </a:solidFill>
          <a:ln w="12700">
            <a:solidFill>
              <a:srgbClr val="F4F5F8"/>
            </a:solidFill>
            <a:prstDash val="solid"/>
          </a:ln>
        </p:spPr>
      </p:sp>
      <p:sp>
        <p:nvSpPr>
          <p:cNvPr id="30" name="Text 25"/>
          <p:cNvSpPr txBox="1"/>
          <p:nvPr/>
        </p:nvSpPr>
        <p:spPr>
          <a:xfrm>
            <a:off x="5230368" y="4846320"/>
            <a:ext cx="2423160" cy="822960"/>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Give GNN weights </a:t>
            </a:r>
            <a:pPr indent="0" marL="0">
              <a:buNone/>
            </a:pPr>
            <a:r>
              <a:rPr lang="en-US" sz="1400" i="1" dirty="0">
                <a:solidFill>
                  <a:srgbClr val="14213D"/>
                </a:solidFill>
                <a:latin typeface="Calibri" pitchFamily="34" charset="0"/>
                <a:ea typeface="Calibri" pitchFamily="34" charset="-122"/>
                <a:cs typeface="Calibri" pitchFamily="34" charset="-120"/>
              </a:rPr>
              <a:t>W</a:t>
            </a:r>
            <a:pPr indent="0" marL="0">
              <a:buNone/>
            </a:pPr>
            <a:r>
              <a:rPr lang="en-US" sz="1400" dirty="0">
                <a:solidFill>
                  <a:srgbClr val="14213D"/>
                </a:solidFill>
                <a:latin typeface="Calibri" pitchFamily="34" charset="0"/>
                <a:ea typeface="Calibri" pitchFamily="34" charset="-122"/>
                <a:cs typeface="Calibri" pitchFamily="34" charset="-120"/>
              </a:rPr>
              <a:t> a posterior too (MC dropout, ensembles, VI)</a:t>
            </a:r>
            <a:endParaRPr lang="en-US" sz="1400" dirty="0"/>
          </a:p>
        </p:txBody>
      </p:sp>
      <p:sp>
        <p:nvSpPr>
          <p:cNvPr id="31" name="Shape 26"/>
          <p:cNvSpPr/>
          <p:nvPr/>
        </p:nvSpPr>
        <p:spPr>
          <a:xfrm>
            <a:off x="7900416" y="5102352"/>
            <a:ext cx="384048" cy="310896"/>
          </a:xfrm>
          <a:prstGeom prst="rightArrow">
            <a:avLst/>
          </a:prstGeom>
          <a:solidFill>
            <a:srgbClr val="B4540A"/>
          </a:solidFill>
          <a:ln w="12700">
            <a:solidFill>
              <a:srgbClr val="B4540A"/>
            </a:solidFill>
            <a:prstDash val="solid"/>
          </a:ln>
        </p:spPr>
      </p:sp>
      <p:sp>
        <p:nvSpPr>
          <p:cNvPr id="32" name="Shape 27"/>
          <p:cNvSpPr/>
          <p:nvPr/>
        </p:nvSpPr>
        <p:spPr>
          <a:xfrm>
            <a:off x="8357616" y="4846320"/>
            <a:ext cx="2788920" cy="822960"/>
          </a:xfrm>
          <a:prstGeom prst="roundRect">
            <a:avLst>
              <a:gd name="adj" fmla="val 8889"/>
            </a:avLst>
          </a:prstGeom>
          <a:solidFill>
            <a:srgbClr val="F4F5F8"/>
          </a:solidFill>
          <a:ln w="12700">
            <a:solidFill>
              <a:srgbClr val="F4F5F8"/>
            </a:solidFill>
            <a:prstDash val="solid"/>
          </a:ln>
        </p:spPr>
      </p:sp>
      <p:sp>
        <p:nvSpPr>
          <p:cNvPr id="33" name="Text 28"/>
          <p:cNvSpPr txBox="1"/>
          <p:nvPr/>
        </p:nvSpPr>
        <p:spPr>
          <a:xfrm>
            <a:off x="8540496" y="4846320"/>
            <a:ext cx="2423160" cy="82296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Predict node labels with uncertainty</a:t>
            </a:r>
            <a:endParaRPr lang="en-US" sz="1400" dirty="0"/>
          </a:p>
        </p:txBody>
      </p:sp>
      <p:sp>
        <p:nvSpPr>
          <p:cNvPr id="34" name="Text 29"/>
          <p:cNvSpPr txBox="1"/>
          <p:nvPr/>
        </p:nvSpPr>
        <p:spPr>
          <a:xfrm>
            <a:off x="548640" y="6035040"/>
            <a:ext cx="11091672" cy="256032"/>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Hidden: </a:t>
            </a:r>
            <a:pPr indent="0" marL="0">
              <a:buNone/>
            </a:pPr>
            <a:r>
              <a:rPr lang="en-US" sz="1200" i="1" dirty="0">
                <a:solidFill>
                  <a:srgbClr val="4A5568"/>
                </a:solidFill>
                <a:latin typeface="Calibri" pitchFamily="34" charset="0"/>
                <a:ea typeface="Calibri" pitchFamily="34" charset="-122"/>
                <a:cs typeface="Calibri" pitchFamily="34" charset="-120"/>
              </a:rPr>
              <a:t>z</a:t>
            </a:r>
            <a:pPr indent="0" marL="0">
              <a:buNone/>
            </a:pPr>
            <a:r>
              <a:rPr lang="en-US" sz="1200" i="1" baseline="-40000" dirty="0">
                <a:solidFill>
                  <a:srgbClr val="4A5568"/>
                </a:solidFill>
                <a:latin typeface="Calibri" pitchFamily="34" charset="0"/>
                <a:ea typeface="Calibri" pitchFamily="34" charset="-122"/>
                <a:cs typeface="Calibri" pitchFamily="34" charset="-120"/>
              </a:rPr>
              <a:t>ij</a:t>
            </a:r>
            <a:pPr indent="0" marL="0">
              <a:buNone/>
            </a:pPr>
            <a:r>
              <a:rPr lang="en-US" sz="1200" dirty="0">
                <a:solidFill>
                  <a:srgbClr val="4A5568"/>
                </a:solidFill>
                <a:latin typeface="Calibri" pitchFamily="34" charset="0"/>
                <a:ea typeface="Calibri" pitchFamily="34" charset="-122"/>
                <a:cs typeface="Calibri" pitchFamily="34" charset="-120"/>
              </a:rPr>
              <a:t> </a:t>
            </a:r>
            <a:pPr indent="0" marL="0">
              <a:buNone/>
            </a:pPr>
            <a:r>
              <a:rPr lang="en-US" sz="1200" dirty="0">
                <a:solidFill>
                  <a:srgbClr val="4A5568"/>
                </a:solidFill>
                <a:latin typeface="Calibri" pitchFamily="34" charset="0"/>
                <a:ea typeface="Calibri" pitchFamily="34" charset="-122"/>
                <a:cs typeface="Calibri" pitchFamily="34" charset="-120"/>
              </a:rPr>
              <a:t>, </a:t>
            </a:r>
            <a:pPr indent="0" marL="0">
              <a:buNone/>
            </a:pPr>
            <a:r>
              <a:rPr lang="en-US" sz="1200" i="1" dirty="0">
                <a:solidFill>
                  <a:srgbClr val="4A5568"/>
                </a:solidFill>
                <a:latin typeface="Calibri" pitchFamily="34" charset="0"/>
                <a:ea typeface="Calibri" pitchFamily="34" charset="-122"/>
                <a:cs typeface="Calibri" pitchFamily="34" charset="-120"/>
              </a:rPr>
              <a:t>W</a:t>
            </a:r>
            <a:pPr indent="0" marL="0">
              <a:buNone/>
            </a:pPr>
            <a:r>
              <a:rPr lang="en-US" sz="1200" dirty="0">
                <a:solidFill>
                  <a:srgbClr val="4A5568"/>
                </a:solidFill>
                <a:latin typeface="Calibri" pitchFamily="34" charset="0"/>
                <a:ea typeface="Calibri" pitchFamily="34" charset="-122"/>
                <a:cs typeface="Calibri" pitchFamily="34" charset="-120"/>
              </a:rPr>
              <a:t>   ·   Observed: node texts, edges (incl. injected), training labels, LLM scores </a:t>
            </a:r>
            <a:pPr indent="0" marL="0">
              <a:buNone/>
            </a:pPr>
            <a:r>
              <a:rPr lang="en-US" sz="1200" i="1" dirty="0">
                <a:solidFill>
                  <a:srgbClr val="4A5568"/>
                </a:solidFill>
                <a:latin typeface="Calibri" pitchFamily="34" charset="0"/>
                <a:ea typeface="Calibri" pitchFamily="34" charset="-122"/>
                <a:cs typeface="Calibri" pitchFamily="34" charset="-120"/>
              </a:rPr>
              <a:t>s</a:t>
            </a:r>
            <a:pPr indent="0" marL="0">
              <a:buNone/>
            </a:pPr>
            <a:r>
              <a:rPr lang="en-US" sz="1200" i="1" baseline="-40000" dirty="0">
                <a:solidFill>
                  <a:srgbClr val="4A5568"/>
                </a:solidFill>
                <a:latin typeface="Calibri" pitchFamily="34" charset="0"/>
                <a:ea typeface="Calibri" pitchFamily="34" charset="-122"/>
                <a:cs typeface="Calibri" pitchFamily="34" charset="-120"/>
              </a:rPr>
              <a:t>ij</a:t>
            </a:r>
            <a:pPr indent="0" marL="0">
              <a:buNone/>
            </a:pPr>
            <a:r>
              <a:rPr lang="en-US" sz="1200" dirty="0">
                <a:solidFill>
                  <a:srgbClr val="4A5568"/>
                </a:solidFill>
                <a:latin typeface="Calibri" pitchFamily="34" charset="0"/>
                <a:ea typeface="Calibri" pitchFamily="34" charset="-122"/>
                <a:cs typeface="Calibri" pitchFamily="34" charset="-120"/>
              </a:rPr>
              <a:t> </a:t>
            </a:r>
            <a:endParaRPr lang="en-US" sz="1200" dirty="0"/>
          </a:p>
        </p:txBody>
      </p:sp>
      <p:sp>
        <p:nvSpPr>
          <p:cNvPr id="35" name="Text 30"/>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36" name="Text 31"/>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100" dirty="0">
                <a:solidFill>
                  <a:srgbClr val="4A5568"/>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Three hypotheses</a:t>
            </a:r>
            <a:endParaRPr lang="en-US" sz="3600" dirty="0"/>
          </a:p>
        </p:txBody>
      </p:sp>
      <p:sp>
        <p:nvSpPr>
          <p:cNvPr id="3" name="Shape 1"/>
          <p:cNvSpPr/>
          <p:nvPr/>
        </p:nvSpPr>
        <p:spPr>
          <a:xfrm>
            <a:off x="548640" y="1371600"/>
            <a:ext cx="3566160" cy="4754880"/>
          </a:xfrm>
          <a:prstGeom prst="roundRect">
            <a:avLst>
              <a:gd name="adj" fmla="val 3077"/>
            </a:avLst>
          </a:prstGeom>
          <a:solidFill>
            <a:srgbClr val="F4F5F8"/>
          </a:solidFill>
          <a:ln w="12700">
            <a:solidFill>
              <a:srgbClr val="F4F5F8"/>
            </a:solidFill>
            <a:prstDash val="solid"/>
          </a:ln>
        </p:spPr>
      </p:sp>
      <p:sp>
        <p:nvSpPr>
          <p:cNvPr id="4" name="Shape 2"/>
          <p:cNvSpPr/>
          <p:nvPr/>
        </p:nvSpPr>
        <p:spPr>
          <a:xfrm>
            <a:off x="868680" y="1691640"/>
            <a:ext cx="731520" cy="731520"/>
          </a:xfrm>
          <a:prstGeom prst="ellipse">
            <a:avLst/>
          </a:prstGeom>
          <a:solidFill>
            <a:srgbClr val="B4540A"/>
          </a:solidFill>
          <a:ln w="12700">
            <a:solidFill>
              <a:srgbClr val="B4540A"/>
            </a:solidFill>
            <a:prstDash val="solid"/>
          </a:ln>
        </p:spPr>
      </p:sp>
      <p:pic>
        <p:nvPicPr>
          <p:cNvPr id="5" name="Image 0" descr="preencoded.png">    </p:cNvPr>
          <p:cNvPicPr>
            <a:picLocks noChangeAspect="1"/>
          </p:cNvPicPr>
          <p:nvPr/>
        </p:nvPicPr>
        <p:blipFill>
          <a:blip r:embed="rId1"/>
          <a:stretch>
            <a:fillRect/>
          </a:stretch>
        </p:blipFill>
        <p:spPr>
          <a:xfrm>
            <a:off x="1051560" y="1874520"/>
            <a:ext cx="365760" cy="365760"/>
          </a:xfrm>
          <a:prstGeom prst="rect">
            <a:avLst/>
          </a:prstGeom>
        </p:spPr>
      </p:pic>
      <p:sp>
        <p:nvSpPr>
          <p:cNvPr id="6" name="Text 3"/>
          <p:cNvSpPr txBox="1"/>
          <p:nvPr/>
        </p:nvSpPr>
        <p:spPr>
          <a:xfrm>
            <a:off x="1783080" y="1783080"/>
            <a:ext cx="2011680" cy="548640"/>
          </a:xfrm>
          <a:prstGeom prst="rect">
            <a:avLst/>
          </a:prstGeom>
          <a:noFill/>
          <a:ln/>
        </p:spPr>
        <p:txBody>
          <a:bodyPr wrap="square" lIns="0" tIns="0" rIns="0" bIns="0" rtlCol="0" anchor="ctr"/>
          <a:lstStyle/>
          <a:p>
            <a:pPr indent="0" marL="0">
              <a:buNone/>
            </a:pPr>
            <a:r>
              <a:rPr lang="en-US" sz="3000" b="1" dirty="0">
                <a:solidFill>
                  <a:srgbClr val="B4540A"/>
                </a:solidFill>
                <a:latin typeface="Cambria" pitchFamily="34" charset="0"/>
                <a:ea typeface="Cambria" pitchFamily="34" charset="-122"/>
                <a:cs typeface="Cambria" pitchFamily="34" charset="-120"/>
              </a:rPr>
              <a:t>H1</a:t>
            </a:r>
            <a:endParaRPr lang="en-US" sz="3000" dirty="0"/>
          </a:p>
        </p:txBody>
      </p:sp>
      <p:sp>
        <p:nvSpPr>
          <p:cNvPr id="7" name="Text 4"/>
          <p:cNvSpPr txBox="1"/>
          <p:nvPr/>
        </p:nvSpPr>
        <p:spPr>
          <a:xfrm>
            <a:off x="868680" y="2651760"/>
            <a:ext cx="2926080" cy="777240"/>
          </a:xfrm>
          <a:prstGeom prst="rect">
            <a:avLst/>
          </a:prstGeom>
          <a:noFill/>
          <a:ln/>
        </p:spPr>
        <p:txBody>
          <a:bodyPr wrap="square" lIns="0" tIns="0" rIns="0" bIns="0" rtlCol="0" anchor="t"/>
          <a:lstStyle/>
          <a:p>
            <a:pPr indent="0" marL="0">
              <a:buNone/>
            </a:pPr>
            <a:r>
              <a:rPr lang="en-US" sz="1900" b="1" dirty="0">
                <a:solidFill>
                  <a:srgbClr val="14213D"/>
                </a:solidFill>
                <a:latin typeface="Calibri" pitchFamily="34" charset="0"/>
                <a:ea typeface="Calibri" pitchFamily="34" charset="-122"/>
                <a:cs typeface="Calibri" pitchFamily="34" charset="-120"/>
              </a:rPr>
              <a:t>Text and structure together find fake edges</a:t>
            </a:r>
            <a:endParaRPr lang="en-US" sz="1900" dirty="0"/>
          </a:p>
        </p:txBody>
      </p:sp>
      <p:sp>
        <p:nvSpPr>
          <p:cNvPr id="8" name="Text 5"/>
          <p:cNvSpPr txBox="1"/>
          <p:nvPr/>
        </p:nvSpPr>
        <p:spPr>
          <a:xfrm>
            <a:off x="868680" y="3520440"/>
            <a:ext cx="2926080" cy="150876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Combining the text prior with the structural likelihood detects injected edges better than either source alone.</a:t>
            </a:r>
            <a:endParaRPr lang="en-US" sz="1500" dirty="0"/>
          </a:p>
        </p:txBody>
      </p:sp>
      <p:sp>
        <p:nvSpPr>
          <p:cNvPr id="9" name="Shape 6"/>
          <p:cNvSpPr/>
          <p:nvPr/>
        </p:nvSpPr>
        <p:spPr>
          <a:xfrm>
            <a:off x="777240" y="5120640"/>
            <a:ext cx="3108960" cy="777240"/>
          </a:xfrm>
          <a:prstGeom prst="roundRect">
            <a:avLst>
              <a:gd name="adj" fmla="val 9412"/>
            </a:avLst>
          </a:prstGeom>
          <a:solidFill>
            <a:srgbClr val="FFFFFF"/>
          </a:solidFill>
          <a:ln w="12700">
            <a:solidFill>
              <a:srgbClr val="FFFFFF"/>
            </a:solidFill>
            <a:prstDash val="solid"/>
          </a:ln>
        </p:spPr>
      </p:sp>
      <p:sp>
        <p:nvSpPr>
          <p:cNvPr id="10" name="Text 7"/>
          <p:cNvSpPr txBox="1"/>
          <p:nvPr/>
        </p:nvSpPr>
        <p:spPr>
          <a:xfrm>
            <a:off x="914400" y="5120640"/>
            <a:ext cx="2834640" cy="7772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Test: AUROC for fake-edge detection</a:t>
            </a:r>
            <a:endParaRPr lang="en-US" sz="1300" dirty="0"/>
          </a:p>
        </p:txBody>
      </p:sp>
      <p:sp>
        <p:nvSpPr>
          <p:cNvPr id="11" name="Shape 8"/>
          <p:cNvSpPr/>
          <p:nvPr/>
        </p:nvSpPr>
        <p:spPr>
          <a:xfrm>
            <a:off x="4343400" y="1371600"/>
            <a:ext cx="3566160" cy="4754880"/>
          </a:xfrm>
          <a:prstGeom prst="roundRect">
            <a:avLst>
              <a:gd name="adj" fmla="val 3077"/>
            </a:avLst>
          </a:prstGeom>
          <a:solidFill>
            <a:srgbClr val="F4F5F8"/>
          </a:solidFill>
          <a:ln w="12700">
            <a:solidFill>
              <a:srgbClr val="F4F5F8"/>
            </a:solidFill>
            <a:prstDash val="solid"/>
          </a:ln>
        </p:spPr>
      </p:sp>
      <p:sp>
        <p:nvSpPr>
          <p:cNvPr id="12" name="Shape 9"/>
          <p:cNvSpPr/>
          <p:nvPr/>
        </p:nvSpPr>
        <p:spPr>
          <a:xfrm>
            <a:off x="4663440" y="1691640"/>
            <a:ext cx="731520" cy="731520"/>
          </a:xfrm>
          <a:prstGeom prst="ellipse">
            <a:avLst/>
          </a:prstGeom>
          <a:solidFill>
            <a:srgbClr val="B4540A"/>
          </a:solidFill>
          <a:ln w="12700">
            <a:solidFill>
              <a:srgbClr val="B4540A"/>
            </a:solidFill>
            <a:prstDash val="solid"/>
          </a:ln>
        </p:spPr>
      </p:sp>
      <p:pic>
        <p:nvPicPr>
          <p:cNvPr id="13" name="Image 1" descr="preencoded.png">    </p:cNvPr>
          <p:cNvPicPr>
            <a:picLocks noChangeAspect="1"/>
          </p:cNvPicPr>
          <p:nvPr/>
        </p:nvPicPr>
        <p:blipFill>
          <a:blip r:embed="rId2"/>
          <a:stretch>
            <a:fillRect/>
          </a:stretch>
        </p:blipFill>
        <p:spPr>
          <a:xfrm>
            <a:off x="4846320" y="1874520"/>
            <a:ext cx="365760" cy="365760"/>
          </a:xfrm>
          <a:prstGeom prst="rect">
            <a:avLst/>
          </a:prstGeom>
        </p:spPr>
      </p:pic>
      <p:sp>
        <p:nvSpPr>
          <p:cNvPr id="14" name="Text 10"/>
          <p:cNvSpPr txBox="1"/>
          <p:nvPr/>
        </p:nvSpPr>
        <p:spPr>
          <a:xfrm>
            <a:off x="5577840" y="1783080"/>
            <a:ext cx="2011680" cy="548640"/>
          </a:xfrm>
          <a:prstGeom prst="rect">
            <a:avLst/>
          </a:prstGeom>
          <a:noFill/>
          <a:ln/>
        </p:spPr>
        <p:txBody>
          <a:bodyPr wrap="square" lIns="0" tIns="0" rIns="0" bIns="0" rtlCol="0" anchor="ctr"/>
          <a:lstStyle/>
          <a:p>
            <a:pPr indent="0" marL="0">
              <a:buNone/>
            </a:pPr>
            <a:r>
              <a:rPr lang="en-US" sz="3000" b="1" dirty="0">
                <a:solidFill>
                  <a:srgbClr val="B4540A"/>
                </a:solidFill>
                <a:latin typeface="Cambria" pitchFamily="34" charset="0"/>
                <a:ea typeface="Cambria" pitchFamily="34" charset="-122"/>
                <a:cs typeface="Cambria" pitchFamily="34" charset="-120"/>
              </a:rPr>
              <a:t>H2</a:t>
            </a:r>
            <a:endParaRPr lang="en-US" sz="3000" dirty="0"/>
          </a:p>
        </p:txBody>
      </p:sp>
      <p:sp>
        <p:nvSpPr>
          <p:cNvPr id="15" name="Text 11"/>
          <p:cNvSpPr txBox="1"/>
          <p:nvPr/>
        </p:nvSpPr>
        <p:spPr>
          <a:xfrm>
            <a:off x="4663440" y="2651760"/>
            <a:ext cx="2926080" cy="777240"/>
          </a:xfrm>
          <a:prstGeom prst="rect">
            <a:avLst/>
          </a:prstGeom>
          <a:noFill/>
          <a:ln/>
        </p:spPr>
        <p:txBody>
          <a:bodyPr wrap="square" lIns="0" tIns="0" rIns="0" bIns="0" rtlCol="0" anchor="t"/>
          <a:lstStyle/>
          <a:p>
            <a:pPr indent="0" marL="0">
              <a:buNone/>
            </a:pPr>
            <a:r>
              <a:rPr lang="en-US" sz="1900" b="1" dirty="0">
                <a:solidFill>
                  <a:srgbClr val="14213D"/>
                </a:solidFill>
                <a:latin typeface="Calibri" pitchFamily="34" charset="0"/>
                <a:ea typeface="Calibri" pitchFamily="34" charset="-122"/>
                <a:cs typeface="Calibri" pitchFamily="34" charset="-120"/>
              </a:rPr>
              <a:t>Uncertainty flags attacked nodes</a:t>
            </a:r>
            <a:endParaRPr lang="en-US" sz="1900" dirty="0"/>
          </a:p>
        </p:txBody>
      </p:sp>
      <p:sp>
        <p:nvSpPr>
          <p:cNvPr id="16" name="Text 12"/>
          <p:cNvSpPr txBox="1"/>
          <p:nvPr/>
        </p:nvSpPr>
        <p:spPr>
          <a:xfrm>
            <a:off x="4663440" y="3520440"/>
            <a:ext cx="2926080" cy="150876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A Bayesian GNN is more uncertain on nodes that received fake edges, and stays better calibrated as the attack grows.</a:t>
            </a:r>
            <a:endParaRPr lang="en-US" sz="1500" dirty="0"/>
          </a:p>
        </p:txBody>
      </p:sp>
      <p:sp>
        <p:nvSpPr>
          <p:cNvPr id="17" name="Shape 13"/>
          <p:cNvSpPr/>
          <p:nvPr/>
        </p:nvSpPr>
        <p:spPr>
          <a:xfrm>
            <a:off x="4572000" y="5120640"/>
            <a:ext cx="3108960" cy="777240"/>
          </a:xfrm>
          <a:prstGeom prst="roundRect">
            <a:avLst>
              <a:gd name="adj" fmla="val 9412"/>
            </a:avLst>
          </a:prstGeom>
          <a:solidFill>
            <a:srgbClr val="FFFFFF"/>
          </a:solidFill>
          <a:ln w="12700">
            <a:solidFill>
              <a:srgbClr val="FFFFFF"/>
            </a:solidFill>
            <a:prstDash val="solid"/>
          </a:ln>
        </p:spPr>
      </p:sp>
      <p:sp>
        <p:nvSpPr>
          <p:cNvPr id="18" name="Text 14"/>
          <p:cNvSpPr txBox="1"/>
          <p:nvPr/>
        </p:nvSpPr>
        <p:spPr>
          <a:xfrm>
            <a:off x="4709160" y="5120640"/>
            <a:ext cx="2834640" cy="7772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Test: ECE and uncertainty vs. attack size</a:t>
            </a:r>
            <a:endParaRPr lang="en-US" sz="1300" dirty="0"/>
          </a:p>
        </p:txBody>
      </p:sp>
      <p:sp>
        <p:nvSpPr>
          <p:cNvPr id="19" name="Shape 15"/>
          <p:cNvSpPr/>
          <p:nvPr/>
        </p:nvSpPr>
        <p:spPr>
          <a:xfrm>
            <a:off x="8138160" y="1371600"/>
            <a:ext cx="3566160" cy="4754880"/>
          </a:xfrm>
          <a:prstGeom prst="roundRect">
            <a:avLst>
              <a:gd name="adj" fmla="val 3077"/>
            </a:avLst>
          </a:prstGeom>
          <a:solidFill>
            <a:srgbClr val="F4F5F8"/>
          </a:solidFill>
          <a:ln w="12700">
            <a:solidFill>
              <a:srgbClr val="F4F5F8"/>
            </a:solidFill>
            <a:prstDash val="solid"/>
          </a:ln>
        </p:spPr>
      </p:sp>
      <p:sp>
        <p:nvSpPr>
          <p:cNvPr id="20" name="Shape 16"/>
          <p:cNvSpPr/>
          <p:nvPr/>
        </p:nvSpPr>
        <p:spPr>
          <a:xfrm>
            <a:off x="8458200" y="1691640"/>
            <a:ext cx="731520" cy="731520"/>
          </a:xfrm>
          <a:prstGeom prst="ellipse">
            <a:avLst/>
          </a:prstGeom>
          <a:solidFill>
            <a:srgbClr val="B4540A"/>
          </a:solidFill>
          <a:ln w="12700">
            <a:solidFill>
              <a:srgbClr val="B4540A"/>
            </a:solidFill>
            <a:prstDash val="solid"/>
          </a:ln>
        </p:spPr>
      </p:sp>
      <p:pic>
        <p:nvPicPr>
          <p:cNvPr id="21" name="Image 2" descr="preencoded.png">    </p:cNvPr>
          <p:cNvPicPr>
            <a:picLocks noChangeAspect="1"/>
          </p:cNvPicPr>
          <p:nvPr/>
        </p:nvPicPr>
        <p:blipFill>
          <a:blip r:embed="rId3"/>
          <a:stretch>
            <a:fillRect/>
          </a:stretch>
        </p:blipFill>
        <p:spPr>
          <a:xfrm>
            <a:off x="8641080" y="1874520"/>
            <a:ext cx="365760" cy="365760"/>
          </a:xfrm>
          <a:prstGeom prst="rect">
            <a:avLst/>
          </a:prstGeom>
        </p:spPr>
      </p:pic>
      <p:sp>
        <p:nvSpPr>
          <p:cNvPr id="22" name="Text 17"/>
          <p:cNvSpPr txBox="1"/>
          <p:nvPr/>
        </p:nvSpPr>
        <p:spPr>
          <a:xfrm>
            <a:off x="9372600" y="1783080"/>
            <a:ext cx="2011680" cy="548640"/>
          </a:xfrm>
          <a:prstGeom prst="rect">
            <a:avLst/>
          </a:prstGeom>
          <a:noFill/>
          <a:ln/>
        </p:spPr>
        <p:txBody>
          <a:bodyPr wrap="square" lIns="0" tIns="0" rIns="0" bIns="0" rtlCol="0" anchor="ctr"/>
          <a:lstStyle/>
          <a:p>
            <a:pPr indent="0" marL="0">
              <a:buNone/>
            </a:pPr>
            <a:r>
              <a:rPr lang="en-US" sz="3000" b="1" dirty="0">
                <a:solidFill>
                  <a:srgbClr val="B4540A"/>
                </a:solidFill>
                <a:latin typeface="Cambria" pitchFamily="34" charset="0"/>
                <a:ea typeface="Cambria" pitchFamily="34" charset="-122"/>
                <a:cs typeface="Cambria" pitchFamily="34" charset="-120"/>
              </a:rPr>
              <a:t>H3</a:t>
            </a:r>
            <a:endParaRPr lang="en-US" sz="3000" dirty="0"/>
          </a:p>
        </p:txBody>
      </p:sp>
      <p:sp>
        <p:nvSpPr>
          <p:cNvPr id="23" name="Text 18"/>
          <p:cNvSpPr txBox="1"/>
          <p:nvPr/>
        </p:nvSpPr>
        <p:spPr>
          <a:xfrm>
            <a:off x="8458200" y="2651760"/>
            <a:ext cx="2926080" cy="777240"/>
          </a:xfrm>
          <a:prstGeom prst="rect">
            <a:avLst/>
          </a:prstGeom>
          <a:noFill/>
          <a:ln/>
        </p:spPr>
        <p:txBody>
          <a:bodyPr wrap="square" lIns="0" tIns="0" rIns="0" bIns="0" rtlCol="0" anchor="t"/>
          <a:lstStyle/>
          <a:p>
            <a:pPr indent="0" marL="0">
              <a:buNone/>
            </a:pPr>
            <a:r>
              <a:rPr lang="en-US" sz="1900" b="1" dirty="0">
                <a:solidFill>
                  <a:srgbClr val="14213D"/>
                </a:solidFill>
                <a:latin typeface="Calibri" pitchFamily="34" charset="0"/>
                <a:ea typeface="Calibri" pitchFamily="34" charset="-122"/>
                <a:cs typeface="Calibri" pitchFamily="34" charset="-120"/>
              </a:rPr>
              <a:t>LLMs make a better prior than embeddings</a:t>
            </a:r>
            <a:endParaRPr lang="en-US" sz="1900" dirty="0"/>
          </a:p>
        </p:txBody>
      </p:sp>
      <p:sp>
        <p:nvSpPr>
          <p:cNvPr id="24" name="Text 19"/>
          <p:cNvSpPr txBox="1"/>
          <p:nvPr/>
        </p:nvSpPr>
        <p:spPr>
          <a:xfrm>
            <a:off x="8458200" y="3520440"/>
            <a:ext cx="2926080" cy="1508760"/>
          </a:xfrm>
          <a:prstGeom prst="rect">
            <a:avLst/>
          </a:prstGeom>
          <a:noFill/>
          <a:ln/>
        </p:spPr>
        <p:txBody>
          <a:bodyPr wrap="square" lIns="0" tIns="0" rIns="0" bIns="0" rtlCol="0" anchor="t"/>
          <a:lstStyle/>
          <a:p>
            <a:pPr indent="0" marL="0">
              <a:buNone/>
            </a:pPr>
            <a:r>
              <a:rPr lang="en-US" sz="1500" dirty="0">
                <a:solidFill>
                  <a:srgbClr val="4A5568"/>
                </a:solidFill>
                <a:latin typeface="Calibri" pitchFamily="34" charset="0"/>
                <a:ea typeface="Calibri" pitchFamily="34" charset="-122"/>
                <a:cs typeface="Calibri" pitchFamily="34" charset="-120"/>
              </a:rPr>
              <a:t>An LLM’s rating of each edge beats embedding similarity as a prior, most on graphs where text predicts labels well.</a:t>
            </a:r>
            <a:endParaRPr lang="en-US" sz="1500" dirty="0"/>
          </a:p>
        </p:txBody>
      </p:sp>
      <p:sp>
        <p:nvSpPr>
          <p:cNvPr id="25" name="Shape 20"/>
          <p:cNvSpPr/>
          <p:nvPr/>
        </p:nvSpPr>
        <p:spPr>
          <a:xfrm>
            <a:off x="8366760" y="5120640"/>
            <a:ext cx="3108960" cy="777240"/>
          </a:xfrm>
          <a:prstGeom prst="roundRect">
            <a:avLst>
              <a:gd name="adj" fmla="val 9412"/>
            </a:avLst>
          </a:prstGeom>
          <a:solidFill>
            <a:srgbClr val="FFFFFF"/>
          </a:solidFill>
          <a:ln w="12700">
            <a:solidFill>
              <a:srgbClr val="FFFFFF"/>
            </a:solidFill>
            <a:prstDash val="solid"/>
          </a:ln>
        </p:spPr>
      </p:sp>
      <p:sp>
        <p:nvSpPr>
          <p:cNvPr id="26" name="Text 21"/>
          <p:cNvSpPr txBox="1"/>
          <p:nvPr/>
        </p:nvSpPr>
        <p:spPr>
          <a:xfrm>
            <a:off x="8503920" y="5120640"/>
            <a:ext cx="2834640" cy="777240"/>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Test: AUROC, LLM vs. SBERT prior, per dataset</a:t>
            </a:r>
            <a:endParaRPr lang="en-US" sz="1300" dirty="0"/>
          </a:p>
        </p:txBody>
      </p:sp>
      <p:sp>
        <p:nvSpPr>
          <p:cNvPr id="27" name="Text 22"/>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Luis Mendez · CSE5825 Project 0</a:t>
            </a:r>
            <a:endParaRPr lang="en-US" sz="1100" dirty="0"/>
          </a:p>
        </p:txBody>
      </p:sp>
      <p:sp>
        <p:nvSpPr>
          <p:cNvPr id="28" name="Text 23"/>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100" dirty="0">
                <a:solidFill>
                  <a:srgbClr val="4A5568"/>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4540A"/>
        </a:solidFill>
      </p:bgPr>
    </p:bg>
    <p:spTree>
      <p:nvGrpSpPr>
        <p:cNvPr id="1" name=""/>
        <p:cNvGrpSpPr/>
        <p:nvPr/>
      </p:nvGrpSpPr>
      <p:grpSpPr>
        <a:xfrm>
          <a:off x="0" y="0"/>
          <a:ext cx="0" cy="0"/>
          <a:chOff x="0" y="0"/>
          <a:chExt cx="0" cy="0"/>
        </a:xfrm>
      </p:grpSpPr>
      <p:sp>
        <p:nvSpPr>
          <p:cNvPr id="2" name="Text 0"/>
          <p:cNvSpPr txBox="1"/>
          <p:nvPr/>
        </p:nvSpPr>
        <p:spPr>
          <a:xfrm>
            <a:off x="731520" y="731520"/>
            <a:ext cx="7315200" cy="365760"/>
          </a:xfrm>
          <a:prstGeom prst="rect">
            <a:avLst/>
          </a:prstGeom>
          <a:noFill/>
          <a:ln/>
        </p:spPr>
        <p:txBody>
          <a:bodyPr wrap="square" lIns="0" tIns="0" rIns="0" bIns="0" rtlCol="0" anchor="ctr"/>
          <a:lstStyle/>
          <a:p>
            <a:pPr indent="0" marL="0">
              <a:buNone/>
            </a:pPr>
            <a:r>
              <a:rPr lang="en-US" sz="1400" b="1" spc="400" kern="0" dirty="0">
                <a:solidFill>
                  <a:srgbClr val="FBF7F0"/>
                </a:solidFill>
                <a:latin typeface="Calibri" pitchFamily="34" charset="0"/>
                <a:ea typeface="Calibri" pitchFamily="34" charset="-122"/>
                <a:cs typeface="Calibri" pitchFamily="34" charset="-120"/>
              </a:rPr>
              <a:t>WHY THIS IS TESTABLE</a:t>
            </a:r>
            <a:endParaRPr lang="en-US" sz="1400" dirty="0"/>
          </a:p>
        </p:txBody>
      </p:sp>
      <p:sp>
        <p:nvSpPr>
          <p:cNvPr id="3" name="Text 1"/>
          <p:cNvSpPr txBox="1"/>
          <p:nvPr/>
        </p:nvSpPr>
        <p:spPr>
          <a:xfrm>
            <a:off x="731520" y="1234440"/>
            <a:ext cx="10698480" cy="1325880"/>
          </a:xfrm>
          <a:prstGeom prst="rect">
            <a:avLst/>
          </a:prstGeom>
          <a:noFill/>
          <a:ln/>
        </p:spPr>
        <p:txBody>
          <a:bodyPr wrap="square" lIns="0" tIns="0" rIns="0" bIns="0" rtlCol="0" anchor="t"/>
          <a:lstStyle/>
          <a:p>
            <a:pPr indent="0" marL="0">
              <a:buNone/>
            </a:pPr>
            <a:r>
              <a:rPr lang="en-US" sz="3600" b="1" dirty="0">
                <a:solidFill>
                  <a:srgbClr val="FBF7F0"/>
                </a:solidFill>
                <a:latin typeface="Cambria" pitchFamily="34" charset="0"/>
                <a:ea typeface="Cambria" pitchFamily="34" charset="-122"/>
                <a:cs typeface="Cambria" pitchFamily="34" charset="-120"/>
              </a:rPr>
              <a:t>We inject the fake edges ourselves, so we know exactly which ones are fake.</a:t>
            </a:r>
            <a:endParaRPr lang="en-US" sz="3600" dirty="0"/>
          </a:p>
        </p:txBody>
      </p:sp>
      <p:sp>
        <p:nvSpPr>
          <p:cNvPr id="4" name="Text 2"/>
          <p:cNvSpPr txBox="1"/>
          <p:nvPr/>
        </p:nvSpPr>
        <p:spPr>
          <a:xfrm>
            <a:off x="731520" y="2697480"/>
            <a:ext cx="10698480" cy="548640"/>
          </a:xfrm>
          <a:prstGeom prst="rect">
            <a:avLst/>
          </a:prstGeom>
          <a:noFill/>
          <a:ln/>
        </p:spPr>
        <p:txBody>
          <a:bodyPr wrap="square" lIns="0" tIns="0" rIns="0" bIns="0" rtlCol="0" anchor="ctr"/>
          <a:lstStyle/>
          <a:p>
            <a:pPr indent="0" marL="0">
              <a:buNone/>
            </a:pPr>
            <a:r>
              <a:rPr lang="en-US" sz="2000" dirty="0">
                <a:solidFill>
                  <a:srgbClr val="FBF7F0"/>
                </a:solidFill>
                <a:latin typeface="Calibri" pitchFamily="34" charset="0"/>
                <a:ea typeface="Calibri" pitchFamily="34" charset="-122"/>
                <a:cs typeface="Calibri" pitchFamily="34" charset="-120"/>
              </a:rPr>
              <a:t>Every edge posterior can be checked against ground truth.</a:t>
            </a:r>
            <a:endParaRPr lang="en-US" sz="2000" dirty="0"/>
          </a:p>
        </p:txBody>
      </p:sp>
      <p:sp>
        <p:nvSpPr>
          <p:cNvPr id="5" name="Shape 3"/>
          <p:cNvSpPr/>
          <p:nvPr/>
        </p:nvSpPr>
        <p:spPr>
          <a:xfrm>
            <a:off x="731520" y="3931920"/>
            <a:ext cx="3108960" cy="1463040"/>
          </a:xfrm>
          <a:prstGeom prst="roundRect">
            <a:avLst>
              <a:gd name="adj" fmla="val 7500"/>
            </a:avLst>
          </a:prstGeom>
          <a:solidFill>
            <a:srgbClr val="FBF7F0"/>
          </a:solidFill>
          <a:ln w="12700">
            <a:solidFill>
              <a:srgbClr val="FBF7F0"/>
            </a:solidFill>
            <a:prstDash val="solid"/>
          </a:ln>
        </p:spPr>
      </p:sp>
      <p:sp>
        <p:nvSpPr>
          <p:cNvPr id="6" name="Text 4"/>
          <p:cNvSpPr txBox="1"/>
          <p:nvPr/>
        </p:nvSpPr>
        <p:spPr>
          <a:xfrm>
            <a:off x="1005840" y="3931920"/>
            <a:ext cx="2560320" cy="1463040"/>
          </a:xfrm>
          <a:prstGeom prst="rect">
            <a:avLst/>
          </a:prstGeom>
          <a:noFill/>
          <a:ln/>
        </p:spPr>
        <p:txBody>
          <a:bodyPr wrap="square" lIns="0" tIns="0" rIns="0" bIns="0" rtlCol="0" anchor="ctr"/>
          <a:lstStyle/>
          <a:p>
            <a:pPr indent="0" marL="0">
              <a:spcAft>
                <a:spcPts val="400"/>
              </a:spcAft>
              <a:buNone/>
            </a:pPr>
            <a:r>
              <a:rPr lang="en-US" sz="2200" b="1" dirty="0">
                <a:solidFill>
                  <a:srgbClr val="14213D"/>
                </a:solidFill>
                <a:latin typeface="Calibri" pitchFamily="34" charset="0"/>
                <a:ea typeface="Calibri" pitchFamily="34" charset="-122"/>
                <a:cs typeface="Calibri" pitchFamily="34" charset="-120"/>
              </a:rPr>
              <a:t>Clean graph</a:t>
            </a:r>
            <a:endParaRPr lang="en-US" sz="2200" dirty="0"/>
          </a:p>
          <a:p>
            <a:pPr indent="0" marL="0">
              <a:spcAft>
                <a:spcPts val="400"/>
              </a:spcAft>
              <a:buNone/>
            </a:pPr>
            <a:r>
              <a:rPr lang="en-US" sz="1500" dirty="0">
                <a:solidFill>
                  <a:srgbClr val="4A5568"/>
                </a:solidFill>
                <a:latin typeface="Calibri" pitchFamily="34" charset="0"/>
                <a:ea typeface="Calibri" pitchFamily="34" charset="-122"/>
                <a:cs typeface="Calibri" pitchFamily="34" charset="-120"/>
              </a:rPr>
              <a:t>real edges only</a:t>
            </a:r>
            <a:endParaRPr lang="en-US" sz="2200" dirty="0"/>
          </a:p>
        </p:txBody>
      </p:sp>
      <p:sp>
        <p:nvSpPr>
          <p:cNvPr id="7" name="Shape 5"/>
          <p:cNvSpPr/>
          <p:nvPr/>
        </p:nvSpPr>
        <p:spPr>
          <a:xfrm>
            <a:off x="3913632" y="4434840"/>
            <a:ext cx="502920" cy="457200"/>
          </a:xfrm>
          <a:prstGeom prst="rightArrow">
            <a:avLst/>
          </a:prstGeom>
          <a:solidFill>
            <a:srgbClr val="FBF7F0"/>
          </a:solidFill>
          <a:ln w="12700">
            <a:solidFill>
              <a:srgbClr val="FBF7F0"/>
            </a:solidFill>
            <a:prstDash val="solid"/>
          </a:ln>
        </p:spPr>
      </p:sp>
      <p:sp>
        <p:nvSpPr>
          <p:cNvPr id="8" name="Shape 6"/>
          <p:cNvSpPr/>
          <p:nvPr/>
        </p:nvSpPr>
        <p:spPr>
          <a:xfrm>
            <a:off x="4480560" y="3931920"/>
            <a:ext cx="3108960" cy="1463040"/>
          </a:xfrm>
          <a:prstGeom prst="roundRect">
            <a:avLst>
              <a:gd name="adj" fmla="val 7500"/>
            </a:avLst>
          </a:prstGeom>
          <a:solidFill>
            <a:srgbClr val="FBF7F0"/>
          </a:solidFill>
          <a:ln w="12700">
            <a:solidFill>
              <a:srgbClr val="FBF7F0"/>
            </a:solidFill>
            <a:prstDash val="solid"/>
          </a:ln>
        </p:spPr>
      </p:sp>
      <p:sp>
        <p:nvSpPr>
          <p:cNvPr id="9" name="Text 7"/>
          <p:cNvSpPr txBox="1"/>
          <p:nvPr/>
        </p:nvSpPr>
        <p:spPr>
          <a:xfrm>
            <a:off x="4754880" y="3931920"/>
            <a:ext cx="2560320" cy="1463040"/>
          </a:xfrm>
          <a:prstGeom prst="rect">
            <a:avLst/>
          </a:prstGeom>
          <a:noFill/>
          <a:ln/>
        </p:spPr>
        <p:txBody>
          <a:bodyPr wrap="square" lIns="0" tIns="0" rIns="0" bIns="0" rtlCol="0" anchor="ctr"/>
          <a:lstStyle/>
          <a:p>
            <a:pPr indent="0" marL="0">
              <a:spcAft>
                <a:spcPts val="400"/>
              </a:spcAft>
              <a:buNone/>
            </a:pPr>
            <a:r>
              <a:rPr lang="en-US" sz="2200" b="1" dirty="0">
                <a:solidFill>
                  <a:srgbClr val="14213D"/>
                </a:solidFill>
                <a:latin typeface="Calibri" pitchFamily="34" charset="0"/>
                <a:ea typeface="Calibri" pitchFamily="34" charset="-122"/>
                <a:cs typeface="Calibri" pitchFamily="34" charset="-120"/>
              </a:rPr>
              <a:t>Attack</a:t>
            </a:r>
            <a:endParaRPr lang="en-US" sz="2200" dirty="0"/>
          </a:p>
          <a:p>
            <a:pPr indent="0" marL="0">
              <a:spcAft>
                <a:spcPts val="400"/>
              </a:spcAft>
              <a:buNone/>
            </a:pPr>
            <a:r>
              <a:rPr lang="en-US" sz="1500" dirty="0">
                <a:solidFill>
                  <a:srgbClr val="4A5568"/>
                </a:solidFill>
                <a:latin typeface="Calibri" pitchFamily="34" charset="0"/>
                <a:ea typeface="Calibri" pitchFamily="34" charset="-122"/>
                <a:cs typeface="Calibri" pitchFamily="34" charset="-120"/>
              </a:rPr>
              <a:t>add 5–40% fake edges</a:t>
            </a:r>
            <a:endParaRPr lang="en-US" sz="2200" dirty="0"/>
          </a:p>
        </p:txBody>
      </p:sp>
      <p:sp>
        <p:nvSpPr>
          <p:cNvPr id="10" name="Shape 8"/>
          <p:cNvSpPr/>
          <p:nvPr/>
        </p:nvSpPr>
        <p:spPr>
          <a:xfrm>
            <a:off x="7662672" y="4434840"/>
            <a:ext cx="502920" cy="457200"/>
          </a:xfrm>
          <a:prstGeom prst="rightArrow">
            <a:avLst/>
          </a:prstGeom>
          <a:solidFill>
            <a:srgbClr val="FBF7F0"/>
          </a:solidFill>
          <a:ln w="12700">
            <a:solidFill>
              <a:srgbClr val="FBF7F0"/>
            </a:solidFill>
            <a:prstDash val="solid"/>
          </a:ln>
        </p:spPr>
      </p:sp>
      <p:sp>
        <p:nvSpPr>
          <p:cNvPr id="11" name="Shape 9"/>
          <p:cNvSpPr/>
          <p:nvPr/>
        </p:nvSpPr>
        <p:spPr>
          <a:xfrm>
            <a:off x="8229600" y="3931920"/>
            <a:ext cx="3108960" cy="1463040"/>
          </a:xfrm>
          <a:prstGeom prst="roundRect">
            <a:avLst>
              <a:gd name="adj" fmla="val 7500"/>
            </a:avLst>
          </a:prstGeom>
          <a:solidFill>
            <a:srgbClr val="FBF7F0"/>
          </a:solidFill>
          <a:ln w="12700">
            <a:solidFill>
              <a:srgbClr val="FBF7F0"/>
            </a:solidFill>
            <a:prstDash val="solid"/>
          </a:ln>
        </p:spPr>
      </p:sp>
      <p:sp>
        <p:nvSpPr>
          <p:cNvPr id="12" name="Text 10"/>
          <p:cNvSpPr txBox="1"/>
          <p:nvPr/>
        </p:nvSpPr>
        <p:spPr>
          <a:xfrm>
            <a:off x="8503920" y="3931920"/>
            <a:ext cx="2560320" cy="1463040"/>
          </a:xfrm>
          <a:prstGeom prst="rect">
            <a:avLst/>
          </a:prstGeom>
          <a:noFill/>
          <a:ln/>
        </p:spPr>
        <p:txBody>
          <a:bodyPr wrap="square" lIns="0" tIns="0" rIns="0" bIns="0" rtlCol="0" anchor="ctr"/>
          <a:lstStyle/>
          <a:p>
            <a:pPr indent="0" marL="0">
              <a:spcAft>
                <a:spcPts val="400"/>
              </a:spcAft>
              <a:buNone/>
            </a:pPr>
            <a:r>
              <a:rPr lang="en-US" sz="2200" b="1" dirty="0">
                <a:solidFill>
                  <a:srgbClr val="14213D"/>
                </a:solidFill>
                <a:latin typeface="Calibri" pitchFamily="34" charset="0"/>
                <a:ea typeface="Calibri" pitchFamily="34" charset="-122"/>
                <a:cs typeface="Calibri" pitchFamily="34" charset="-120"/>
              </a:rPr>
              <a:t>Score</a:t>
            </a:r>
            <a:endParaRPr lang="en-US" sz="2200" dirty="0"/>
          </a:p>
          <a:p>
            <a:pPr indent="0" marL="0">
              <a:spcAft>
                <a:spcPts val="400"/>
              </a:spcAft>
              <a:buNone/>
            </a:pPr>
            <a:r>
              <a:rPr lang="en-US" sz="1500" dirty="0">
                <a:solidFill>
                  <a:srgbClr val="4A5568"/>
                </a:solidFill>
                <a:latin typeface="Calibri" pitchFamily="34" charset="0"/>
                <a:ea typeface="Calibri" pitchFamily="34" charset="-122"/>
                <a:cs typeface="Calibri" pitchFamily="34" charset="-120"/>
              </a:rPr>
              <a:t>posterior vs. the true labels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How I’ll check it</a:t>
            </a:r>
            <a:endParaRPr lang="en-US" sz="3600" dirty="0"/>
          </a:p>
        </p:txBody>
      </p:sp>
      <p:sp>
        <p:nvSpPr>
          <p:cNvPr id="3" name="Text 1"/>
          <p:cNvSpPr txBox="1"/>
          <p:nvPr/>
        </p:nvSpPr>
        <p:spPr>
          <a:xfrm>
            <a:off x="548640" y="1463040"/>
            <a:ext cx="6309360" cy="4206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Simulate graphs with known fake edges and check the posterior recovers them</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Fake-edge detection: combined vs. LLM-only vs. structure-only</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Calibrate the LLM: how often is a “plausible” rating a real edge?</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Reliability diagrams and calibration error, clean vs. attacked</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Posterior predictive check: label agreement along edges</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Compare MC dropout, deep ensembles and variational inference</a:t>
            </a:r>
            <a:endParaRPr lang="en-US" sz="1800" dirty="0"/>
          </a:p>
        </p:txBody>
      </p:sp>
      <p:sp>
        <p:nvSpPr>
          <p:cNvPr id="4" name="Shape 2"/>
          <p:cNvSpPr/>
          <p:nvPr/>
        </p:nvSpPr>
        <p:spPr>
          <a:xfrm>
            <a:off x="7406640" y="1463040"/>
            <a:ext cx="4233672" cy="2514600"/>
          </a:xfrm>
          <a:prstGeom prst="roundRect">
            <a:avLst>
              <a:gd name="adj" fmla="val 4364"/>
            </a:avLst>
          </a:prstGeom>
          <a:solidFill>
            <a:srgbClr val="B4540A"/>
          </a:solidFill>
          <a:ln w="12700">
            <a:solidFill>
              <a:srgbClr val="B4540A"/>
            </a:solidFill>
            <a:prstDash val="solid"/>
          </a:ln>
        </p:spPr>
      </p:sp>
      <p:sp>
        <p:nvSpPr>
          <p:cNvPr id="5" name="Text 3"/>
          <p:cNvSpPr txBox="1"/>
          <p:nvPr/>
        </p:nvSpPr>
        <p:spPr>
          <a:xfrm>
            <a:off x="7726680" y="1737360"/>
            <a:ext cx="3611880" cy="2103120"/>
          </a:xfrm>
          <a:prstGeom prst="rect">
            <a:avLst/>
          </a:prstGeom>
          <a:noFill/>
          <a:ln/>
        </p:spPr>
        <p:txBody>
          <a:bodyPr wrap="square" lIns="0" tIns="0" rIns="0" bIns="0" rtlCol="0" anchor="t"/>
          <a:lstStyle/>
          <a:p>
            <a:pPr indent="0" marL="0">
              <a:spcAft>
                <a:spcPts val="1000"/>
              </a:spcAft>
              <a:buNone/>
            </a:pPr>
            <a:r>
              <a:rPr lang="en-US" sz="1300" b="1" spc="300" kern="0" dirty="0">
                <a:solidFill>
                  <a:srgbClr val="FBF7F0"/>
                </a:solidFill>
                <a:latin typeface="Calibri" pitchFamily="34" charset="0"/>
                <a:ea typeface="Calibri" pitchFamily="34" charset="-122"/>
                <a:cs typeface="Calibri" pitchFamily="34" charset="-120"/>
              </a:rPr>
              <a:t>THE ASK</a:t>
            </a:r>
            <a:endParaRPr lang="en-US" sz="1300" dirty="0"/>
          </a:p>
          <a:p>
            <a:pPr indent="0" marL="0">
              <a:spcAft>
                <a:spcPts val="1000"/>
              </a:spcAft>
              <a:buNone/>
            </a:pPr>
            <a:r>
              <a:rPr lang="en-US" sz="2800" b="1" dirty="0">
                <a:solidFill>
                  <a:srgbClr val="FFFFFF"/>
                </a:solidFill>
                <a:latin typeface="Cambria" pitchFamily="34" charset="0"/>
                <a:ea typeface="Cambria" pitchFamily="34" charset="-122"/>
                <a:cs typeface="Cambria" pitchFamily="34" charset="-120"/>
              </a:rPr>
              <a:t>Looking for 1–2 teammates</a:t>
            </a:r>
            <a:endParaRPr lang="en-US" sz="1300" dirty="0"/>
          </a:p>
          <a:p>
            <a:pPr indent="0" marL="0">
              <a:spcAft>
                <a:spcPts val="1000"/>
              </a:spcAft>
              <a:buNone/>
            </a:pPr>
            <a:r>
              <a:rPr lang="en-US" sz="1600" dirty="0">
                <a:solidFill>
                  <a:srgbClr val="FBF7F0"/>
                </a:solidFill>
                <a:latin typeface="Calibri" pitchFamily="34" charset="0"/>
                <a:ea typeface="Calibri" pitchFamily="34" charset="-122"/>
                <a:cs typeface="Calibri" pitchFamily="34" charset="-120"/>
              </a:rPr>
              <a:t>Interested in graph learning, LLMs or Bayesian modeling? Let’s talk after class.</a:t>
            </a:r>
            <a:endParaRPr lang="en-US" sz="1300" dirty="0"/>
          </a:p>
        </p:txBody>
      </p:sp>
      <p:sp>
        <p:nvSpPr>
          <p:cNvPr id="6" name="Text 4"/>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100" dirty="0">
                <a:solidFill>
                  <a:srgbClr val="C9D2E3"/>
                </a:solidFill>
                <a:latin typeface="Calibri" pitchFamily="34" charset="0"/>
                <a:ea typeface="Calibri" pitchFamily="34" charset="-122"/>
                <a:cs typeface="Calibri" pitchFamily="34" charset="-120"/>
              </a:rPr>
              <a:t>Luis Mendez · CSE5825 Project 0</a:t>
            </a:r>
            <a:endParaRPr lang="en-US" sz="1100" dirty="0"/>
          </a:p>
        </p:txBody>
      </p:sp>
      <p:sp>
        <p:nvSpPr>
          <p:cNvPr id="7" name="Text 5"/>
          <p:cNvSpPr txBox="1"/>
          <p:nvPr/>
        </p:nvSpPr>
        <p:spPr>
          <a:xfrm>
            <a:off x="10725912" y="6355080"/>
            <a:ext cx="914400" cy="274320"/>
          </a:xfrm>
          <a:prstGeom prst="rect">
            <a:avLst/>
          </a:prstGeom>
          <a:noFill/>
          <a:ln/>
        </p:spPr>
        <p:txBody>
          <a:bodyPr wrap="square" lIns="0" tIns="0" rIns="0" bIns="0" rtlCol="0" anchor="ctr"/>
          <a:lstStyle/>
          <a:p>
            <a:pPr algn="r" indent="0" marL="0">
              <a:buNone/>
            </a:pPr>
            <a:r>
              <a:rPr lang="en-US" sz="1100" dirty="0">
                <a:solidFill>
                  <a:srgbClr val="C9D2E3"/>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edges can a GNN trust?</dc:title>
  <dc:subject>PptxGenJS Presentation</dc:subject>
  <dc:creator>Luis Mendez</dc:creator>
  <cp:lastModifiedBy>Luis Mendez</cp:lastModifiedBy>
  <cp:revision>1</cp:revision>
  <dcterms:created xsi:type="dcterms:W3CDTF">2026-10-01T11:45:40Z</dcterms:created>
  <dcterms:modified xsi:type="dcterms:W3CDTF">2026-10-01T11:45:40Z</dcterms:modified>
</cp:coreProperties>
</file>