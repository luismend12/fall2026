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I'm Luis. My project asks whether the math skill of large language models is real reasoning or memorization, and I want to answer it with a Bayesian model instead of a single accuracy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matters: LLMs now report strong results on olympiad math. But one accuracy number mixes up how capable a model is with how hard the problems were. Old contest problems are all over the internet, so a high score might just mean the model has seen them. And leaderboards almost never come with uncertainty. My goal is to separate model ability from problem difficulty, with honest uncertainty on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data is MathNet, a new MIT dataset of over 30,000 olympiad problems with official solutions, from 47 countries and 143 competitions over 40 years. Each problem has its country, competition, year, topic and language. It has no performance data, so I'll generate it: run 10 to 20 LLMs, including several sizes from the same family, on about a thousand problems with checkable final answers, five samples each. That gives a matrix of correct counts.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 is Bayesian item response theory, the same idea behind standardized tests. Each LLM has a hidden ability, each problem has a hidden difficulty, and all we observe is how many of five attempts were correct. Difficulty gets a hierarchical prior based on topic, contest level, whether there's a figure, and the year. The delta term measures an extra boost on problems from before a model's training cutoff.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hypotheses. One: math ability isn't one number. Topic-specific abilities should predict held-out problems better, and model rankings may flip between topics. Two: contamination. Problems older than a model's training cutoff should look easier to that model, especially famous contests like the IMO. Three: what's hard for humans isn't what's hard for LLMs. Human difficulty signals like contest level only partly predict LLM difficulty.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makes hypothesis two testable is that models have different training cutoffs. A problem published between two cutoffs could not have been seen by the older model, but may have been seen by the newer one. Comparing them on the same problems turns contamination into a natural experiment rather than a correlation.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trust the results, I'll first check that the model recovers known parameters on simulated data. Then I'll run posterior predictive checks, compare model variants with LOO, and compare NUTS with variational inference. I'm looking for one or two teammates interested in LLM evaluation or Bayesian modeling. Thanks!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731520" y="1188720"/>
            <a:ext cx="7315200" cy="365760"/>
          </a:xfrm>
          <a:prstGeom prst="rect">
            <a:avLst/>
          </a:prstGeom>
          <a:noFill/>
          <a:ln/>
        </p:spPr>
        <p:txBody>
          <a:bodyPr wrap="square" lIns="0" tIns="0" rIns="0" bIns="0" rtlCol="0" anchor="ctr"/>
          <a:lstStyle/>
          <a:p>
            <a:pPr indent="0" marL="0">
              <a:buNone/>
            </a:pPr>
            <a:r>
              <a:rPr lang="en-US" sz="1400" b="1" spc="400" kern="0" dirty="0">
                <a:solidFill>
                  <a:srgbClr val="F2A65A"/>
                </a:solidFill>
                <a:latin typeface="Calibri" pitchFamily="34" charset="0"/>
                <a:ea typeface="Calibri" pitchFamily="34" charset="-122"/>
                <a:cs typeface="Calibri" pitchFamily="34" charset="-120"/>
              </a:rPr>
              <a:t>CSE5825 · PROJECT 0 PITCH</a:t>
            </a:r>
            <a:endParaRPr lang="en-US" sz="1400" dirty="0"/>
          </a:p>
        </p:txBody>
      </p:sp>
      <p:sp>
        <p:nvSpPr>
          <p:cNvPr id="3" name="Text 1"/>
          <p:cNvSpPr txBox="1"/>
          <p:nvPr/>
        </p:nvSpPr>
        <p:spPr>
          <a:xfrm>
            <a:off x="731520" y="1737360"/>
            <a:ext cx="7498080" cy="2011680"/>
          </a:xfrm>
          <a:prstGeom prst="rect">
            <a:avLst/>
          </a:prstGeom>
          <a:noFill/>
          <a:ln/>
        </p:spPr>
        <p:txBody>
          <a:bodyPr wrap="square" lIns="0" tIns="0" rIns="0" bIns="0" rtlCol="0" anchor="t"/>
          <a:lstStyle/>
          <a:p>
            <a:pPr indent="0" marL="0">
              <a:buNone/>
            </a:pPr>
            <a:r>
              <a:rPr lang="en-US" sz="4800" b="1" dirty="0">
                <a:solidFill>
                  <a:srgbClr val="FFFFFF"/>
                </a:solidFill>
                <a:latin typeface="Cambria" pitchFamily="34" charset="0"/>
                <a:ea typeface="Cambria" pitchFamily="34" charset="-122"/>
                <a:cs typeface="Cambria" pitchFamily="34" charset="-120"/>
              </a:rPr>
              <a:t>Is LLM math skill real, or memorized?</a:t>
            </a:r>
            <a:endParaRPr lang="en-US" sz="4800" dirty="0"/>
          </a:p>
        </p:txBody>
      </p:sp>
      <p:sp>
        <p:nvSpPr>
          <p:cNvPr id="4" name="Text 2"/>
          <p:cNvSpPr txBox="1"/>
          <p:nvPr/>
        </p:nvSpPr>
        <p:spPr>
          <a:xfrm>
            <a:off x="731520" y="3886200"/>
            <a:ext cx="7498080" cy="822960"/>
          </a:xfrm>
          <a:prstGeom prst="rect">
            <a:avLst/>
          </a:prstGeom>
          <a:noFill/>
          <a:ln/>
        </p:spPr>
        <p:txBody>
          <a:bodyPr wrap="square" lIns="0" tIns="0" rIns="0" bIns="0" rtlCol="0" anchor="t"/>
          <a:lstStyle/>
          <a:p>
            <a:pPr indent="0" marL="0">
              <a:buNone/>
            </a:pPr>
            <a:r>
              <a:rPr lang="en-US" sz="2200" dirty="0">
                <a:solidFill>
                  <a:srgbClr val="C9D2E3"/>
                </a:solidFill>
                <a:latin typeface="Calibri" pitchFamily="34" charset="0"/>
                <a:ea typeface="Calibri" pitchFamily="34" charset="-122"/>
                <a:cs typeface="Calibri" pitchFamily="34" charset="-120"/>
              </a:rPr>
              <a:t>Bayesian item response theory on 30K olympiad problems</a:t>
            </a:r>
            <a:endParaRPr lang="en-US" sz="2200" dirty="0"/>
          </a:p>
        </p:txBody>
      </p:sp>
      <p:sp>
        <p:nvSpPr>
          <p:cNvPr id="5" name="Text 3"/>
          <p:cNvSpPr txBox="1"/>
          <p:nvPr/>
        </p:nvSpPr>
        <p:spPr>
          <a:xfrm>
            <a:off x="731520" y="5669280"/>
            <a:ext cx="5486400" cy="365760"/>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Luis Mendez</a:t>
            </a:r>
            <a:endParaRPr lang="en-US" sz="1800" dirty="0"/>
          </a:p>
        </p:txBody>
      </p:sp>
      <p:sp>
        <p:nvSpPr>
          <p:cNvPr id="6" name="Shape 4"/>
          <p:cNvSpPr/>
          <p:nvPr/>
        </p:nvSpPr>
        <p:spPr>
          <a:xfrm>
            <a:off x="8778240" y="1828800"/>
            <a:ext cx="2743200" cy="2743200"/>
          </a:xfrm>
          <a:prstGeom prst="ellipse">
            <a:avLst/>
          </a:prstGeom>
          <a:solidFill>
            <a:srgbClr val="B4540A"/>
          </a:solidFill>
          <a:ln w="12700">
            <a:solidFill>
              <a:srgbClr val="B4540A"/>
            </a:solidFill>
            <a:prstDash val="solid"/>
          </a:ln>
        </p:spPr>
      </p:sp>
      <p:pic>
        <p:nvPicPr>
          <p:cNvPr id="7" name="Image 0" descr="preencoded.png">    </p:cNvPr>
          <p:cNvPicPr>
            <a:picLocks noChangeAspect="1"/>
          </p:cNvPicPr>
          <p:nvPr/>
        </p:nvPicPr>
        <p:blipFill>
          <a:blip r:embed="rId1"/>
          <a:stretch>
            <a:fillRect/>
          </a:stretch>
        </p:blipFill>
        <p:spPr>
          <a:xfrm>
            <a:off x="9464040" y="2514600"/>
            <a:ext cx="1371600" cy="13716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ctr"/>
          <a:lstStyle/>
          <a:p>
            <a:pPr indent="0" marL="0">
              <a:buNone/>
            </a:pPr>
            <a:r>
              <a:rPr lang="en-US" sz="3600" b="1" dirty="0">
                <a:solidFill>
                  <a:srgbClr val="14213D"/>
                </a:solidFill>
                <a:latin typeface="Cambria" pitchFamily="34" charset="0"/>
                <a:ea typeface="Cambria" pitchFamily="34" charset="-122"/>
                <a:cs typeface="Cambria" pitchFamily="34" charset="-120"/>
              </a:rPr>
              <a:t>Motivation</a:t>
            </a:r>
            <a:endParaRPr lang="en-US" sz="3600" dirty="0"/>
          </a:p>
        </p:txBody>
      </p:sp>
      <p:sp>
        <p:nvSpPr>
          <p:cNvPr id="3" name="Text 1"/>
          <p:cNvSpPr txBox="1"/>
          <p:nvPr/>
        </p:nvSpPr>
        <p:spPr>
          <a:xfrm>
            <a:off x="548640" y="1463040"/>
            <a:ext cx="5029200" cy="2194560"/>
          </a:xfrm>
          <a:prstGeom prst="rect">
            <a:avLst/>
          </a:prstGeom>
          <a:noFill/>
          <a:ln/>
        </p:spPr>
        <p:txBody>
          <a:bodyPr wrap="square" lIns="0" tIns="0" rIns="0" bIns="0" rtlCol="0" anchor="t"/>
          <a:lstStyle/>
          <a:p>
            <a:pPr indent="0" marL="0">
              <a:buNone/>
            </a:pPr>
            <a:r>
              <a:rPr lang="en-US" sz="2600" i="1" dirty="0">
                <a:solidFill>
                  <a:srgbClr val="14213D"/>
                </a:solidFill>
                <a:latin typeface="Cambria" pitchFamily="34" charset="0"/>
                <a:ea typeface="Cambria" pitchFamily="34" charset="-122"/>
                <a:cs typeface="Cambria" pitchFamily="34" charset="-120"/>
              </a:rPr>
              <a:t>LLMs now score well on olympiad-level math benchmarks. Is that reasoning, or memory?</a:t>
            </a:r>
            <a:endParaRPr lang="en-US" sz="2600" dirty="0"/>
          </a:p>
        </p:txBody>
      </p:sp>
      <p:sp>
        <p:nvSpPr>
          <p:cNvPr id="4" name="Shape 2"/>
          <p:cNvSpPr/>
          <p:nvPr/>
        </p:nvSpPr>
        <p:spPr>
          <a:xfrm>
            <a:off x="548640" y="4206240"/>
            <a:ext cx="5029200" cy="1325880"/>
          </a:xfrm>
          <a:prstGeom prst="roundRect">
            <a:avLst>
              <a:gd name="adj" fmla="val 8276"/>
            </a:avLst>
          </a:prstGeom>
          <a:solidFill>
            <a:srgbClr val="F4F5F8"/>
          </a:solidFill>
          <a:ln w="12700">
            <a:solidFill>
              <a:srgbClr val="F4F5F8"/>
            </a:solidFill>
            <a:prstDash val="solid"/>
          </a:ln>
        </p:spPr>
      </p:sp>
      <p:sp>
        <p:nvSpPr>
          <p:cNvPr id="5" name="Text 3"/>
          <p:cNvSpPr txBox="1"/>
          <p:nvPr/>
        </p:nvSpPr>
        <p:spPr>
          <a:xfrm>
            <a:off x="822960" y="4389120"/>
            <a:ext cx="4480560" cy="1005840"/>
          </a:xfrm>
          <a:prstGeom prst="rect">
            <a:avLst/>
          </a:prstGeom>
          <a:noFill/>
          <a:ln/>
        </p:spPr>
        <p:txBody>
          <a:bodyPr wrap="square" lIns="0" tIns="0" rIns="0" bIns="0" rtlCol="0" anchor="t"/>
          <a:lstStyle/>
          <a:p>
            <a:pPr indent="0" marL="0">
              <a:spcAft>
                <a:spcPts val="600"/>
              </a:spcAft>
              <a:buNone/>
            </a:pPr>
            <a:r>
              <a:rPr lang="en-US" sz="1300" b="1" spc="300" kern="0" dirty="0">
                <a:solidFill>
                  <a:srgbClr val="B4540A"/>
                </a:solidFill>
                <a:latin typeface="Calibri" pitchFamily="34" charset="0"/>
                <a:ea typeface="Calibri" pitchFamily="34" charset="-122"/>
                <a:cs typeface="Calibri" pitchFamily="34" charset="-120"/>
              </a:rPr>
              <a:t>GOAL</a:t>
            </a:r>
            <a:endParaRPr lang="en-US" sz="1300" dirty="0"/>
          </a:p>
          <a:p>
            <a:pPr indent="0" marL="0">
              <a:spcAft>
                <a:spcPts val="600"/>
              </a:spcAft>
              <a:buNone/>
            </a:pPr>
            <a:r>
              <a:rPr lang="en-US" sz="1800" dirty="0">
                <a:solidFill>
                  <a:srgbClr val="14213D"/>
                </a:solidFill>
                <a:latin typeface="Calibri" pitchFamily="34" charset="0"/>
                <a:ea typeface="Calibri" pitchFamily="34" charset="-122"/>
                <a:cs typeface="Calibri" pitchFamily="34" charset="-120"/>
              </a:rPr>
              <a:t>Separate model ability from problem difficulty, with honest uncertainty.</a:t>
            </a:r>
            <a:endParaRPr lang="en-US" sz="1300" dirty="0"/>
          </a:p>
        </p:txBody>
      </p:sp>
      <p:sp>
        <p:nvSpPr>
          <p:cNvPr id="6" name="Shape 4"/>
          <p:cNvSpPr/>
          <p:nvPr/>
        </p:nvSpPr>
        <p:spPr>
          <a:xfrm>
            <a:off x="6217920" y="1463040"/>
            <a:ext cx="731520" cy="731520"/>
          </a:xfrm>
          <a:prstGeom prst="ellipse">
            <a:avLst/>
          </a:prstGeom>
          <a:solidFill>
            <a:srgbClr val="B4540A"/>
          </a:solidFill>
          <a:ln w="12700">
            <a:solidFill>
              <a:srgbClr val="B4540A"/>
            </a:solidFill>
            <a:prstDash val="solid"/>
          </a:ln>
        </p:spPr>
      </p:sp>
      <p:pic>
        <p:nvPicPr>
          <p:cNvPr id="7" name="Image 0" descr="preencoded.png">    </p:cNvPr>
          <p:cNvPicPr>
            <a:picLocks noChangeAspect="1"/>
          </p:cNvPicPr>
          <p:nvPr/>
        </p:nvPicPr>
        <p:blipFill>
          <a:blip r:embed="rId1"/>
          <a:stretch>
            <a:fillRect/>
          </a:stretch>
        </p:blipFill>
        <p:spPr>
          <a:xfrm>
            <a:off x="6400800" y="1645920"/>
            <a:ext cx="365760" cy="365760"/>
          </a:xfrm>
          <a:prstGeom prst="rect">
            <a:avLst/>
          </a:prstGeom>
        </p:spPr>
      </p:pic>
      <p:sp>
        <p:nvSpPr>
          <p:cNvPr id="8" name="Text 5"/>
          <p:cNvSpPr txBox="1"/>
          <p:nvPr/>
        </p:nvSpPr>
        <p:spPr>
          <a:xfrm>
            <a:off x="7178040" y="1417320"/>
            <a:ext cx="4480560" cy="1188720"/>
          </a:xfrm>
          <a:prstGeom prst="rect">
            <a:avLst/>
          </a:prstGeom>
          <a:noFill/>
          <a:ln/>
        </p:spPr>
        <p:txBody>
          <a:bodyPr wrap="square" lIns="0" tIns="0" rIns="0" bIns="0" rtlCol="0" anchor="t"/>
          <a:lstStyle/>
          <a:p>
            <a:pPr indent="0" marL="0">
              <a:spcAft>
                <a:spcPts val="400"/>
              </a:spcAft>
              <a:buNone/>
            </a:pPr>
            <a:r>
              <a:rPr lang="en-US" sz="1800" b="1" dirty="0">
                <a:solidFill>
                  <a:srgbClr val="14213D"/>
                </a:solidFill>
                <a:latin typeface="Calibri" pitchFamily="34" charset="0"/>
                <a:ea typeface="Calibri" pitchFamily="34" charset="-122"/>
                <a:cs typeface="Calibri" pitchFamily="34" charset="-120"/>
              </a:rPr>
              <a:t>One accuracy number hides difficulty</a:t>
            </a:r>
            <a:endParaRPr lang="en-US" sz="1800" dirty="0"/>
          </a:p>
          <a:p>
            <a:pPr indent="0" marL="0">
              <a:spcAft>
                <a:spcPts val="400"/>
              </a:spcAft>
              <a:buNone/>
            </a:pPr>
            <a:r>
              <a:rPr lang="en-US" sz="1400" dirty="0">
                <a:solidFill>
                  <a:srgbClr val="4A5568"/>
                </a:solidFill>
                <a:latin typeface="Calibri" pitchFamily="34" charset="0"/>
                <a:ea typeface="Calibri" pitchFamily="34" charset="-122"/>
                <a:cs typeface="Calibri" pitchFamily="34" charset="-120"/>
              </a:rPr>
              <a:t>The same score means different things on easy and hard problem sets.</a:t>
            </a:r>
            <a:endParaRPr lang="en-US" sz="1800" dirty="0"/>
          </a:p>
        </p:txBody>
      </p:sp>
      <p:sp>
        <p:nvSpPr>
          <p:cNvPr id="9" name="Shape 6"/>
          <p:cNvSpPr/>
          <p:nvPr/>
        </p:nvSpPr>
        <p:spPr>
          <a:xfrm>
            <a:off x="6217920" y="2926080"/>
            <a:ext cx="731520" cy="731520"/>
          </a:xfrm>
          <a:prstGeom prst="ellipse">
            <a:avLst/>
          </a:prstGeom>
          <a:solidFill>
            <a:srgbClr val="B4540A"/>
          </a:solidFill>
          <a:ln w="12700">
            <a:solidFill>
              <a:srgbClr val="B4540A"/>
            </a:solidFill>
            <a:prstDash val="solid"/>
          </a:ln>
        </p:spPr>
      </p:sp>
      <p:pic>
        <p:nvPicPr>
          <p:cNvPr id="10" name="Image 1" descr="preencoded.png">    </p:cNvPr>
          <p:cNvPicPr>
            <a:picLocks noChangeAspect="1"/>
          </p:cNvPicPr>
          <p:nvPr/>
        </p:nvPicPr>
        <p:blipFill>
          <a:blip r:embed="rId2"/>
          <a:stretch>
            <a:fillRect/>
          </a:stretch>
        </p:blipFill>
        <p:spPr>
          <a:xfrm>
            <a:off x="6400800" y="3108960"/>
            <a:ext cx="365760" cy="365760"/>
          </a:xfrm>
          <a:prstGeom prst="rect">
            <a:avLst/>
          </a:prstGeom>
        </p:spPr>
      </p:pic>
      <p:sp>
        <p:nvSpPr>
          <p:cNvPr id="11" name="Text 7"/>
          <p:cNvSpPr txBox="1"/>
          <p:nvPr/>
        </p:nvSpPr>
        <p:spPr>
          <a:xfrm>
            <a:off x="7178040" y="2880360"/>
            <a:ext cx="4480560" cy="1188720"/>
          </a:xfrm>
          <a:prstGeom prst="rect">
            <a:avLst/>
          </a:prstGeom>
          <a:noFill/>
          <a:ln/>
        </p:spPr>
        <p:txBody>
          <a:bodyPr wrap="square" lIns="0" tIns="0" rIns="0" bIns="0" rtlCol="0" anchor="t"/>
          <a:lstStyle/>
          <a:p>
            <a:pPr indent="0" marL="0">
              <a:spcAft>
                <a:spcPts val="400"/>
              </a:spcAft>
              <a:buNone/>
            </a:pPr>
            <a:r>
              <a:rPr lang="en-US" sz="1800" b="1" dirty="0">
                <a:solidFill>
                  <a:srgbClr val="14213D"/>
                </a:solidFill>
                <a:latin typeface="Calibri" pitchFamily="34" charset="0"/>
                <a:ea typeface="Calibri" pitchFamily="34" charset="-122"/>
                <a:cs typeface="Calibri" pitchFamily="34" charset="-120"/>
              </a:rPr>
              <a:t>Benchmarks leak into training data</a:t>
            </a:r>
            <a:endParaRPr lang="en-US" sz="1800" dirty="0"/>
          </a:p>
          <a:p>
            <a:pPr indent="0" marL="0">
              <a:spcAft>
                <a:spcPts val="400"/>
              </a:spcAft>
              <a:buNone/>
            </a:pPr>
            <a:r>
              <a:rPr lang="en-US" sz="1400" dirty="0">
                <a:solidFill>
                  <a:srgbClr val="4A5568"/>
                </a:solidFill>
                <a:latin typeface="Calibri" pitchFamily="34" charset="0"/>
                <a:ea typeface="Calibri" pitchFamily="34" charset="-122"/>
                <a:cs typeface="Calibri" pitchFamily="34" charset="-120"/>
              </a:rPr>
              <a:t>Old contest problems are all over the web, so models may have seen them.</a:t>
            </a:r>
            <a:endParaRPr lang="en-US" sz="1800" dirty="0"/>
          </a:p>
        </p:txBody>
      </p:sp>
      <p:sp>
        <p:nvSpPr>
          <p:cNvPr id="12" name="Shape 8"/>
          <p:cNvSpPr/>
          <p:nvPr/>
        </p:nvSpPr>
        <p:spPr>
          <a:xfrm>
            <a:off x="6217920" y="4389120"/>
            <a:ext cx="731520" cy="731520"/>
          </a:xfrm>
          <a:prstGeom prst="ellipse">
            <a:avLst/>
          </a:prstGeom>
          <a:solidFill>
            <a:srgbClr val="B4540A"/>
          </a:solidFill>
          <a:ln w="12700">
            <a:solidFill>
              <a:srgbClr val="B4540A"/>
            </a:solidFill>
            <a:prstDash val="solid"/>
          </a:ln>
        </p:spPr>
      </p:sp>
      <p:pic>
        <p:nvPicPr>
          <p:cNvPr id="13" name="Image 2" descr="preencoded.png">    </p:cNvPr>
          <p:cNvPicPr>
            <a:picLocks noChangeAspect="1"/>
          </p:cNvPicPr>
          <p:nvPr/>
        </p:nvPicPr>
        <p:blipFill>
          <a:blip r:embed="rId3"/>
          <a:stretch>
            <a:fillRect/>
          </a:stretch>
        </p:blipFill>
        <p:spPr>
          <a:xfrm>
            <a:off x="6400800" y="4572000"/>
            <a:ext cx="365760" cy="365760"/>
          </a:xfrm>
          <a:prstGeom prst="rect">
            <a:avLst/>
          </a:prstGeom>
        </p:spPr>
      </p:pic>
      <p:sp>
        <p:nvSpPr>
          <p:cNvPr id="14" name="Text 9"/>
          <p:cNvSpPr txBox="1"/>
          <p:nvPr/>
        </p:nvSpPr>
        <p:spPr>
          <a:xfrm>
            <a:off x="7178040" y="4343400"/>
            <a:ext cx="4480560" cy="1188720"/>
          </a:xfrm>
          <a:prstGeom prst="rect">
            <a:avLst/>
          </a:prstGeom>
          <a:noFill/>
          <a:ln/>
        </p:spPr>
        <p:txBody>
          <a:bodyPr wrap="square" lIns="0" tIns="0" rIns="0" bIns="0" rtlCol="0" anchor="t"/>
          <a:lstStyle/>
          <a:p>
            <a:pPr indent="0" marL="0">
              <a:spcAft>
                <a:spcPts val="400"/>
              </a:spcAft>
              <a:buNone/>
            </a:pPr>
            <a:r>
              <a:rPr lang="en-US" sz="1800" b="1" dirty="0">
                <a:solidFill>
                  <a:srgbClr val="14213D"/>
                </a:solidFill>
                <a:latin typeface="Calibri" pitchFamily="34" charset="0"/>
                <a:ea typeface="Calibri" pitchFamily="34" charset="-122"/>
                <a:cs typeface="Calibri" pitchFamily="34" charset="-120"/>
              </a:rPr>
              <a:t>Rankings come without uncertainty</a:t>
            </a:r>
            <a:endParaRPr lang="en-US" sz="1800" dirty="0"/>
          </a:p>
          <a:p>
            <a:pPr indent="0" marL="0">
              <a:spcAft>
                <a:spcPts val="400"/>
              </a:spcAft>
              <a:buNone/>
            </a:pPr>
            <a:r>
              <a:rPr lang="en-US" sz="1400" dirty="0">
                <a:solidFill>
                  <a:srgbClr val="4A5568"/>
                </a:solidFill>
                <a:latin typeface="Calibri" pitchFamily="34" charset="0"/>
                <a:ea typeface="Calibri" pitchFamily="34" charset="-122"/>
                <a:cs typeface="Calibri" pitchFamily="34" charset="-120"/>
              </a:rPr>
              <a:t>Leaderboards rarely say how sure we should be about a gap between models.</a:t>
            </a:r>
            <a:endParaRPr lang="en-US" sz="1800" dirty="0"/>
          </a:p>
        </p:txBody>
      </p:sp>
      <p:sp>
        <p:nvSpPr>
          <p:cNvPr id="15" name="Text 10"/>
          <p:cNvSpPr txBox="1"/>
          <p:nvPr/>
        </p:nvSpPr>
        <p:spPr>
          <a:xfrm>
            <a:off x="548640" y="6355080"/>
            <a:ext cx="5486400" cy="274320"/>
          </a:xfrm>
          <a:prstGeom prst="rect">
            <a:avLst/>
          </a:prstGeom>
          <a:noFill/>
          <a:ln/>
        </p:spPr>
        <p:txBody>
          <a:bodyPr wrap="square" lIns="0" tIns="0" rIns="0" bIns="0" rtlCol="0" anchor="ctr"/>
          <a:lstStyle/>
          <a:p>
            <a:pPr indent="0" marL="0">
              <a:buNone/>
            </a:pPr>
            <a:r>
              <a:rPr lang="en-US" sz="1100" dirty="0">
                <a:solidFill>
                  <a:srgbClr val="4A5568"/>
                </a:solidFill>
                <a:latin typeface="Calibri" pitchFamily="34" charset="0"/>
                <a:ea typeface="Calibri" pitchFamily="34" charset="-122"/>
                <a:cs typeface="Calibri" pitchFamily="34" charset="-120"/>
              </a:rPr>
              <a:t>Luis Mendez · CSE5825 Project 0</a:t>
            </a:r>
            <a:endParaRPr lang="en-US" sz="1100" dirty="0"/>
          </a:p>
        </p:txBody>
      </p:sp>
      <p:sp>
        <p:nvSpPr>
          <p:cNvPr id="16" name="Text 11"/>
          <p:cNvSpPr txBox="1"/>
          <p:nvPr/>
        </p:nvSpPr>
        <p:spPr>
          <a:xfrm>
            <a:off x="10725912" y="6355080"/>
            <a:ext cx="914400" cy="274320"/>
          </a:xfrm>
          <a:prstGeom prst="rect">
            <a:avLst/>
          </a:prstGeom>
          <a:noFill/>
          <a:ln/>
        </p:spPr>
        <p:txBody>
          <a:bodyPr wrap="square" lIns="0" tIns="0" rIns="0" bIns="0" rtlCol="0" anchor="ctr"/>
          <a:lstStyle/>
          <a:p>
            <a:pPr algn="r" indent="0" marL="0">
              <a:buNone/>
            </a:pPr>
            <a:r>
              <a:rPr lang="en-US" sz="1100" dirty="0">
                <a:solidFill>
                  <a:srgbClr val="4A5568"/>
                </a:solidFill>
                <a:latin typeface="Calibri" pitchFamily="34" charset="0"/>
                <a:ea typeface="Calibri" pitchFamily="34" charset="-122"/>
                <a:cs typeface="Calibri" pitchFamily="34" charset="-120"/>
              </a:rPr>
              <a:t>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ctr"/>
          <a:lstStyle/>
          <a:p>
            <a:pPr indent="0" marL="0">
              <a:buNone/>
            </a:pPr>
            <a:r>
              <a:rPr lang="en-US" sz="3600" b="1" dirty="0">
                <a:solidFill>
                  <a:srgbClr val="14213D"/>
                </a:solidFill>
                <a:latin typeface="Cambria" pitchFamily="34" charset="0"/>
                <a:ea typeface="Cambria" pitchFamily="34" charset="-122"/>
                <a:cs typeface="Cambria" pitchFamily="34" charset="-120"/>
              </a:rPr>
              <a:t>Dataset: MathNet (MIT, 2026)</a:t>
            </a:r>
            <a:endParaRPr lang="en-US" sz="3600" dirty="0"/>
          </a:p>
        </p:txBody>
      </p:sp>
      <p:sp>
        <p:nvSpPr>
          <p:cNvPr id="3" name="Text 1"/>
          <p:cNvSpPr txBox="1"/>
          <p:nvPr/>
        </p:nvSpPr>
        <p:spPr>
          <a:xfrm>
            <a:off x="548640" y="1371600"/>
            <a:ext cx="2606040" cy="914400"/>
          </a:xfrm>
          <a:prstGeom prst="rect">
            <a:avLst/>
          </a:prstGeom>
          <a:noFill/>
          <a:ln/>
        </p:spPr>
        <p:txBody>
          <a:bodyPr wrap="square" lIns="0" tIns="0" rIns="0" bIns="0" rtlCol="0" anchor="ctr"/>
          <a:lstStyle/>
          <a:p>
            <a:pPr indent="0" marL="0">
              <a:buNone/>
            </a:pPr>
            <a:r>
              <a:rPr lang="en-US" sz="5400" b="1" dirty="0">
                <a:solidFill>
                  <a:srgbClr val="B4540A"/>
                </a:solidFill>
                <a:latin typeface="Cambria" pitchFamily="34" charset="0"/>
                <a:ea typeface="Cambria" pitchFamily="34" charset="-122"/>
                <a:cs typeface="Cambria" pitchFamily="34" charset="-120"/>
              </a:rPr>
              <a:t>30K+</a:t>
            </a:r>
            <a:endParaRPr lang="en-US" sz="5400" dirty="0"/>
          </a:p>
        </p:txBody>
      </p:sp>
      <p:sp>
        <p:nvSpPr>
          <p:cNvPr id="4" name="Text 2"/>
          <p:cNvSpPr txBox="1"/>
          <p:nvPr/>
        </p:nvSpPr>
        <p:spPr>
          <a:xfrm>
            <a:off x="548640" y="2286000"/>
            <a:ext cx="2606040" cy="640080"/>
          </a:xfrm>
          <a:prstGeom prst="rect">
            <a:avLst/>
          </a:prstGeom>
          <a:noFill/>
          <a:ln/>
        </p:spPr>
        <p:txBody>
          <a:bodyPr wrap="square" lIns="0" tIns="0" rIns="0" bIns="0" rtlCol="0" anchor="t"/>
          <a:lstStyle/>
          <a:p>
            <a:pPr indent="0" marL="0">
              <a:buNone/>
            </a:pPr>
            <a:r>
              <a:rPr lang="en-US" sz="1500" dirty="0">
                <a:solidFill>
                  <a:srgbClr val="4A5568"/>
                </a:solidFill>
                <a:latin typeface="Calibri" pitchFamily="34" charset="0"/>
                <a:ea typeface="Calibri" pitchFamily="34" charset="-122"/>
                <a:cs typeface="Calibri" pitchFamily="34" charset="-120"/>
              </a:rPr>
              <a:t>olympiad problems with official solutions</a:t>
            </a:r>
            <a:endParaRPr lang="en-US" sz="1500" dirty="0"/>
          </a:p>
        </p:txBody>
      </p:sp>
      <p:sp>
        <p:nvSpPr>
          <p:cNvPr id="5" name="Text 3"/>
          <p:cNvSpPr txBox="1"/>
          <p:nvPr/>
        </p:nvSpPr>
        <p:spPr>
          <a:xfrm>
            <a:off x="3364992" y="1371600"/>
            <a:ext cx="2606040" cy="914400"/>
          </a:xfrm>
          <a:prstGeom prst="rect">
            <a:avLst/>
          </a:prstGeom>
          <a:noFill/>
          <a:ln/>
        </p:spPr>
        <p:txBody>
          <a:bodyPr wrap="square" lIns="0" tIns="0" rIns="0" bIns="0" rtlCol="0" anchor="ctr"/>
          <a:lstStyle/>
          <a:p>
            <a:pPr indent="0" marL="0">
              <a:buNone/>
            </a:pPr>
            <a:r>
              <a:rPr lang="en-US" sz="5400" b="1" dirty="0">
                <a:solidFill>
                  <a:srgbClr val="B4540A"/>
                </a:solidFill>
                <a:latin typeface="Cambria" pitchFamily="34" charset="0"/>
                <a:ea typeface="Cambria" pitchFamily="34" charset="-122"/>
                <a:cs typeface="Cambria" pitchFamily="34" charset="-120"/>
              </a:rPr>
              <a:t>47</a:t>
            </a:r>
            <a:endParaRPr lang="en-US" sz="5400" dirty="0"/>
          </a:p>
        </p:txBody>
      </p:sp>
      <p:sp>
        <p:nvSpPr>
          <p:cNvPr id="6" name="Text 4"/>
          <p:cNvSpPr txBox="1"/>
          <p:nvPr/>
        </p:nvSpPr>
        <p:spPr>
          <a:xfrm>
            <a:off x="3364992" y="2286000"/>
            <a:ext cx="2606040" cy="640080"/>
          </a:xfrm>
          <a:prstGeom prst="rect">
            <a:avLst/>
          </a:prstGeom>
          <a:noFill/>
          <a:ln/>
        </p:spPr>
        <p:txBody>
          <a:bodyPr wrap="square" lIns="0" tIns="0" rIns="0" bIns="0" rtlCol="0" anchor="t"/>
          <a:lstStyle/>
          <a:p>
            <a:pPr indent="0" marL="0">
              <a:buNone/>
            </a:pPr>
            <a:r>
              <a:rPr lang="en-US" sz="1500" dirty="0">
                <a:solidFill>
                  <a:srgbClr val="4A5568"/>
                </a:solidFill>
                <a:latin typeface="Calibri" pitchFamily="34" charset="0"/>
                <a:ea typeface="Calibri" pitchFamily="34" charset="-122"/>
                <a:cs typeface="Calibri" pitchFamily="34" charset="-120"/>
              </a:rPr>
              <a:t>countries</a:t>
            </a:r>
            <a:endParaRPr lang="en-US" sz="1500" dirty="0"/>
          </a:p>
        </p:txBody>
      </p:sp>
      <p:sp>
        <p:nvSpPr>
          <p:cNvPr id="7" name="Text 5"/>
          <p:cNvSpPr txBox="1"/>
          <p:nvPr/>
        </p:nvSpPr>
        <p:spPr>
          <a:xfrm>
            <a:off x="6181344" y="1371600"/>
            <a:ext cx="2606040" cy="914400"/>
          </a:xfrm>
          <a:prstGeom prst="rect">
            <a:avLst/>
          </a:prstGeom>
          <a:noFill/>
          <a:ln/>
        </p:spPr>
        <p:txBody>
          <a:bodyPr wrap="square" lIns="0" tIns="0" rIns="0" bIns="0" rtlCol="0" anchor="ctr"/>
          <a:lstStyle/>
          <a:p>
            <a:pPr indent="0" marL="0">
              <a:buNone/>
            </a:pPr>
            <a:r>
              <a:rPr lang="en-US" sz="5400" b="1" dirty="0">
                <a:solidFill>
                  <a:srgbClr val="B4540A"/>
                </a:solidFill>
                <a:latin typeface="Cambria" pitchFamily="34" charset="0"/>
                <a:ea typeface="Cambria" pitchFamily="34" charset="-122"/>
                <a:cs typeface="Cambria" pitchFamily="34" charset="-120"/>
              </a:rPr>
              <a:t>143</a:t>
            </a:r>
            <a:endParaRPr lang="en-US" sz="5400" dirty="0"/>
          </a:p>
        </p:txBody>
      </p:sp>
      <p:sp>
        <p:nvSpPr>
          <p:cNvPr id="8" name="Text 6"/>
          <p:cNvSpPr txBox="1"/>
          <p:nvPr/>
        </p:nvSpPr>
        <p:spPr>
          <a:xfrm>
            <a:off x="6181344" y="2286000"/>
            <a:ext cx="2606040" cy="640080"/>
          </a:xfrm>
          <a:prstGeom prst="rect">
            <a:avLst/>
          </a:prstGeom>
          <a:noFill/>
          <a:ln/>
        </p:spPr>
        <p:txBody>
          <a:bodyPr wrap="square" lIns="0" tIns="0" rIns="0" bIns="0" rtlCol="0" anchor="t"/>
          <a:lstStyle/>
          <a:p>
            <a:pPr indent="0" marL="0">
              <a:buNone/>
            </a:pPr>
            <a:r>
              <a:rPr lang="en-US" sz="1500" dirty="0">
                <a:solidFill>
                  <a:srgbClr val="4A5568"/>
                </a:solidFill>
                <a:latin typeface="Calibri" pitchFamily="34" charset="0"/>
                <a:ea typeface="Calibri" pitchFamily="34" charset="-122"/>
                <a:cs typeface="Calibri" pitchFamily="34" charset="-120"/>
              </a:rPr>
              <a:t>competitions, 1985–2025</a:t>
            </a:r>
            <a:endParaRPr lang="en-US" sz="1500" dirty="0"/>
          </a:p>
        </p:txBody>
      </p:sp>
      <p:sp>
        <p:nvSpPr>
          <p:cNvPr id="9" name="Text 7"/>
          <p:cNvSpPr txBox="1"/>
          <p:nvPr/>
        </p:nvSpPr>
        <p:spPr>
          <a:xfrm>
            <a:off x="8997696" y="1371600"/>
            <a:ext cx="2606040" cy="914400"/>
          </a:xfrm>
          <a:prstGeom prst="rect">
            <a:avLst/>
          </a:prstGeom>
          <a:noFill/>
          <a:ln/>
        </p:spPr>
        <p:txBody>
          <a:bodyPr wrap="square" lIns="0" tIns="0" rIns="0" bIns="0" rtlCol="0" anchor="ctr"/>
          <a:lstStyle/>
          <a:p>
            <a:pPr indent="0" marL="0">
              <a:buNone/>
            </a:pPr>
            <a:r>
              <a:rPr lang="en-US" sz="5400" b="1" dirty="0">
                <a:solidFill>
                  <a:srgbClr val="B4540A"/>
                </a:solidFill>
                <a:latin typeface="Cambria" pitchFamily="34" charset="0"/>
                <a:ea typeface="Cambria" pitchFamily="34" charset="-122"/>
                <a:cs typeface="Cambria" pitchFamily="34" charset="-120"/>
              </a:rPr>
              <a:t>17</a:t>
            </a:r>
            <a:endParaRPr lang="en-US" sz="5400" dirty="0"/>
          </a:p>
        </p:txBody>
      </p:sp>
      <p:sp>
        <p:nvSpPr>
          <p:cNvPr id="10" name="Text 8"/>
          <p:cNvSpPr txBox="1"/>
          <p:nvPr/>
        </p:nvSpPr>
        <p:spPr>
          <a:xfrm>
            <a:off x="8997696" y="2286000"/>
            <a:ext cx="2606040" cy="640080"/>
          </a:xfrm>
          <a:prstGeom prst="rect">
            <a:avLst/>
          </a:prstGeom>
          <a:noFill/>
          <a:ln/>
        </p:spPr>
        <p:txBody>
          <a:bodyPr wrap="square" lIns="0" tIns="0" rIns="0" bIns="0" rtlCol="0" anchor="t"/>
          <a:lstStyle/>
          <a:p>
            <a:pPr indent="0" marL="0">
              <a:buNone/>
            </a:pPr>
            <a:r>
              <a:rPr lang="en-US" sz="1500" dirty="0">
                <a:solidFill>
                  <a:srgbClr val="4A5568"/>
                </a:solidFill>
                <a:latin typeface="Calibri" pitchFamily="34" charset="0"/>
                <a:ea typeface="Calibri" pitchFamily="34" charset="-122"/>
                <a:cs typeface="Calibri" pitchFamily="34" charset="-120"/>
              </a:rPr>
              <a:t>languages</a:t>
            </a:r>
            <a:endParaRPr lang="en-US" sz="1500" dirty="0"/>
          </a:p>
        </p:txBody>
      </p:sp>
      <p:sp>
        <p:nvSpPr>
          <p:cNvPr id="11" name="Shape 9"/>
          <p:cNvSpPr/>
          <p:nvPr/>
        </p:nvSpPr>
        <p:spPr>
          <a:xfrm>
            <a:off x="548640" y="3246120"/>
            <a:ext cx="5440680" cy="2743200"/>
          </a:xfrm>
          <a:prstGeom prst="roundRect">
            <a:avLst>
              <a:gd name="adj" fmla="val 4000"/>
            </a:avLst>
          </a:prstGeom>
          <a:solidFill>
            <a:srgbClr val="F4F5F8"/>
          </a:solidFill>
          <a:ln w="12700">
            <a:solidFill>
              <a:srgbClr val="F4F5F8"/>
            </a:solidFill>
            <a:prstDash val="solid"/>
          </a:ln>
        </p:spPr>
      </p:sp>
      <p:sp>
        <p:nvSpPr>
          <p:cNvPr id="12" name="Text 10"/>
          <p:cNvSpPr txBox="1"/>
          <p:nvPr/>
        </p:nvSpPr>
        <p:spPr>
          <a:xfrm>
            <a:off x="822960" y="3429000"/>
            <a:ext cx="4937760" cy="411480"/>
          </a:xfrm>
          <a:prstGeom prst="rect">
            <a:avLst/>
          </a:prstGeom>
          <a:noFill/>
          <a:ln/>
        </p:spPr>
        <p:txBody>
          <a:bodyPr wrap="square" lIns="0" tIns="0" rIns="0" bIns="0" rtlCol="0" anchor="ctr"/>
          <a:lstStyle/>
          <a:p>
            <a:pPr indent="0" marL="0">
              <a:buNone/>
            </a:pPr>
            <a:r>
              <a:rPr lang="en-US" sz="1800" b="1" dirty="0">
                <a:solidFill>
                  <a:srgbClr val="14213D"/>
                </a:solidFill>
                <a:latin typeface="Calibri" pitchFamily="34" charset="0"/>
                <a:ea typeface="Calibri" pitchFamily="34" charset="-122"/>
                <a:cs typeface="Calibri" pitchFamily="34" charset="-120"/>
              </a:rPr>
              <a:t>Each problem comes with</a:t>
            </a:r>
            <a:endParaRPr lang="en-US" sz="1800" dirty="0"/>
          </a:p>
        </p:txBody>
      </p:sp>
      <p:sp>
        <p:nvSpPr>
          <p:cNvPr id="13" name="Text 11"/>
          <p:cNvSpPr txBox="1"/>
          <p:nvPr/>
        </p:nvSpPr>
        <p:spPr>
          <a:xfrm>
            <a:off x="822960" y="3886200"/>
            <a:ext cx="4937760" cy="192024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4A5568"/>
                </a:solidFill>
                <a:latin typeface="Calibri" pitchFamily="34" charset="0"/>
                <a:ea typeface="Calibri" pitchFamily="34" charset="-122"/>
                <a:cs typeface="Calibri" pitchFamily="34" charset="-120"/>
              </a:rPr>
              <a:t>An expert-written official solution</a:t>
            </a:r>
            <a:endParaRPr lang="en-US" sz="1500" dirty="0"/>
          </a:p>
          <a:p>
            <a:pPr marL="342900" indent="-342900">
              <a:spcAft>
                <a:spcPts val="600"/>
              </a:spcAft>
              <a:buSzPct val="100000"/>
              <a:buChar char="•"/>
            </a:pPr>
            <a:r>
              <a:rPr lang="en-US" sz="1500" dirty="0">
                <a:solidFill>
                  <a:srgbClr val="4A5568"/>
                </a:solidFill>
                <a:latin typeface="Calibri" pitchFamily="34" charset="0"/>
                <a:ea typeface="Calibri" pitchFamily="34" charset="-122"/>
                <a:cs typeface="Calibri" pitchFamily="34" charset="-120"/>
              </a:rPr>
              <a:t>Country, competition and year</a:t>
            </a:r>
            <a:endParaRPr lang="en-US" sz="1500" dirty="0"/>
          </a:p>
          <a:p>
            <a:pPr marL="342900" indent="-342900">
              <a:spcAft>
                <a:spcPts val="600"/>
              </a:spcAft>
              <a:buSzPct val="100000"/>
              <a:buChar char="•"/>
            </a:pPr>
            <a:r>
              <a:rPr lang="en-US" sz="1500" dirty="0">
                <a:solidFill>
                  <a:srgbClr val="4A5568"/>
                </a:solidFill>
                <a:latin typeface="Calibri" pitchFamily="34" charset="0"/>
                <a:ea typeface="Calibri" pitchFamily="34" charset="-122"/>
                <a:cs typeface="Calibri" pitchFamily="34" charset="-120"/>
              </a:rPr>
              <a:t>Topic: algebra, geometry, number theory, combinatorics…</a:t>
            </a:r>
            <a:endParaRPr lang="en-US" sz="1500" dirty="0"/>
          </a:p>
          <a:p>
            <a:pPr marL="342900" indent="-342900">
              <a:spcAft>
                <a:spcPts val="600"/>
              </a:spcAft>
              <a:buSzPct val="100000"/>
              <a:buChar char="•"/>
            </a:pPr>
            <a:r>
              <a:rPr lang="en-US" sz="1500" dirty="0">
                <a:solidFill>
                  <a:srgbClr val="4A5568"/>
                </a:solidFill>
                <a:latin typeface="Calibri" pitchFamily="34" charset="0"/>
                <a:ea typeface="Calibri" pitchFamily="34" charset="-122"/>
                <a:cs typeface="Calibri" pitchFamily="34" charset="-120"/>
              </a:rPr>
              <a:t>Language, plus figures for 5K+ problems</a:t>
            </a:r>
            <a:endParaRPr lang="en-US" sz="1500" dirty="0"/>
          </a:p>
        </p:txBody>
      </p:sp>
      <p:sp>
        <p:nvSpPr>
          <p:cNvPr id="14" name="Shape 12"/>
          <p:cNvSpPr/>
          <p:nvPr/>
        </p:nvSpPr>
        <p:spPr>
          <a:xfrm>
            <a:off x="6199632" y="3246120"/>
            <a:ext cx="5440680" cy="2743200"/>
          </a:xfrm>
          <a:prstGeom prst="roundRect">
            <a:avLst>
              <a:gd name="adj" fmla="val 4000"/>
            </a:avLst>
          </a:prstGeom>
          <a:solidFill>
            <a:srgbClr val="14213D"/>
          </a:solidFill>
          <a:ln w="12700">
            <a:solidFill>
              <a:srgbClr val="14213D"/>
            </a:solidFill>
            <a:prstDash val="solid"/>
          </a:ln>
        </p:spPr>
      </p:sp>
      <p:sp>
        <p:nvSpPr>
          <p:cNvPr id="15" name="Text 13"/>
          <p:cNvSpPr txBox="1"/>
          <p:nvPr/>
        </p:nvSpPr>
        <p:spPr>
          <a:xfrm>
            <a:off x="6473952" y="3429000"/>
            <a:ext cx="4937760" cy="411480"/>
          </a:xfrm>
          <a:prstGeom prst="rect">
            <a:avLst/>
          </a:prstGeom>
          <a:noFill/>
          <a:ln/>
        </p:spPr>
        <p:txBody>
          <a:bodyPr wrap="square" lIns="0" tIns="0" rIns="0" bIns="0" rtlCol="0" anchor="ctr"/>
          <a:lstStyle/>
          <a:p>
            <a:pPr indent="0" marL="0">
              <a:buNone/>
            </a:pPr>
            <a:r>
              <a:rPr lang="en-US" sz="1800" b="1" dirty="0">
                <a:solidFill>
                  <a:srgbClr val="F2A65A"/>
                </a:solidFill>
                <a:latin typeface="Calibri" pitchFamily="34" charset="0"/>
                <a:ea typeface="Calibri" pitchFamily="34" charset="-122"/>
                <a:cs typeface="Calibri" pitchFamily="34" charset="-120"/>
              </a:rPr>
              <a:t>What I generate</a:t>
            </a:r>
            <a:endParaRPr lang="en-US" sz="1800" dirty="0"/>
          </a:p>
        </p:txBody>
      </p:sp>
      <p:sp>
        <p:nvSpPr>
          <p:cNvPr id="16" name="Text 14"/>
          <p:cNvSpPr txBox="1"/>
          <p:nvPr/>
        </p:nvSpPr>
        <p:spPr>
          <a:xfrm>
            <a:off x="6473952" y="3886200"/>
            <a:ext cx="4937760" cy="1920240"/>
          </a:xfrm>
          <a:prstGeom prst="rect">
            <a:avLst/>
          </a:prstGeom>
          <a:noFill/>
          <a:ln/>
        </p:spPr>
        <p:txBody>
          <a:bodyPr wrap="square" lIns="0" tIns="0" rIns="0" bIns="0" rtlCol="0" anchor="t"/>
          <a:lstStyle/>
          <a:p>
            <a:pPr indent="0" marL="0">
              <a:spcAft>
                <a:spcPts val="800"/>
              </a:spcAft>
              <a:buNone/>
            </a:pPr>
            <a:r>
              <a:rPr lang="en-US" sz="1600" dirty="0">
                <a:solidFill>
                  <a:srgbClr val="FFFFFF"/>
                </a:solidFill>
                <a:latin typeface="Calibri" pitchFamily="34" charset="0"/>
                <a:ea typeface="Calibri" pitchFamily="34" charset="-122"/>
                <a:cs typeface="Calibri" pitchFamily="34" charset="-120"/>
              </a:rPr>
              <a:t>~1,000 problems with checkable final answers</a:t>
            </a:r>
            <a:endParaRPr lang="en-US" sz="1600" dirty="0"/>
          </a:p>
          <a:p>
            <a:pPr indent="0" marL="0">
              <a:spcAft>
                <a:spcPts val="800"/>
              </a:spcAft>
              <a:buNone/>
            </a:pPr>
            <a:r>
              <a:rPr lang="en-US" sz="1600" dirty="0">
                <a:solidFill>
                  <a:srgbClr val="FFFFFF"/>
                </a:solidFill>
                <a:latin typeface="Calibri" pitchFamily="34" charset="0"/>
                <a:ea typeface="Calibri" pitchFamily="34" charset="-122"/>
                <a:cs typeface="Calibri" pitchFamily="34" charset="-120"/>
              </a:rPr>
              <a:t>× 10–20 LLMs (several sizes per family)</a:t>
            </a:r>
            <a:endParaRPr lang="en-US" sz="1600" dirty="0"/>
          </a:p>
          <a:p>
            <a:pPr indent="0" marL="0">
              <a:spcAft>
                <a:spcPts val="800"/>
              </a:spcAft>
              <a:buNone/>
            </a:pPr>
            <a:r>
              <a:rPr lang="en-US" sz="1600" dirty="0">
                <a:solidFill>
                  <a:srgbClr val="FFFFFF"/>
                </a:solidFill>
                <a:latin typeface="Calibri" pitchFamily="34" charset="0"/>
                <a:ea typeface="Calibri" pitchFamily="34" charset="-122"/>
                <a:cs typeface="Calibri" pitchFamily="34" charset="-120"/>
              </a:rPr>
              <a:t>× 5 samples each</a:t>
            </a:r>
            <a:endParaRPr lang="en-US" sz="1600" dirty="0"/>
          </a:p>
          <a:p>
            <a:pPr indent="0" marL="0">
              <a:spcAft>
                <a:spcPts val="800"/>
              </a:spcAft>
              <a:buNone/>
            </a:pPr>
            <a:r>
              <a:rPr lang="en-US" sz="1600" b="1" dirty="0">
                <a:solidFill>
                  <a:srgbClr val="FFFFFF"/>
                </a:solidFill>
                <a:latin typeface="Calibri" pitchFamily="34" charset="0"/>
                <a:ea typeface="Calibri" pitchFamily="34" charset="-122"/>
                <a:cs typeface="Calibri" pitchFamily="34" charset="-120"/>
              </a:rPr>
              <a:t>→ a models × problems matrix of correct counts</a:t>
            </a:r>
            <a:endParaRPr lang="en-US" sz="1600" dirty="0"/>
          </a:p>
        </p:txBody>
      </p:sp>
      <p:sp>
        <p:nvSpPr>
          <p:cNvPr id="17" name="Text 15"/>
          <p:cNvSpPr txBox="1"/>
          <p:nvPr/>
        </p:nvSpPr>
        <p:spPr>
          <a:xfrm>
            <a:off x="548640" y="6080760"/>
            <a:ext cx="7315200" cy="228600"/>
          </a:xfrm>
          <a:prstGeom prst="rect">
            <a:avLst/>
          </a:prstGeom>
          <a:noFill/>
          <a:ln/>
        </p:spPr>
        <p:txBody>
          <a:bodyPr wrap="square" lIns="0" tIns="0" rIns="0" bIns="0" rtlCol="0" anchor="ctr"/>
          <a:lstStyle/>
          <a:p>
            <a:pPr indent="0" marL="0">
              <a:buNone/>
            </a:pPr>
            <a:r>
              <a:rPr lang="en-US" sz="1000" dirty="0">
                <a:solidFill>
                  <a:srgbClr val="4A5568"/>
                </a:solidFill>
                <a:latin typeface="Calibri" pitchFamily="34" charset="0"/>
                <a:ea typeface="Calibri" pitchFamily="34" charset="-122"/>
                <a:cs typeface="Calibri" pitchFamily="34" charset="-120"/>
              </a:rPr>
              <a:t>Source: MathNet, arXiv 2604.18584 · mathnet.mit.edu</a:t>
            </a:r>
            <a:endParaRPr lang="en-US" sz="1000" dirty="0"/>
          </a:p>
        </p:txBody>
      </p:sp>
      <p:sp>
        <p:nvSpPr>
          <p:cNvPr id="18" name="Text 16"/>
          <p:cNvSpPr txBox="1"/>
          <p:nvPr/>
        </p:nvSpPr>
        <p:spPr>
          <a:xfrm>
            <a:off x="548640" y="6355080"/>
            <a:ext cx="5486400" cy="274320"/>
          </a:xfrm>
          <a:prstGeom prst="rect">
            <a:avLst/>
          </a:prstGeom>
          <a:noFill/>
          <a:ln/>
        </p:spPr>
        <p:txBody>
          <a:bodyPr wrap="square" lIns="0" tIns="0" rIns="0" bIns="0" rtlCol="0" anchor="ctr"/>
          <a:lstStyle/>
          <a:p>
            <a:pPr indent="0" marL="0">
              <a:buNone/>
            </a:pPr>
            <a:r>
              <a:rPr lang="en-US" sz="1100" dirty="0">
                <a:solidFill>
                  <a:srgbClr val="4A5568"/>
                </a:solidFill>
                <a:latin typeface="Calibri" pitchFamily="34" charset="0"/>
                <a:ea typeface="Calibri" pitchFamily="34" charset="-122"/>
                <a:cs typeface="Calibri" pitchFamily="34" charset="-120"/>
              </a:rPr>
              <a:t>Luis Mendez · CSE5825 Project 0</a:t>
            </a:r>
            <a:endParaRPr lang="en-US" sz="1100" dirty="0"/>
          </a:p>
        </p:txBody>
      </p:sp>
      <p:sp>
        <p:nvSpPr>
          <p:cNvPr id="19" name="Text 17"/>
          <p:cNvSpPr txBox="1"/>
          <p:nvPr/>
        </p:nvSpPr>
        <p:spPr>
          <a:xfrm>
            <a:off x="10725912" y="6355080"/>
            <a:ext cx="914400" cy="274320"/>
          </a:xfrm>
          <a:prstGeom prst="rect">
            <a:avLst/>
          </a:prstGeom>
          <a:noFill/>
          <a:ln/>
        </p:spPr>
        <p:txBody>
          <a:bodyPr wrap="square" lIns="0" tIns="0" rIns="0" bIns="0" rtlCol="0" anchor="ctr"/>
          <a:lstStyle/>
          <a:p>
            <a:pPr algn="r" indent="0" marL="0">
              <a:buNone/>
            </a:pPr>
            <a:r>
              <a:rPr lang="en-US" sz="1100" dirty="0">
                <a:solidFill>
                  <a:srgbClr val="4A5568"/>
                </a:solidFill>
                <a:latin typeface="Calibri" pitchFamily="34" charset="0"/>
                <a:ea typeface="Calibri" pitchFamily="34" charset="-122"/>
                <a:cs typeface="Calibri" pitchFamily="34" charset="-120"/>
              </a:rPr>
              <a:t>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5F8"/>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ctr"/>
          <a:lstStyle/>
          <a:p>
            <a:pPr indent="0" marL="0">
              <a:buNone/>
            </a:pPr>
            <a:r>
              <a:rPr lang="en-US" sz="3600" b="1" dirty="0">
                <a:solidFill>
                  <a:srgbClr val="14213D"/>
                </a:solidFill>
                <a:latin typeface="Cambria" pitchFamily="34" charset="0"/>
                <a:ea typeface="Cambria" pitchFamily="34" charset="-122"/>
                <a:cs typeface="Cambria" pitchFamily="34" charset="-120"/>
              </a:rPr>
              <a:t>Approach: Bayesian item response theory</a:t>
            </a:r>
            <a:endParaRPr lang="en-US" sz="3600" dirty="0"/>
          </a:p>
        </p:txBody>
      </p:sp>
      <p:sp>
        <p:nvSpPr>
          <p:cNvPr id="3" name="Shape 1"/>
          <p:cNvSpPr/>
          <p:nvPr/>
        </p:nvSpPr>
        <p:spPr>
          <a:xfrm>
            <a:off x="548640" y="1417320"/>
            <a:ext cx="4846320" cy="1371600"/>
          </a:xfrm>
          <a:prstGeom prst="roundRect">
            <a:avLst>
              <a:gd name="adj" fmla="val 6667"/>
            </a:avLst>
          </a:prstGeom>
          <a:solidFill>
            <a:srgbClr val="FFFFFF"/>
          </a:solidFill>
          <a:ln w="19050">
            <a:solidFill>
              <a:srgbClr val="4A5568"/>
            </a:solidFill>
            <a:prstDash val="dash"/>
          </a:ln>
        </p:spPr>
      </p:sp>
      <p:sp>
        <p:nvSpPr>
          <p:cNvPr id="4" name="Text 2"/>
          <p:cNvSpPr txBox="1"/>
          <p:nvPr/>
        </p:nvSpPr>
        <p:spPr>
          <a:xfrm>
            <a:off x="822960" y="1554480"/>
            <a:ext cx="4389120" cy="1097280"/>
          </a:xfrm>
          <a:prstGeom prst="rect">
            <a:avLst/>
          </a:prstGeom>
          <a:noFill/>
          <a:ln/>
        </p:spPr>
        <p:txBody>
          <a:bodyPr wrap="square" lIns="0" tIns="0" rIns="0" bIns="0" rtlCol="0" anchor="t"/>
          <a:lstStyle/>
          <a:p>
            <a:pPr indent="0" marL="0">
              <a:spcAft>
                <a:spcPts val="300"/>
              </a:spcAft>
              <a:buNone/>
            </a:pPr>
            <a:r>
              <a:rPr lang="en-US" sz="1200" b="1" spc="300" kern="0" dirty="0">
                <a:solidFill>
                  <a:srgbClr val="B4540A"/>
                </a:solidFill>
                <a:latin typeface="Calibri" pitchFamily="34" charset="0"/>
                <a:ea typeface="Calibri" pitchFamily="34" charset="-122"/>
                <a:cs typeface="Calibri" pitchFamily="34" charset="-120"/>
              </a:rPr>
              <a:t>HIDDEN</a:t>
            </a:r>
            <a:endParaRPr lang="en-US" sz="1200" dirty="0"/>
          </a:p>
          <a:p>
            <a:pPr indent="0" marL="0">
              <a:spcAft>
                <a:spcPts val="300"/>
              </a:spcAft>
              <a:buNone/>
            </a:pPr>
            <a:r>
              <a:rPr lang="en-US" sz="2000" b="1" dirty="0">
                <a:solidFill>
                  <a:srgbClr val="14213D"/>
                </a:solidFill>
                <a:latin typeface="Calibri" pitchFamily="34" charset="0"/>
                <a:ea typeface="Calibri" pitchFamily="34" charset="-122"/>
                <a:cs typeface="Calibri" pitchFamily="34" charset="-120"/>
              </a:rPr>
              <a:t>Model ability θ_m</a:t>
            </a:r>
            <a:endParaRPr lang="en-US" sz="1200" dirty="0"/>
          </a:p>
          <a:p>
            <a:pPr indent="0" marL="0">
              <a:spcAft>
                <a:spcPts val="300"/>
              </a:spcAft>
              <a:buNone/>
            </a:pPr>
            <a:r>
              <a:rPr lang="en-US" sz="1400" dirty="0">
                <a:solidFill>
                  <a:srgbClr val="4A5568"/>
                </a:solidFill>
                <a:latin typeface="Calibri" pitchFamily="34" charset="0"/>
                <a:ea typeface="Calibri" pitchFamily="34" charset="-122"/>
                <a:cs typeface="Calibri" pitchFamily="34" charset="-120"/>
              </a:rPr>
              <a:t>One per LLM, linked to model size</a:t>
            </a:r>
            <a:endParaRPr lang="en-US" sz="1200" dirty="0"/>
          </a:p>
        </p:txBody>
      </p:sp>
      <p:sp>
        <p:nvSpPr>
          <p:cNvPr id="5" name="Shape 3"/>
          <p:cNvSpPr/>
          <p:nvPr/>
        </p:nvSpPr>
        <p:spPr>
          <a:xfrm>
            <a:off x="548640" y="3017520"/>
            <a:ext cx="4846320" cy="1371600"/>
          </a:xfrm>
          <a:prstGeom prst="roundRect">
            <a:avLst>
              <a:gd name="adj" fmla="val 6667"/>
            </a:avLst>
          </a:prstGeom>
          <a:solidFill>
            <a:srgbClr val="FFFFFF"/>
          </a:solidFill>
          <a:ln w="19050">
            <a:solidFill>
              <a:srgbClr val="4A5568"/>
            </a:solidFill>
            <a:prstDash val="dash"/>
          </a:ln>
        </p:spPr>
      </p:sp>
      <p:sp>
        <p:nvSpPr>
          <p:cNvPr id="6" name="Text 4"/>
          <p:cNvSpPr txBox="1"/>
          <p:nvPr/>
        </p:nvSpPr>
        <p:spPr>
          <a:xfrm>
            <a:off x="822960" y="3154680"/>
            <a:ext cx="4389120" cy="1097280"/>
          </a:xfrm>
          <a:prstGeom prst="rect">
            <a:avLst/>
          </a:prstGeom>
          <a:noFill/>
          <a:ln/>
        </p:spPr>
        <p:txBody>
          <a:bodyPr wrap="square" lIns="0" tIns="0" rIns="0" bIns="0" rtlCol="0" anchor="t"/>
          <a:lstStyle/>
          <a:p>
            <a:pPr indent="0" marL="0">
              <a:spcAft>
                <a:spcPts val="300"/>
              </a:spcAft>
              <a:buNone/>
            </a:pPr>
            <a:r>
              <a:rPr lang="en-US" sz="1200" b="1" spc="300" kern="0" dirty="0">
                <a:solidFill>
                  <a:srgbClr val="B4540A"/>
                </a:solidFill>
                <a:latin typeface="Calibri" pitchFamily="34" charset="0"/>
                <a:ea typeface="Calibri" pitchFamily="34" charset="-122"/>
                <a:cs typeface="Calibri" pitchFamily="34" charset="-120"/>
              </a:rPr>
              <a:t>HIDDEN</a:t>
            </a:r>
            <a:endParaRPr lang="en-US" sz="1200" dirty="0"/>
          </a:p>
          <a:p>
            <a:pPr indent="0" marL="0">
              <a:spcAft>
                <a:spcPts val="300"/>
              </a:spcAft>
              <a:buNone/>
            </a:pPr>
            <a:r>
              <a:rPr lang="en-US" sz="2000" b="1" dirty="0">
                <a:solidFill>
                  <a:srgbClr val="14213D"/>
                </a:solidFill>
                <a:latin typeface="Calibri" pitchFamily="34" charset="0"/>
                <a:ea typeface="Calibri" pitchFamily="34" charset="-122"/>
                <a:cs typeface="Calibri" pitchFamily="34" charset="-120"/>
              </a:rPr>
              <a:t>Problem difficulty b_i</a:t>
            </a:r>
            <a:endParaRPr lang="en-US" sz="1200" dirty="0"/>
          </a:p>
          <a:p>
            <a:pPr indent="0" marL="0">
              <a:spcAft>
                <a:spcPts val="300"/>
              </a:spcAft>
              <a:buNone/>
            </a:pPr>
            <a:r>
              <a:rPr lang="en-US" sz="1400" dirty="0">
                <a:solidFill>
                  <a:srgbClr val="4A5568"/>
                </a:solidFill>
                <a:latin typeface="Calibri" pitchFamily="34" charset="0"/>
                <a:ea typeface="Calibri" pitchFamily="34" charset="-122"/>
                <a:cs typeface="Calibri" pitchFamily="34" charset="-120"/>
              </a:rPr>
              <a:t>Prior from topic, contest level, figure, year</a:t>
            </a:r>
            <a:endParaRPr lang="en-US" sz="1200" dirty="0"/>
          </a:p>
        </p:txBody>
      </p:sp>
      <p:sp>
        <p:nvSpPr>
          <p:cNvPr id="7" name="Shape 5"/>
          <p:cNvSpPr/>
          <p:nvPr/>
        </p:nvSpPr>
        <p:spPr>
          <a:xfrm>
            <a:off x="5623560" y="2514600"/>
            <a:ext cx="914400" cy="548640"/>
          </a:xfrm>
          <a:prstGeom prst="rightArrow">
            <a:avLst/>
          </a:prstGeom>
          <a:solidFill>
            <a:srgbClr val="B4540A"/>
          </a:solidFill>
          <a:ln w="12700">
            <a:solidFill>
              <a:srgbClr val="B4540A"/>
            </a:solidFill>
            <a:prstDash val="solid"/>
          </a:ln>
        </p:spPr>
      </p:sp>
      <p:sp>
        <p:nvSpPr>
          <p:cNvPr id="8" name="Shape 6"/>
          <p:cNvSpPr/>
          <p:nvPr/>
        </p:nvSpPr>
        <p:spPr>
          <a:xfrm>
            <a:off x="6766560" y="2011680"/>
            <a:ext cx="4873752" cy="1554480"/>
          </a:xfrm>
          <a:prstGeom prst="roundRect">
            <a:avLst>
              <a:gd name="adj" fmla="val 5882"/>
            </a:avLst>
          </a:prstGeom>
          <a:solidFill>
            <a:srgbClr val="14213D"/>
          </a:solidFill>
          <a:ln w="12700">
            <a:solidFill>
              <a:srgbClr val="14213D"/>
            </a:solidFill>
            <a:prstDash val="solid"/>
          </a:ln>
        </p:spPr>
      </p:sp>
      <p:sp>
        <p:nvSpPr>
          <p:cNvPr id="9" name="Text 7"/>
          <p:cNvSpPr txBox="1"/>
          <p:nvPr/>
        </p:nvSpPr>
        <p:spPr>
          <a:xfrm>
            <a:off x="7040880" y="2194560"/>
            <a:ext cx="4389120" cy="1234440"/>
          </a:xfrm>
          <a:prstGeom prst="rect">
            <a:avLst/>
          </a:prstGeom>
          <a:noFill/>
          <a:ln/>
        </p:spPr>
        <p:txBody>
          <a:bodyPr wrap="square" lIns="0" tIns="0" rIns="0" bIns="0" rtlCol="0" anchor="t"/>
          <a:lstStyle/>
          <a:p>
            <a:pPr indent="0" marL="0">
              <a:spcAft>
                <a:spcPts val="300"/>
              </a:spcAft>
              <a:buNone/>
            </a:pPr>
            <a:r>
              <a:rPr lang="en-US" sz="1200" b="1" spc="300" kern="0" dirty="0">
                <a:solidFill>
                  <a:srgbClr val="F2A65A"/>
                </a:solidFill>
                <a:latin typeface="Calibri" pitchFamily="34" charset="0"/>
                <a:ea typeface="Calibri" pitchFamily="34" charset="-122"/>
                <a:cs typeface="Calibri" pitchFamily="34" charset="-120"/>
              </a:rPr>
              <a:t>OBSERVED</a:t>
            </a:r>
            <a:endParaRPr lang="en-US" sz="1200" dirty="0"/>
          </a:p>
          <a:p>
            <a:pPr indent="0" marL="0">
              <a:spcAft>
                <a:spcPts val="300"/>
              </a:spcAft>
              <a:buNone/>
            </a:pPr>
            <a:r>
              <a:rPr lang="en-US" sz="2000" b="1" dirty="0">
                <a:solidFill>
                  <a:srgbClr val="FFFFFF"/>
                </a:solidFill>
                <a:latin typeface="Calibri" pitchFamily="34" charset="0"/>
                <a:ea typeface="Calibri" pitchFamily="34" charset="-122"/>
                <a:cs typeface="Calibri" pitchFamily="34" charset="-120"/>
              </a:rPr>
              <a:t>Correct answers y_mi</a:t>
            </a:r>
            <a:endParaRPr lang="en-US" sz="1200" dirty="0"/>
          </a:p>
          <a:p>
            <a:pPr indent="0" marL="0">
              <a:spcAft>
                <a:spcPts val="300"/>
              </a:spcAft>
              <a:buNone/>
            </a:pPr>
            <a:r>
              <a:rPr lang="en-US" sz="1400" dirty="0">
                <a:solidFill>
                  <a:srgbClr val="C9D2E3"/>
                </a:solidFill>
                <a:latin typeface="Calibri" pitchFamily="34" charset="0"/>
                <a:ea typeface="Calibri" pitchFamily="34" charset="-122"/>
                <a:cs typeface="Calibri" pitchFamily="34" charset="-120"/>
              </a:rPr>
              <a:t>Out of 5 samples, for every model × problem pair</a:t>
            </a:r>
            <a:endParaRPr lang="en-US" sz="1200" dirty="0"/>
          </a:p>
        </p:txBody>
      </p:sp>
      <p:sp>
        <p:nvSpPr>
          <p:cNvPr id="10" name="Shape 8"/>
          <p:cNvSpPr/>
          <p:nvPr/>
        </p:nvSpPr>
        <p:spPr>
          <a:xfrm>
            <a:off x="548640" y="4572000"/>
            <a:ext cx="11091672" cy="731520"/>
          </a:xfrm>
          <a:prstGeom prst="roundRect">
            <a:avLst>
              <a:gd name="adj" fmla="val 10000"/>
            </a:avLst>
          </a:prstGeom>
          <a:solidFill>
            <a:srgbClr val="FFFFFF"/>
          </a:solidFill>
          <a:ln w="12700">
            <a:solidFill>
              <a:srgbClr val="FFFFFF"/>
            </a:solidFill>
            <a:prstDash val="solid"/>
          </a:ln>
        </p:spPr>
      </p:sp>
      <p:sp>
        <p:nvSpPr>
          <p:cNvPr id="11" name="Text 9"/>
          <p:cNvSpPr txBox="1"/>
          <p:nvPr/>
        </p:nvSpPr>
        <p:spPr>
          <a:xfrm>
            <a:off x="548640" y="4572000"/>
            <a:ext cx="11091672" cy="731520"/>
          </a:xfrm>
          <a:prstGeom prst="rect">
            <a:avLst/>
          </a:prstGeom>
          <a:noFill/>
          <a:ln/>
        </p:spPr>
        <p:txBody>
          <a:bodyPr wrap="square" lIns="0" tIns="0" rIns="0" bIns="0" rtlCol="0" anchor="ctr"/>
          <a:lstStyle/>
          <a:p>
            <a:pPr algn="ctr" indent="0" marL="0">
              <a:buNone/>
            </a:pPr>
            <a:r>
              <a:rPr lang="en-US" sz="2000" dirty="0">
                <a:solidFill>
                  <a:srgbClr val="14213D"/>
                </a:solidFill>
                <a:latin typeface="Courier New" pitchFamily="34" charset="0"/>
                <a:ea typeface="Courier New" pitchFamily="34" charset="-122"/>
                <a:cs typeface="Courier New" pitchFamily="34" charset="-120"/>
              </a:rPr>
              <a:t>y_mi ~ Binomial(5, σ( a_i(θ_m − b_i) + δ_m · pre_cutoff_mi ))</a:t>
            </a:r>
            <a:endParaRPr lang="en-US" sz="2000" dirty="0"/>
          </a:p>
        </p:txBody>
      </p:sp>
      <p:sp>
        <p:nvSpPr>
          <p:cNvPr id="12" name="Text 10"/>
          <p:cNvSpPr txBox="1"/>
          <p:nvPr/>
        </p:nvSpPr>
        <p:spPr>
          <a:xfrm>
            <a:off x="548640" y="5440680"/>
            <a:ext cx="11091672" cy="548640"/>
          </a:xfrm>
          <a:prstGeom prst="rect">
            <a:avLst/>
          </a:prstGeom>
          <a:noFill/>
          <a:ln/>
        </p:spPr>
        <p:txBody>
          <a:bodyPr wrap="square" lIns="0" tIns="0" rIns="0" bIns="0" rtlCol="0" anchor="ctr"/>
          <a:lstStyle/>
          <a:p>
            <a:pPr algn="ctr" indent="0" marL="0">
              <a:buNone/>
            </a:pPr>
            <a:r>
              <a:rPr lang="en-US" sz="1300" dirty="0">
                <a:solidFill>
                  <a:srgbClr val="4A5568"/>
                </a:solidFill>
                <a:latin typeface="Calibri" pitchFamily="34" charset="0"/>
                <a:ea typeface="Calibri" pitchFamily="34" charset="-122"/>
                <a:cs typeface="Calibri" pitchFamily="34" charset="-120"/>
              </a:rPr>
              <a:t>a_i: how sharply problem i separates strong and weak models   ·   δ_m: extra boost on problems older than model m's training cutoff</a:t>
            </a:r>
            <a:endParaRPr lang="en-US" sz="1300" dirty="0"/>
          </a:p>
        </p:txBody>
      </p:sp>
      <p:sp>
        <p:nvSpPr>
          <p:cNvPr id="13" name="Text 11"/>
          <p:cNvSpPr txBox="1"/>
          <p:nvPr/>
        </p:nvSpPr>
        <p:spPr>
          <a:xfrm>
            <a:off x="548640" y="6355080"/>
            <a:ext cx="5486400" cy="274320"/>
          </a:xfrm>
          <a:prstGeom prst="rect">
            <a:avLst/>
          </a:prstGeom>
          <a:noFill/>
          <a:ln/>
        </p:spPr>
        <p:txBody>
          <a:bodyPr wrap="square" lIns="0" tIns="0" rIns="0" bIns="0" rtlCol="0" anchor="ctr"/>
          <a:lstStyle/>
          <a:p>
            <a:pPr indent="0" marL="0">
              <a:buNone/>
            </a:pPr>
            <a:r>
              <a:rPr lang="en-US" sz="1100" dirty="0">
                <a:solidFill>
                  <a:srgbClr val="4A5568"/>
                </a:solidFill>
                <a:latin typeface="Calibri" pitchFamily="34" charset="0"/>
                <a:ea typeface="Calibri" pitchFamily="34" charset="-122"/>
                <a:cs typeface="Calibri" pitchFamily="34" charset="-120"/>
              </a:rPr>
              <a:t>Luis Mendez · CSE5825 Project 0</a:t>
            </a:r>
            <a:endParaRPr lang="en-US" sz="1100" dirty="0"/>
          </a:p>
        </p:txBody>
      </p:sp>
      <p:sp>
        <p:nvSpPr>
          <p:cNvPr id="14" name="Text 12"/>
          <p:cNvSpPr txBox="1"/>
          <p:nvPr/>
        </p:nvSpPr>
        <p:spPr>
          <a:xfrm>
            <a:off x="10725912" y="6355080"/>
            <a:ext cx="914400" cy="274320"/>
          </a:xfrm>
          <a:prstGeom prst="rect">
            <a:avLst/>
          </a:prstGeom>
          <a:noFill/>
          <a:ln/>
        </p:spPr>
        <p:txBody>
          <a:bodyPr wrap="square" lIns="0" tIns="0" rIns="0" bIns="0" rtlCol="0" anchor="ctr"/>
          <a:lstStyle/>
          <a:p>
            <a:pPr algn="r" indent="0" marL="0">
              <a:buNone/>
            </a:pPr>
            <a:r>
              <a:rPr lang="en-US" sz="1100" dirty="0">
                <a:solidFill>
                  <a:srgbClr val="4A5568"/>
                </a:solidFill>
                <a:latin typeface="Calibri" pitchFamily="34" charset="0"/>
                <a:ea typeface="Calibri" pitchFamily="34" charset="-122"/>
                <a:cs typeface="Calibri" pitchFamily="34" charset="-120"/>
              </a:rPr>
              <a:t>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ctr"/>
          <a:lstStyle/>
          <a:p>
            <a:pPr indent="0" marL="0">
              <a:buNone/>
            </a:pPr>
            <a:r>
              <a:rPr lang="en-US" sz="3600" b="1" dirty="0">
                <a:solidFill>
                  <a:srgbClr val="14213D"/>
                </a:solidFill>
                <a:latin typeface="Cambria" pitchFamily="34" charset="0"/>
                <a:ea typeface="Cambria" pitchFamily="34" charset="-122"/>
                <a:cs typeface="Cambria" pitchFamily="34" charset="-120"/>
              </a:rPr>
              <a:t>Three hypotheses</a:t>
            </a:r>
            <a:endParaRPr lang="en-US" sz="3600" dirty="0"/>
          </a:p>
        </p:txBody>
      </p:sp>
      <p:sp>
        <p:nvSpPr>
          <p:cNvPr id="3" name="Shape 1"/>
          <p:cNvSpPr/>
          <p:nvPr/>
        </p:nvSpPr>
        <p:spPr>
          <a:xfrm>
            <a:off x="548640" y="1371600"/>
            <a:ext cx="3566160" cy="4754880"/>
          </a:xfrm>
          <a:prstGeom prst="roundRect">
            <a:avLst>
              <a:gd name="adj" fmla="val 3077"/>
            </a:avLst>
          </a:prstGeom>
          <a:solidFill>
            <a:srgbClr val="F4F5F8"/>
          </a:solidFill>
          <a:ln w="12700">
            <a:solidFill>
              <a:srgbClr val="F4F5F8"/>
            </a:solidFill>
            <a:prstDash val="solid"/>
          </a:ln>
        </p:spPr>
      </p:sp>
      <p:sp>
        <p:nvSpPr>
          <p:cNvPr id="4" name="Shape 2"/>
          <p:cNvSpPr/>
          <p:nvPr/>
        </p:nvSpPr>
        <p:spPr>
          <a:xfrm>
            <a:off x="868680" y="1691640"/>
            <a:ext cx="731520" cy="731520"/>
          </a:xfrm>
          <a:prstGeom prst="ellipse">
            <a:avLst/>
          </a:prstGeom>
          <a:solidFill>
            <a:srgbClr val="B4540A"/>
          </a:solidFill>
          <a:ln w="12700">
            <a:solidFill>
              <a:srgbClr val="B4540A"/>
            </a:solidFill>
            <a:prstDash val="solid"/>
          </a:ln>
        </p:spPr>
      </p:sp>
      <p:pic>
        <p:nvPicPr>
          <p:cNvPr id="5" name="Image 0" descr="preencoded.png">    </p:cNvPr>
          <p:cNvPicPr>
            <a:picLocks noChangeAspect="1"/>
          </p:cNvPicPr>
          <p:nvPr/>
        </p:nvPicPr>
        <p:blipFill>
          <a:blip r:embed="rId1"/>
          <a:stretch>
            <a:fillRect/>
          </a:stretch>
        </p:blipFill>
        <p:spPr>
          <a:xfrm>
            <a:off x="1051560" y="1874520"/>
            <a:ext cx="365760" cy="365760"/>
          </a:xfrm>
          <a:prstGeom prst="rect">
            <a:avLst/>
          </a:prstGeom>
        </p:spPr>
      </p:pic>
      <p:sp>
        <p:nvSpPr>
          <p:cNvPr id="6" name="Text 3"/>
          <p:cNvSpPr txBox="1"/>
          <p:nvPr/>
        </p:nvSpPr>
        <p:spPr>
          <a:xfrm>
            <a:off x="1783080" y="1783080"/>
            <a:ext cx="2011680" cy="548640"/>
          </a:xfrm>
          <a:prstGeom prst="rect">
            <a:avLst/>
          </a:prstGeom>
          <a:noFill/>
          <a:ln/>
        </p:spPr>
        <p:txBody>
          <a:bodyPr wrap="square" lIns="0" tIns="0" rIns="0" bIns="0" rtlCol="0" anchor="ctr"/>
          <a:lstStyle/>
          <a:p>
            <a:pPr indent="0" marL="0">
              <a:buNone/>
            </a:pPr>
            <a:r>
              <a:rPr lang="en-US" sz="3000" b="1" dirty="0">
                <a:solidFill>
                  <a:srgbClr val="B4540A"/>
                </a:solidFill>
                <a:latin typeface="Cambria" pitchFamily="34" charset="0"/>
                <a:ea typeface="Cambria" pitchFamily="34" charset="-122"/>
                <a:cs typeface="Cambria" pitchFamily="34" charset="-120"/>
              </a:rPr>
              <a:t>H1</a:t>
            </a:r>
            <a:endParaRPr lang="en-US" sz="3000" dirty="0"/>
          </a:p>
        </p:txBody>
      </p:sp>
      <p:sp>
        <p:nvSpPr>
          <p:cNvPr id="7" name="Text 4"/>
          <p:cNvSpPr txBox="1"/>
          <p:nvPr/>
        </p:nvSpPr>
        <p:spPr>
          <a:xfrm>
            <a:off x="868680" y="2651760"/>
            <a:ext cx="2926080" cy="777240"/>
          </a:xfrm>
          <a:prstGeom prst="rect">
            <a:avLst/>
          </a:prstGeom>
          <a:noFill/>
          <a:ln/>
        </p:spPr>
        <p:txBody>
          <a:bodyPr wrap="square" lIns="0" tIns="0" rIns="0" bIns="0" rtlCol="0" anchor="t"/>
          <a:lstStyle/>
          <a:p>
            <a:pPr indent="0" marL="0">
              <a:buNone/>
            </a:pPr>
            <a:r>
              <a:rPr lang="en-US" sz="1900" b="1" dirty="0">
                <a:solidFill>
                  <a:srgbClr val="14213D"/>
                </a:solidFill>
                <a:latin typeface="Calibri" pitchFamily="34" charset="0"/>
                <a:ea typeface="Calibri" pitchFamily="34" charset="-122"/>
                <a:cs typeface="Calibri" pitchFamily="34" charset="-120"/>
              </a:rPr>
              <a:t>More than one “math ability”</a:t>
            </a:r>
            <a:endParaRPr lang="en-US" sz="1900" dirty="0"/>
          </a:p>
        </p:txBody>
      </p:sp>
      <p:sp>
        <p:nvSpPr>
          <p:cNvPr id="8" name="Text 5"/>
          <p:cNvSpPr txBox="1"/>
          <p:nvPr/>
        </p:nvSpPr>
        <p:spPr>
          <a:xfrm>
            <a:off x="868680" y="3474720"/>
            <a:ext cx="2926080" cy="1554480"/>
          </a:xfrm>
          <a:prstGeom prst="rect">
            <a:avLst/>
          </a:prstGeom>
          <a:noFill/>
          <a:ln/>
        </p:spPr>
        <p:txBody>
          <a:bodyPr wrap="square" lIns="0" tIns="0" rIns="0" bIns="0" rtlCol="0" anchor="t"/>
          <a:lstStyle/>
          <a:p>
            <a:pPr indent="0" marL="0">
              <a:buNone/>
            </a:pPr>
            <a:r>
              <a:rPr lang="en-US" sz="1500" dirty="0">
                <a:solidFill>
                  <a:srgbClr val="4A5568"/>
                </a:solidFill>
                <a:latin typeface="Calibri" pitchFamily="34" charset="0"/>
                <a:ea typeface="Calibri" pitchFamily="34" charset="-122"/>
                <a:cs typeface="Calibri" pitchFamily="34" charset="-120"/>
              </a:rPr>
              <a:t>Topic-specific abilities predict held-out problems better than one overall ability, and model rankings flip between topics.</a:t>
            </a:r>
            <a:endParaRPr lang="en-US" sz="1500" dirty="0"/>
          </a:p>
        </p:txBody>
      </p:sp>
      <p:sp>
        <p:nvSpPr>
          <p:cNvPr id="9" name="Shape 6"/>
          <p:cNvSpPr/>
          <p:nvPr/>
        </p:nvSpPr>
        <p:spPr>
          <a:xfrm>
            <a:off x="777240" y="5120640"/>
            <a:ext cx="3108960" cy="777240"/>
          </a:xfrm>
          <a:prstGeom prst="roundRect">
            <a:avLst>
              <a:gd name="adj" fmla="val 9412"/>
            </a:avLst>
          </a:prstGeom>
          <a:solidFill>
            <a:srgbClr val="FFFFFF"/>
          </a:solidFill>
          <a:ln w="12700">
            <a:solidFill>
              <a:srgbClr val="FFFFFF"/>
            </a:solidFill>
            <a:prstDash val="solid"/>
          </a:ln>
        </p:spPr>
      </p:sp>
      <p:sp>
        <p:nvSpPr>
          <p:cNvPr id="10" name="Text 7"/>
          <p:cNvSpPr txBox="1"/>
          <p:nvPr/>
        </p:nvSpPr>
        <p:spPr>
          <a:xfrm>
            <a:off x="914400" y="5120640"/>
            <a:ext cx="2834640" cy="777240"/>
          </a:xfrm>
          <a:prstGeom prst="rect">
            <a:avLst/>
          </a:prstGeom>
          <a:noFill/>
          <a:ln/>
        </p:spPr>
        <p:txBody>
          <a:bodyPr wrap="square" lIns="0" tIns="0" rIns="0" bIns="0" rtlCol="0" anchor="ctr"/>
          <a:lstStyle/>
          <a:p>
            <a:pPr indent="0" marL="0">
              <a:buNone/>
            </a:pPr>
            <a:r>
              <a:rPr lang="en-US" sz="1300" b="1" dirty="0">
                <a:solidFill>
                  <a:srgbClr val="14213D"/>
                </a:solidFill>
                <a:latin typeface="Calibri" pitchFamily="34" charset="0"/>
                <a:ea typeface="Calibri" pitchFamily="34" charset="-122"/>
                <a:cs typeface="Calibri" pitchFamily="34" charset="-120"/>
              </a:rPr>
              <a:t>Test: 1D vs. per-topic IRT, compared with LOO</a:t>
            </a:r>
            <a:endParaRPr lang="en-US" sz="1300" dirty="0"/>
          </a:p>
        </p:txBody>
      </p:sp>
      <p:sp>
        <p:nvSpPr>
          <p:cNvPr id="11" name="Shape 8"/>
          <p:cNvSpPr/>
          <p:nvPr/>
        </p:nvSpPr>
        <p:spPr>
          <a:xfrm>
            <a:off x="4343400" y="1371600"/>
            <a:ext cx="3566160" cy="4754880"/>
          </a:xfrm>
          <a:prstGeom prst="roundRect">
            <a:avLst>
              <a:gd name="adj" fmla="val 3077"/>
            </a:avLst>
          </a:prstGeom>
          <a:solidFill>
            <a:srgbClr val="F4F5F8"/>
          </a:solidFill>
          <a:ln w="12700">
            <a:solidFill>
              <a:srgbClr val="F4F5F8"/>
            </a:solidFill>
            <a:prstDash val="solid"/>
          </a:ln>
        </p:spPr>
      </p:sp>
      <p:sp>
        <p:nvSpPr>
          <p:cNvPr id="12" name="Shape 9"/>
          <p:cNvSpPr/>
          <p:nvPr/>
        </p:nvSpPr>
        <p:spPr>
          <a:xfrm>
            <a:off x="4663440" y="1691640"/>
            <a:ext cx="731520" cy="731520"/>
          </a:xfrm>
          <a:prstGeom prst="ellipse">
            <a:avLst/>
          </a:prstGeom>
          <a:solidFill>
            <a:srgbClr val="B4540A"/>
          </a:solidFill>
          <a:ln w="12700">
            <a:solidFill>
              <a:srgbClr val="B4540A"/>
            </a:solidFill>
            <a:prstDash val="solid"/>
          </a:ln>
        </p:spPr>
      </p:sp>
      <p:pic>
        <p:nvPicPr>
          <p:cNvPr id="13" name="Image 1" descr="preencoded.png">    </p:cNvPr>
          <p:cNvPicPr>
            <a:picLocks noChangeAspect="1"/>
          </p:cNvPicPr>
          <p:nvPr/>
        </p:nvPicPr>
        <p:blipFill>
          <a:blip r:embed="rId2"/>
          <a:stretch>
            <a:fillRect/>
          </a:stretch>
        </p:blipFill>
        <p:spPr>
          <a:xfrm>
            <a:off x="4846320" y="1874520"/>
            <a:ext cx="365760" cy="365760"/>
          </a:xfrm>
          <a:prstGeom prst="rect">
            <a:avLst/>
          </a:prstGeom>
        </p:spPr>
      </p:pic>
      <p:sp>
        <p:nvSpPr>
          <p:cNvPr id="14" name="Text 10"/>
          <p:cNvSpPr txBox="1"/>
          <p:nvPr/>
        </p:nvSpPr>
        <p:spPr>
          <a:xfrm>
            <a:off x="5577840" y="1783080"/>
            <a:ext cx="2011680" cy="548640"/>
          </a:xfrm>
          <a:prstGeom prst="rect">
            <a:avLst/>
          </a:prstGeom>
          <a:noFill/>
          <a:ln/>
        </p:spPr>
        <p:txBody>
          <a:bodyPr wrap="square" lIns="0" tIns="0" rIns="0" bIns="0" rtlCol="0" anchor="ctr"/>
          <a:lstStyle/>
          <a:p>
            <a:pPr indent="0" marL="0">
              <a:buNone/>
            </a:pPr>
            <a:r>
              <a:rPr lang="en-US" sz="3000" b="1" dirty="0">
                <a:solidFill>
                  <a:srgbClr val="B4540A"/>
                </a:solidFill>
                <a:latin typeface="Cambria" pitchFamily="34" charset="0"/>
                <a:ea typeface="Cambria" pitchFamily="34" charset="-122"/>
                <a:cs typeface="Cambria" pitchFamily="34" charset="-120"/>
              </a:rPr>
              <a:t>H2</a:t>
            </a:r>
            <a:endParaRPr lang="en-US" sz="3000" dirty="0"/>
          </a:p>
        </p:txBody>
      </p:sp>
      <p:sp>
        <p:nvSpPr>
          <p:cNvPr id="15" name="Text 11"/>
          <p:cNvSpPr txBox="1"/>
          <p:nvPr/>
        </p:nvSpPr>
        <p:spPr>
          <a:xfrm>
            <a:off x="4663440" y="2651760"/>
            <a:ext cx="2926080" cy="777240"/>
          </a:xfrm>
          <a:prstGeom prst="rect">
            <a:avLst/>
          </a:prstGeom>
          <a:noFill/>
          <a:ln/>
        </p:spPr>
        <p:txBody>
          <a:bodyPr wrap="square" lIns="0" tIns="0" rIns="0" bIns="0" rtlCol="0" anchor="t"/>
          <a:lstStyle/>
          <a:p>
            <a:pPr indent="0" marL="0">
              <a:buNone/>
            </a:pPr>
            <a:r>
              <a:rPr lang="en-US" sz="1900" b="1" dirty="0">
                <a:solidFill>
                  <a:srgbClr val="14213D"/>
                </a:solidFill>
                <a:latin typeface="Calibri" pitchFamily="34" charset="0"/>
                <a:ea typeface="Calibri" pitchFamily="34" charset="-122"/>
                <a:cs typeface="Calibri" pitchFamily="34" charset="-120"/>
              </a:rPr>
              <a:t>Memorization shows up</a:t>
            </a:r>
            <a:endParaRPr lang="en-US" sz="1900" dirty="0"/>
          </a:p>
        </p:txBody>
      </p:sp>
      <p:sp>
        <p:nvSpPr>
          <p:cNvPr id="16" name="Text 12"/>
          <p:cNvSpPr txBox="1"/>
          <p:nvPr/>
        </p:nvSpPr>
        <p:spPr>
          <a:xfrm>
            <a:off x="4663440" y="3474720"/>
            <a:ext cx="2926080" cy="1554480"/>
          </a:xfrm>
          <a:prstGeom prst="rect">
            <a:avLst/>
          </a:prstGeom>
          <a:noFill/>
          <a:ln/>
        </p:spPr>
        <p:txBody>
          <a:bodyPr wrap="square" lIns="0" tIns="0" rIns="0" bIns="0" rtlCol="0" anchor="t"/>
          <a:lstStyle/>
          <a:p>
            <a:pPr indent="0" marL="0">
              <a:buNone/>
            </a:pPr>
            <a:r>
              <a:rPr lang="en-US" sz="1500" dirty="0">
                <a:solidFill>
                  <a:srgbClr val="4A5568"/>
                </a:solidFill>
                <a:latin typeface="Calibri" pitchFamily="34" charset="0"/>
                <a:ea typeface="Calibri" pitchFamily="34" charset="-122"/>
                <a:cs typeface="Calibri" pitchFamily="34" charset="-120"/>
              </a:rPr>
              <a:t>Problems from before a model’s training cutoff are easier for it than later ones, most of all for famous contests like the IMO.</a:t>
            </a:r>
            <a:endParaRPr lang="en-US" sz="1500" dirty="0"/>
          </a:p>
        </p:txBody>
      </p:sp>
      <p:sp>
        <p:nvSpPr>
          <p:cNvPr id="17" name="Shape 13"/>
          <p:cNvSpPr/>
          <p:nvPr/>
        </p:nvSpPr>
        <p:spPr>
          <a:xfrm>
            <a:off x="4572000" y="5120640"/>
            <a:ext cx="3108960" cy="777240"/>
          </a:xfrm>
          <a:prstGeom prst="roundRect">
            <a:avLst>
              <a:gd name="adj" fmla="val 9412"/>
            </a:avLst>
          </a:prstGeom>
          <a:solidFill>
            <a:srgbClr val="FFFFFF"/>
          </a:solidFill>
          <a:ln w="12700">
            <a:solidFill>
              <a:srgbClr val="FFFFFF"/>
            </a:solidFill>
            <a:prstDash val="solid"/>
          </a:ln>
        </p:spPr>
      </p:sp>
      <p:sp>
        <p:nvSpPr>
          <p:cNvPr id="18" name="Text 14"/>
          <p:cNvSpPr txBox="1"/>
          <p:nvPr/>
        </p:nvSpPr>
        <p:spPr>
          <a:xfrm>
            <a:off x="4709160" y="5120640"/>
            <a:ext cx="2834640" cy="777240"/>
          </a:xfrm>
          <a:prstGeom prst="rect">
            <a:avLst/>
          </a:prstGeom>
          <a:noFill/>
          <a:ln/>
        </p:spPr>
        <p:txBody>
          <a:bodyPr wrap="square" lIns="0" tIns="0" rIns="0" bIns="0" rtlCol="0" anchor="ctr"/>
          <a:lstStyle/>
          <a:p>
            <a:pPr indent="0" marL="0">
              <a:buNone/>
            </a:pPr>
            <a:r>
              <a:rPr lang="en-US" sz="1300" b="1" dirty="0">
                <a:solidFill>
                  <a:srgbClr val="14213D"/>
                </a:solidFill>
                <a:latin typeface="Calibri" pitchFamily="34" charset="0"/>
                <a:ea typeface="Calibri" pitchFamily="34" charset="-122"/>
                <a:cs typeface="Calibri" pitchFamily="34" charset="-120"/>
              </a:rPr>
              <a:t>Test: posterior probability that δ &gt; 0</a:t>
            </a:r>
            <a:endParaRPr lang="en-US" sz="1300" dirty="0"/>
          </a:p>
        </p:txBody>
      </p:sp>
      <p:sp>
        <p:nvSpPr>
          <p:cNvPr id="19" name="Shape 15"/>
          <p:cNvSpPr/>
          <p:nvPr/>
        </p:nvSpPr>
        <p:spPr>
          <a:xfrm>
            <a:off x="8138160" y="1371600"/>
            <a:ext cx="3566160" cy="4754880"/>
          </a:xfrm>
          <a:prstGeom prst="roundRect">
            <a:avLst>
              <a:gd name="adj" fmla="val 3077"/>
            </a:avLst>
          </a:prstGeom>
          <a:solidFill>
            <a:srgbClr val="F4F5F8"/>
          </a:solidFill>
          <a:ln w="12700">
            <a:solidFill>
              <a:srgbClr val="F4F5F8"/>
            </a:solidFill>
            <a:prstDash val="solid"/>
          </a:ln>
        </p:spPr>
      </p:sp>
      <p:sp>
        <p:nvSpPr>
          <p:cNvPr id="20" name="Shape 16"/>
          <p:cNvSpPr/>
          <p:nvPr/>
        </p:nvSpPr>
        <p:spPr>
          <a:xfrm>
            <a:off x="8458200" y="1691640"/>
            <a:ext cx="731520" cy="731520"/>
          </a:xfrm>
          <a:prstGeom prst="ellipse">
            <a:avLst/>
          </a:prstGeom>
          <a:solidFill>
            <a:srgbClr val="B4540A"/>
          </a:solidFill>
          <a:ln w="12700">
            <a:solidFill>
              <a:srgbClr val="B4540A"/>
            </a:solidFill>
            <a:prstDash val="solid"/>
          </a:ln>
        </p:spPr>
      </p:sp>
      <p:pic>
        <p:nvPicPr>
          <p:cNvPr id="21" name="Image 2" descr="preencoded.png">    </p:cNvPr>
          <p:cNvPicPr>
            <a:picLocks noChangeAspect="1"/>
          </p:cNvPicPr>
          <p:nvPr/>
        </p:nvPicPr>
        <p:blipFill>
          <a:blip r:embed="rId3"/>
          <a:stretch>
            <a:fillRect/>
          </a:stretch>
        </p:blipFill>
        <p:spPr>
          <a:xfrm>
            <a:off x="8641080" y="1874520"/>
            <a:ext cx="365760" cy="365760"/>
          </a:xfrm>
          <a:prstGeom prst="rect">
            <a:avLst/>
          </a:prstGeom>
        </p:spPr>
      </p:pic>
      <p:sp>
        <p:nvSpPr>
          <p:cNvPr id="22" name="Text 17"/>
          <p:cNvSpPr txBox="1"/>
          <p:nvPr/>
        </p:nvSpPr>
        <p:spPr>
          <a:xfrm>
            <a:off x="9372600" y="1783080"/>
            <a:ext cx="2011680" cy="548640"/>
          </a:xfrm>
          <a:prstGeom prst="rect">
            <a:avLst/>
          </a:prstGeom>
          <a:noFill/>
          <a:ln/>
        </p:spPr>
        <p:txBody>
          <a:bodyPr wrap="square" lIns="0" tIns="0" rIns="0" bIns="0" rtlCol="0" anchor="ctr"/>
          <a:lstStyle/>
          <a:p>
            <a:pPr indent="0" marL="0">
              <a:buNone/>
            </a:pPr>
            <a:r>
              <a:rPr lang="en-US" sz="3000" b="1" dirty="0">
                <a:solidFill>
                  <a:srgbClr val="B4540A"/>
                </a:solidFill>
                <a:latin typeface="Cambria" pitchFamily="34" charset="0"/>
                <a:ea typeface="Cambria" pitchFamily="34" charset="-122"/>
                <a:cs typeface="Cambria" pitchFamily="34" charset="-120"/>
              </a:rPr>
              <a:t>H3</a:t>
            </a:r>
            <a:endParaRPr lang="en-US" sz="3000" dirty="0"/>
          </a:p>
        </p:txBody>
      </p:sp>
      <p:sp>
        <p:nvSpPr>
          <p:cNvPr id="23" name="Text 18"/>
          <p:cNvSpPr txBox="1"/>
          <p:nvPr/>
        </p:nvSpPr>
        <p:spPr>
          <a:xfrm>
            <a:off x="8458200" y="2651760"/>
            <a:ext cx="2926080" cy="777240"/>
          </a:xfrm>
          <a:prstGeom prst="rect">
            <a:avLst/>
          </a:prstGeom>
          <a:noFill/>
          <a:ln/>
        </p:spPr>
        <p:txBody>
          <a:bodyPr wrap="square" lIns="0" tIns="0" rIns="0" bIns="0" rtlCol="0" anchor="t"/>
          <a:lstStyle/>
          <a:p>
            <a:pPr indent="0" marL="0">
              <a:buNone/>
            </a:pPr>
            <a:r>
              <a:rPr lang="en-US" sz="1900" b="1" dirty="0">
                <a:solidFill>
                  <a:srgbClr val="14213D"/>
                </a:solidFill>
                <a:latin typeface="Calibri" pitchFamily="34" charset="0"/>
                <a:ea typeface="Calibri" pitchFamily="34" charset="-122"/>
                <a:cs typeface="Calibri" pitchFamily="34" charset="-120"/>
              </a:rPr>
              <a:t>Hard for humans ≠ hard for LLMs</a:t>
            </a:r>
            <a:endParaRPr lang="en-US" sz="1900" dirty="0"/>
          </a:p>
        </p:txBody>
      </p:sp>
      <p:sp>
        <p:nvSpPr>
          <p:cNvPr id="24" name="Text 19"/>
          <p:cNvSpPr txBox="1"/>
          <p:nvPr/>
        </p:nvSpPr>
        <p:spPr>
          <a:xfrm>
            <a:off x="8458200" y="3474720"/>
            <a:ext cx="2926080" cy="1554480"/>
          </a:xfrm>
          <a:prstGeom prst="rect">
            <a:avLst/>
          </a:prstGeom>
          <a:noFill/>
          <a:ln/>
        </p:spPr>
        <p:txBody>
          <a:bodyPr wrap="square" lIns="0" tIns="0" rIns="0" bIns="0" rtlCol="0" anchor="t"/>
          <a:lstStyle/>
          <a:p>
            <a:pPr indent="0" marL="0">
              <a:buNone/>
            </a:pPr>
            <a:r>
              <a:rPr lang="en-US" sz="1500" dirty="0">
                <a:solidFill>
                  <a:srgbClr val="4A5568"/>
                </a:solidFill>
                <a:latin typeface="Calibri" pitchFamily="34" charset="0"/>
                <a:ea typeface="Calibri" pitchFamily="34" charset="-122"/>
                <a:cs typeface="Calibri" pitchFamily="34" charset="-120"/>
              </a:rPr>
              <a:t>Human difficulty signals like contest level only partly predict LLM difficulty; the rest clusters in figures and combinatorics.</a:t>
            </a:r>
            <a:endParaRPr lang="en-US" sz="1500" dirty="0"/>
          </a:p>
        </p:txBody>
      </p:sp>
      <p:sp>
        <p:nvSpPr>
          <p:cNvPr id="25" name="Shape 20"/>
          <p:cNvSpPr/>
          <p:nvPr/>
        </p:nvSpPr>
        <p:spPr>
          <a:xfrm>
            <a:off x="8366760" y="5120640"/>
            <a:ext cx="3108960" cy="777240"/>
          </a:xfrm>
          <a:prstGeom prst="roundRect">
            <a:avLst>
              <a:gd name="adj" fmla="val 9412"/>
            </a:avLst>
          </a:prstGeom>
          <a:solidFill>
            <a:srgbClr val="FFFFFF"/>
          </a:solidFill>
          <a:ln w="12700">
            <a:solidFill>
              <a:srgbClr val="FFFFFF"/>
            </a:solidFill>
            <a:prstDash val="solid"/>
          </a:ln>
        </p:spPr>
      </p:sp>
      <p:sp>
        <p:nvSpPr>
          <p:cNvPr id="26" name="Text 21"/>
          <p:cNvSpPr txBox="1"/>
          <p:nvPr/>
        </p:nvSpPr>
        <p:spPr>
          <a:xfrm>
            <a:off x="8503920" y="5120640"/>
            <a:ext cx="2834640" cy="777240"/>
          </a:xfrm>
          <a:prstGeom prst="rect">
            <a:avLst/>
          </a:prstGeom>
          <a:noFill/>
          <a:ln/>
        </p:spPr>
        <p:txBody>
          <a:bodyPr wrap="square" lIns="0" tIns="0" rIns="0" bIns="0" rtlCol="0" anchor="ctr"/>
          <a:lstStyle/>
          <a:p>
            <a:pPr indent="0" marL="0">
              <a:buNone/>
            </a:pPr>
            <a:r>
              <a:rPr lang="en-US" sz="1300" b="1" dirty="0">
                <a:solidFill>
                  <a:srgbClr val="14213D"/>
                </a:solidFill>
                <a:latin typeface="Calibri" pitchFamily="34" charset="0"/>
                <a:ea typeface="Calibri" pitchFamily="34" charset="-122"/>
                <a:cs typeface="Calibri" pitchFamily="34" charset="-120"/>
              </a:rPr>
              <a:t>Test: leftover difficulty after human signals</a:t>
            </a:r>
            <a:endParaRPr lang="en-US" sz="1300" dirty="0"/>
          </a:p>
        </p:txBody>
      </p:sp>
      <p:sp>
        <p:nvSpPr>
          <p:cNvPr id="27" name="Text 22"/>
          <p:cNvSpPr txBox="1"/>
          <p:nvPr/>
        </p:nvSpPr>
        <p:spPr>
          <a:xfrm>
            <a:off x="548640" y="6355080"/>
            <a:ext cx="5486400" cy="274320"/>
          </a:xfrm>
          <a:prstGeom prst="rect">
            <a:avLst/>
          </a:prstGeom>
          <a:noFill/>
          <a:ln/>
        </p:spPr>
        <p:txBody>
          <a:bodyPr wrap="square" lIns="0" tIns="0" rIns="0" bIns="0" rtlCol="0" anchor="ctr"/>
          <a:lstStyle/>
          <a:p>
            <a:pPr indent="0" marL="0">
              <a:buNone/>
            </a:pPr>
            <a:r>
              <a:rPr lang="en-US" sz="1100" dirty="0">
                <a:solidFill>
                  <a:srgbClr val="4A5568"/>
                </a:solidFill>
                <a:latin typeface="Calibri" pitchFamily="34" charset="0"/>
                <a:ea typeface="Calibri" pitchFamily="34" charset="-122"/>
                <a:cs typeface="Calibri" pitchFamily="34" charset="-120"/>
              </a:rPr>
              <a:t>Luis Mendez · CSE5825 Project 0</a:t>
            </a:r>
            <a:endParaRPr lang="en-US" sz="1100" dirty="0"/>
          </a:p>
        </p:txBody>
      </p:sp>
      <p:sp>
        <p:nvSpPr>
          <p:cNvPr id="28" name="Text 23"/>
          <p:cNvSpPr txBox="1"/>
          <p:nvPr/>
        </p:nvSpPr>
        <p:spPr>
          <a:xfrm>
            <a:off x="10725912" y="6355080"/>
            <a:ext cx="914400" cy="274320"/>
          </a:xfrm>
          <a:prstGeom prst="rect">
            <a:avLst/>
          </a:prstGeom>
          <a:noFill/>
          <a:ln/>
        </p:spPr>
        <p:txBody>
          <a:bodyPr wrap="square" lIns="0" tIns="0" rIns="0" bIns="0" rtlCol="0" anchor="ctr"/>
          <a:lstStyle/>
          <a:p>
            <a:pPr algn="r" indent="0" marL="0">
              <a:buNone/>
            </a:pPr>
            <a:r>
              <a:rPr lang="en-US" sz="1100" dirty="0">
                <a:solidFill>
                  <a:srgbClr val="4A5568"/>
                </a:solidFill>
                <a:latin typeface="Calibri" pitchFamily="34" charset="0"/>
                <a:ea typeface="Calibri" pitchFamily="34" charset="-122"/>
                <a:cs typeface="Calibri" pitchFamily="34" charset="-120"/>
              </a:rPr>
              <a:t>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B4540A"/>
        </a:solidFill>
      </p:bgPr>
    </p:bg>
    <p:spTree>
      <p:nvGrpSpPr>
        <p:cNvPr id="1" name=""/>
        <p:cNvGrpSpPr/>
        <p:nvPr/>
      </p:nvGrpSpPr>
      <p:grpSpPr>
        <a:xfrm>
          <a:off x="0" y="0"/>
          <a:ext cx="0" cy="0"/>
          <a:chOff x="0" y="0"/>
          <a:chExt cx="0" cy="0"/>
        </a:xfrm>
      </p:grpSpPr>
      <p:sp>
        <p:nvSpPr>
          <p:cNvPr id="2" name="Text 0"/>
          <p:cNvSpPr txBox="1"/>
          <p:nvPr/>
        </p:nvSpPr>
        <p:spPr>
          <a:xfrm>
            <a:off x="731520" y="731520"/>
            <a:ext cx="7315200" cy="365760"/>
          </a:xfrm>
          <a:prstGeom prst="rect">
            <a:avLst/>
          </a:prstGeom>
          <a:noFill/>
          <a:ln/>
        </p:spPr>
        <p:txBody>
          <a:bodyPr wrap="square" lIns="0" tIns="0" rIns="0" bIns="0" rtlCol="0" anchor="ctr"/>
          <a:lstStyle/>
          <a:p>
            <a:pPr indent="0" marL="0">
              <a:buNone/>
            </a:pPr>
            <a:r>
              <a:rPr lang="en-US" sz="1400" b="1" spc="400" kern="0" dirty="0">
                <a:solidFill>
                  <a:srgbClr val="FBF7F0"/>
                </a:solidFill>
                <a:latin typeface="Calibri" pitchFamily="34" charset="0"/>
                <a:ea typeface="Calibri" pitchFamily="34" charset="-122"/>
                <a:cs typeface="Calibri" pitchFamily="34" charset="-120"/>
              </a:rPr>
              <a:t>WHY H2 IS TESTABLE</a:t>
            </a:r>
            <a:endParaRPr lang="en-US" sz="1400" dirty="0"/>
          </a:p>
        </p:txBody>
      </p:sp>
      <p:sp>
        <p:nvSpPr>
          <p:cNvPr id="3" name="Text 1"/>
          <p:cNvSpPr txBox="1"/>
          <p:nvPr/>
        </p:nvSpPr>
        <p:spPr>
          <a:xfrm>
            <a:off x="731520" y="1234440"/>
            <a:ext cx="10698480" cy="1325880"/>
          </a:xfrm>
          <a:prstGeom prst="rect">
            <a:avLst/>
          </a:prstGeom>
          <a:noFill/>
          <a:ln/>
        </p:spPr>
        <p:txBody>
          <a:bodyPr wrap="square" lIns="0" tIns="0" rIns="0" bIns="0" rtlCol="0" anchor="t"/>
          <a:lstStyle/>
          <a:p>
            <a:pPr indent="0" marL="0">
              <a:buNone/>
            </a:pPr>
            <a:r>
              <a:rPr lang="en-US" sz="3600" b="1" dirty="0">
                <a:solidFill>
                  <a:srgbClr val="FBF7F0"/>
                </a:solidFill>
                <a:latin typeface="Cambria" pitchFamily="34" charset="0"/>
                <a:ea typeface="Cambria" pitchFamily="34" charset="-122"/>
                <a:cs typeface="Cambria" pitchFamily="34" charset="-120"/>
              </a:rPr>
              <a:t>The same problem can be “before cutoff” for one model and “after cutoff” for another.</a:t>
            </a:r>
            <a:endParaRPr lang="en-US" sz="3600" dirty="0"/>
          </a:p>
        </p:txBody>
      </p:sp>
      <p:sp>
        <p:nvSpPr>
          <p:cNvPr id="4" name="Text 2"/>
          <p:cNvSpPr txBox="1"/>
          <p:nvPr/>
        </p:nvSpPr>
        <p:spPr>
          <a:xfrm>
            <a:off x="731520" y="2697480"/>
            <a:ext cx="10698480" cy="548640"/>
          </a:xfrm>
          <a:prstGeom prst="rect">
            <a:avLst/>
          </a:prstGeom>
          <a:noFill/>
          <a:ln/>
        </p:spPr>
        <p:txBody>
          <a:bodyPr wrap="square" lIns="0" tIns="0" rIns="0" bIns="0" rtlCol="0" anchor="ctr"/>
          <a:lstStyle/>
          <a:p>
            <a:pPr indent="0" marL="0">
              <a:buNone/>
            </a:pPr>
            <a:r>
              <a:rPr lang="en-US" sz="2000" dirty="0">
                <a:solidFill>
                  <a:srgbClr val="FBF7F0"/>
                </a:solidFill>
                <a:latin typeface="Calibri" pitchFamily="34" charset="0"/>
                <a:ea typeface="Calibri" pitchFamily="34" charset="-122"/>
                <a:cs typeface="Calibri" pitchFamily="34" charset="-120"/>
              </a:rPr>
              <a:t>That makes contamination a natural experiment, not just a correlation.</a:t>
            </a:r>
            <a:endParaRPr lang="en-US" sz="2000" dirty="0"/>
          </a:p>
        </p:txBody>
      </p:sp>
      <p:sp>
        <p:nvSpPr>
          <p:cNvPr id="5" name="Shape 3"/>
          <p:cNvSpPr/>
          <p:nvPr/>
        </p:nvSpPr>
        <p:spPr>
          <a:xfrm>
            <a:off x="914400" y="4937760"/>
            <a:ext cx="10332720" cy="0"/>
          </a:xfrm>
          <a:prstGeom prst="line">
            <a:avLst/>
          </a:prstGeom>
          <a:noFill/>
          <a:ln w="38100">
            <a:solidFill>
              <a:srgbClr val="FBF7F0"/>
            </a:solidFill>
            <a:prstDash val="solid"/>
          </a:ln>
        </p:spPr>
      </p:sp>
      <p:sp>
        <p:nvSpPr>
          <p:cNvPr id="6" name="Shape 4"/>
          <p:cNvSpPr/>
          <p:nvPr/>
        </p:nvSpPr>
        <p:spPr>
          <a:xfrm>
            <a:off x="3657600" y="4617720"/>
            <a:ext cx="0" cy="640080"/>
          </a:xfrm>
          <a:prstGeom prst="line">
            <a:avLst/>
          </a:prstGeom>
          <a:noFill/>
          <a:ln w="38100">
            <a:solidFill>
              <a:srgbClr val="FBF7F0"/>
            </a:solidFill>
            <a:prstDash val="solid"/>
          </a:ln>
        </p:spPr>
      </p:sp>
      <p:sp>
        <p:nvSpPr>
          <p:cNvPr id="7" name="Text 5"/>
          <p:cNvSpPr txBox="1"/>
          <p:nvPr/>
        </p:nvSpPr>
        <p:spPr>
          <a:xfrm>
            <a:off x="2286000" y="4114800"/>
            <a:ext cx="2743200" cy="411480"/>
          </a:xfrm>
          <a:prstGeom prst="rect">
            <a:avLst/>
          </a:prstGeom>
          <a:noFill/>
          <a:ln/>
        </p:spPr>
        <p:txBody>
          <a:bodyPr wrap="square" lIns="0" tIns="0" rIns="0" bIns="0" rtlCol="0" anchor="ctr"/>
          <a:lstStyle/>
          <a:p>
            <a:pPr algn="ctr" indent="0" marL="0">
              <a:buNone/>
            </a:pPr>
            <a:r>
              <a:rPr lang="en-US" sz="1600" b="1" dirty="0">
                <a:solidFill>
                  <a:srgbClr val="FBF7F0"/>
                </a:solidFill>
                <a:latin typeface="Calibri" pitchFamily="34" charset="0"/>
                <a:ea typeface="Calibri" pitchFamily="34" charset="-122"/>
                <a:cs typeface="Calibri" pitchFamily="34" charset="-120"/>
              </a:rPr>
              <a:t>Model A’s cutoff</a:t>
            </a:r>
            <a:endParaRPr lang="en-US" sz="1600" dirty="0"/>
          </a:p>
        </p:txBody>
      </p:sp>
      <p:sp>
        <p:nvSpPr>
          <p:cNvPr id="8" name="Shape 6"/>
          <p:cNvSpPr/>
          <p:nvPr/>
        </p:nvSpPr>
        <p:spPr>
          <a:xfrm>
            <a:off x="8686800" y="4617720"/>
            <a:ext cx="0" cy="640080"/>
          </a:xfrm>
          <a:prstGeom prst="line">
            <a:avLst/>
          </a:prstGeom>
          <a:noFill/>
          <a:ln w="38100">
            <a:solidFill>
              <a:srgbClr val="FBF7F0"/>
            </a:solidFill>
            <a:prstDash val="solid"/>
          </a:ln>
        </p:spPr>
      </p:sp>
      <p:sp>
        <p:nvSpPr>
          <p:cNvPr id="9" name="Text 7"/>
          <p:cNvSpPr txBox="1"/>
          <p:nvPr/>
        </p:nvSpPr>
        <p:spPr>
          <a:xfrm>
            <a:off x="7315200" y="4114800"/>
            <a:ext cx="2743200" cy="411480"/>
          </a:xfrm>
          <a:prstGeom prst="rect">
            <a:avLst/>
          </a:prstGeom>
          <a:noFill/>
          <a:ln/>
        </p:spPr>
        <p:txBody>
          <a:bodyPr wrap="square" lIns="0" tIns="0" rIns="0" bIns="0" rtlCol="0" anchor="ctr"/>
          <a:lstStyle/>
          <a:p>
            <a:pPr algn="ctr" indent="0" marL="0">
              <a:buNone/>
            </a:pPr>
            <a:r>
              <a:rPr lang="en-US" sz="1600" b="1" dirty="0">
                <a:solidFill>
                  <a:srgbClr val="FBF7F0"/>
                </a:solidFill>
                <a:latin typeface="Calibri" pitchFamily="34" charset="0"/>
                <a:ea typeface="Calibri" pitchFamily="34" charset="-122"/>
                <a:cs typeface="Calibri" pitchFamily="34" charset="-120"/>
              </a:rPr>
              <a:t>Model B’s cutoff</a:t>
            </a:r>
            <a:endParaRPr lang="en-US" sz="1600" dirty="0"/>
          </a:p>
        </p:txBody>
      </p:sp>
      <p:sp>
        <p:nvSpPr>
          <p:cNvPr id="10" name="Shape 8"/>
          <p:cNvSpPr/>
          <p:nvPr/>
        </p:nvSpPr>
        <p:spPr>
          <a:xfrm>
            <a:off x="5989320" y="4754880"/>
            <a:ext cx="365760" cy="365760"/>
          </a:xfrm>
          <a:prstGeom prst="ellipse">
            <a:avLst/>
          </a:prstGeom>
          <a:solidFill>
            <a:srgbClr val="14213D"/>
          </a:solidFill>
          <a:ln w="25400">
            <a:solidFill>
              <a:srgbClr val="FBF7F0"/>
            </a:solidFill>
            <a:prstDash val="solid"/>
          </a:ln>
        </p:spPr>
      </p:sp>
      <p:sp>
        <p:nvSpPr>
          <p:cNvPr id="11" name="Text 9"/>
          <p:cNvSpPr txBox="1"/>
          <p:nvPr/>
        </p:nvSpPr>
        <p:spPr>
          <a:xfrm>
            <a:off x="3657600" y="5349240"/>
            <a:ext cx="5029200" cy="640080"/>
          </a:xfrm>
          <a:prstGeom prst="rect">
            <a:avLst/>
          </a:prstGeom>
          <a:noFill/>
          <a:ln/>
        </p:spPr>
        <p:txBody>
          <a:bodyPr wrap="square" lIns="0" tIns="0" rIns="0" bIns="0" rtlCol="0" anchor="t"/>
          <a:lstStyle/>
          <a:p>
            <a:pPr algn="ctr" indent="0" marL="0">
              <a:buNone/>
            </a:pPr>
            <a:r>
              <a:rPr lang="en-US" sz="1500" dirty="0">
                <a:solidFill>
                  <a:srgbClr val="FBF7F0"/>
                </a:solidFill>
                <a:latin typeface="Calibri" pitchFamily="34" charset="0"/>
                <a:ea typeface="Calibri" pitchFamily="34" charset="-122"/>
                <a:cs typeface="Calibri" pitchFamily="34" charset="-120"/>
              </a:rPr>
              <a:t>A problem from in between: unseen by A, possibly seen by B</a:t>
            </a:r>
            <a:endParaRPr lang="en-US" sz="1500" dirty="0"/>
          </a:p>
        </p:txBody>
      </p:sp>
      <p:sp>
        <p:nvSpPr>
          <p:cNvPr id="12" name="Text 10"/>
          <p:cNvSpPr txBox="1"/>
          <p:nvPr/>
        </p:nvSpPr>
        <p:spPr>
          <a:xfrm>
            <a:off x="10332720" y="5074920"/>
            <a:ext cx="914400" cy="320040"/>
          </a:xfrm>
          <a:prstGeom prst="rect">
            <a:avLst/>
          </a:prstGeom>
          <a:noFill/>
          <a:ln/>
        </p:spPr>
        <p:txBody>
          <a:bodyPr wrap="square" lIns="0" tIns="0" rIns="0" bIns="0" rtlCol="0" anchor="ctr"/>
          <a:lstStyle/>
          <a:p>
            <a:pPr algn="r" indent="0" marL="0">
              <a:buNone/>
            </a:pPr>
            <a:r>
              <a:rPr lang="en-US" sz="1300" dirty="0">
                <a:solidFill>
                  <a:srgbClr val="FBF7F0"/>
                </a:solidFill>
                <a:latin typeface="Calibri" pitchFamily="34" charset="0"/>
                <a:ea typeface="Calibri" pitchFamily="34" charset="-122"/>
                <a:cs typeface="Calibri" pitchFamily="34" charset="-120"/>
              </a:rPr>
              <a:t>time →</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How I’ll check it</a:t>
            </a:r>
            <a:endParaRPr lang="en-US" sz="3600" dirty="0"/>
          </a:p>
        </p:txBody>
      </p:sp>
      <p:sp>
        <p:nvSpPr>
          <p:cNvPr id="3" name="Text 1"/>
          <p:cNvSpPr txBox="1"/>
          <p:nvPr/>
        </p:nvSpPr>
        <p:spPr>
          <a:xfrm>
            <a:off x="548640" y="1463040"/>
            <a:ext cx="6309360" cy="4206240"/>
          </a:xfrm>
          <a:prstGeom prst="rect">
            <a:avLst/>
          </a:prstGeom>
          <a:noFill/>
          <a:ln/>
        </p:spPr>
        <p:txBody>
          <a:bodyPr wrap="square" lIns="0" tIns="0" rIns="0" bIns="0" rtlCol="0" anchor="t"/>
          <a:lstStyle/>
          <a:p>
            <a:pPr marL="342900" indent="-342900">
              <a:spcAft>
                <a:spcPts val="1400"/>
              </a:spcAft>
              <a:buSzPct val="100000"/>
              <a:buChar char="•"/>
            </a:pPr>
            <a:r>
              <a:rPr lang="en-US" sz="1800" dirty="0">
                <a:solidFill>
                  <a:srgbClr val="FFFFFF"/>
                </a:solidFill>
                <a:latin typeface="Calibri" pitchFamily="34" charset="0"/>
                <a:ea typeface="Calibri" pitchFamily="34" charset="-122"/>
                <a:cs typeface="Calibri" pitchFamily="34" charset="-120"/>
              </a:rPr>
              <a:t>Simulate data with known θ and b, and check I recover them</a:t>
            </a:r>
            <a:endParaRPr lang="en-US" sz="1800" dirty="0"/>
          </a:p>
          <a:p>
            <a:pPr marL="342900" indent="-342900">
              <a:spcAft>
                <a:spcPts val="1400"/>
              </a:spcAft>
              <a:buSzPct val="100000"/>
              <a:buChar char="•"/>
            </a:pPr>
            <a:r>
              <a:rPr lang="en-US" sz="1800" dirty="0">
                <a:solidFill>
                  <a:srgbClr val="FFFFFF"/>
                </a:solidFill>
                <a:latin typeface="Calibri" pitchFamily="34" charset="0"/>
                <a:ea typeface="Calibri" pitchFamily="34" charset="-122"/>
                <a:cs typeface="Calibri" pitchFamily="34" charset="-120"/>
              </a:rPr>
              <a:t>Posterior predictive checks per model and per topic</a:t>
            </a:r>
            <a:endParaRPr lang="en-US" sz="1800" dirty="0"/>
          </a:p>
          <a:p>
            <a:pPr marL="342900" indent="-342900">
              <a:spcAft>
                <a:spcPts val="1400"/>
              </a:spcAft>
              <a:buSzPct val="100000"/>
              <a:buChar char="•"/>
            </a:pPr>
            <a:r>
              <a:rPr lang="en-US" sz="1800" dirty="0">
                <a:solidFill>
                  <a:srgbClr val="FFFFFF"/>
                </a:solidFill>
                <a:latin typeface="Calibri" pitchFamily="34" charset="0"/>
                <a:ea typeface="Calibri" pitchFamily="34" charset="-122"/>
                <a:cs typeface="Calibri" pitchFamily="34" charset="-120"/>
              </a:rPr>
              <a:t>Compare 1PL, 2PL and per-topic models with LOO</a:t>
            </a:r>
            <a:endParaRPr lang="en-US" sz="1800" dirty="0"/>
          </a:p>
          <a:p>
            <a:pPr marL="342900" indent="-342900">
              <a:spcAft>
                <a:spcPts val="1400"/>
              </a:spcAft>
              <a:buSzPct val="100000"/>
              <a:buChar char="•"/>
            </a:pPr>
            <a:r>
              <a:rPr lang="en-US" sz="1800" dirty="0">
                <a:solidFill>
                  <a:srgbClr val="FFFFFF"/>
                </a:solidFill>
                <a:latin typeface="Calibri" pitchFamily="34" charset="0"/>
                <a:ea typeface="Calibri" pitchFamily="34" charset="-122"/>
                <a:cs typeface="Calibri" pitchFamily="34" charset="-120"/>
              </a:rPr>
              <a:t>Fit with NUTS and with variational inference, and compare</a:t>
            </a:r>
            <a:endParaRPr lang="en-US" sz="1800" dirty="0"/>
          </a:p>
          <a:p>
            <a:pPr marL="342900" indent="-342900">
              <a:spcAft>
                <a:spcPts val="1400"/>
              </a:spcAft>
              <a:buSzPct val="100000"/>
              <a:buChar char="•"/>
            </a:pPr>
            <a:r>
              <a:rPr lang="en-US" sz="1800" dirty="0">
                <a:solidFill>
                  <a:srgbClr val="FFFFFF"/>
                </a:solidFill>
                <a:latin typeface="Calibri" pitchFamily="34" charset="0"/>
                <a:ea typeface="Calibri" pitchFamily="34" charset="-122"/>
                <a:cs typeface="Calibri" pitchFamily="34" charset="-120"/>
              </a:rPr>
              <a:t>Spot-check the automatic grading by hand</a:t>
            </a:r>
            <a:endParaRPr lang="en-US" sz="1800" dirty="0"/>
          </a:p>
        </p:txBody>
      </p:sp>
      <p:sp>
        <p:nvSpPr>
          <p:cNvPr id="4" name="Shape 2"/>
          <p:cNvSpPr/>
          <p:nvPr/>
        </p:nvSpPr>
        <p:spPr>
          <a:xfrm>
            <a:off x="7406640" y="1463040"/>
            <a:ext cx="4233672" cy="2514600"/>
          </a:xfrm>
          <a:prstGeom prst="roundRect">
            <a:avLst>
              <a:gd name="adj" fmla="val 4364"/>
            </a:avLst>
          </a:prstGeom>
          <a:solidFill>
            <a:srgbClr val="B4540A"/>
          </a:solidFill>
          <a:ln w="12700">
            <a:solidFill>
              <a:srgbClr val="B4540A"/>
            </a:solidFill>
            <a:prstDash val="solid"/>
          </a:ln>
        </p:spPr>
      </p:sp>
      <p:sp>
        <p:nvSpPr>
          <p:cNvPr id="5" name="Text 3"/>
          <p:cNvSpPr txBox="1"/>
          <p:nvPr/>
        </p:nvSpPr>
        <p:spPr>
          <a:xfrm>
            <a:off x="7726680" y="1737360"/>
            <a:ext cx="3611880" cy="2103120"/>
          </a:xfrm>
          <a:prstGeom prst="rect">
            <a:avLst/>
          </a:prstGeom>
          <a:noFill/>
          <a:ln/>
        </p:spPr>
        <p:txBody>
          <a:bodyPr wrap="square" lIns="0" tIns="0" rIns="0" bIns="0" rtlCol="0" anchor="t"/>
          <a:lstStyle/>
          <a:p>
            <a:pPr indent="0" marL="0">
              <a:spcAft>
                <a:spcPts val="1000"/>
              </a:spcAft>
              <a:buNone/>
            </a:pPr>
            <a:r>
              <a:rPr lang="en-US" sz="1300" b="1" spc="300" kern="0" dirty="0">
                <a:solidFill>
                  <a:srgbClr val="FBF7F0"/>
                </a:solidFill>
                <a:latin typeface="Calibri" pitchFamily="34" charset="0"/>
                <a:ea typeface="Calibri" pitchFamily="34" charset="-122"/>
                <a:cs typeface="Calibri" pitchFamily="34" charset="-120"/>
              </a:rPr>
              <a:t>THE ASK</a:t>
            </a:r>
            <a:endParaRPr lang="en-US" sz="1300" dirty="0"/>
          </a:p>
          <a:p>
            <a:pPr indent="0" marL="0">
              <a:spcAft>
                <a:spcPts val="1000"/>
              </a:spcAft>
              <a:buNone/>
            </a:pPr>
            <a:r>
              <a:rPr lang="en-US" sz="2800" b="1" dirty="0">
                <a:solidFill>
                  <a:srgbClr val="FFFFFF"/>
                </a:solidFill>
                <a:latin typeface="Cambria" pitchFamily="34" charset="0"/>
                <a:ea typeface="Cambria" pitchFamily="34" charset="-122"/>
                <a:cs typeface="Cambria" pitchFamily="34" charset="-120"/>
              </a:rPr>
              <a:t>Looking for 1–2 teammates</a:t>
            </a:r>
            <a:endParaRPr lang="en-US" sz="1300" dirty="0"/>
          </a:p>
          <a:p>
            <a:pPr indent="0" marL="0">
              <a:spcAft>
                <a:spcPts val="1000"/>
              </a:spcAft>
              <a:buNone/>
            </a:pPr>
            <a:r>
              <a:rPr lang="en-US" sz="1600" dirty="0">
                <a:solidFill>
                  <a:srgbClr val="FBF7F0"/>
                </a:solidFill>
                <a:latin typeface="Calibri" pitchFamily="34" charset="0"/>
                <a:ea typeface="Calibri" pitchFamily="34" charset="-122"/>
                <a:cs typeface="Calibri" pitchFamily="34" charset="-120"/>
              </a:rPr>
              <a:t>Interested in LLM evaluation or Bayesian modeling? Let’s talk after class.</a:t>
            </a:r>
            <a:endParaRPr lang="en-US" sz="1300" dirty="0"/>
          </a:p>
        </p:txBody>
      </p:sp>
      <p:sp>
        <p:nvSpPr>
          <p:cNvPr id="6" name="Text 4"/>
          <p:cNvSpPr txBox="1"/>
          <p:nvPr/>
        </p:nvSpPr>
        <p:spPr>
          <a:xfrm>
            <a:off x="548640" y="6355080"/>
            <a:ext cx="5486400" cy="274320"/>
          </a:xfrm>
          <a:prstGeom prst="rect">
            <a:avLst/>
          </a:prstGeom>
          <a:noFill/>
          <a:ln/>
        </p:spPr>
        <p:txBody>
          <a:bodyPr wrap="square" lIns="0" tIns="0" rIns="0" bIns="0" rtlCol="0" anchor="ctr"/>
          <a:lstStyle/>
          <a:p>
            <a:pPr indent="0" marL="0">
              <a:buNone/>
            </a:pPr>
            <a:r>
              <a:rPr lang="en-US" sz="1100" dirty="0">
                <a:solidFill>
                  <a:srgbClr val="C9D2E3"/>
                </a:solidFill>
                <a:latin typeface="Calibri" pitchFamily="34" charset="0"/>
                <a:ea typeface="Calibri" pitchFamily="34" charset="-122"/>
                <a:cs typeface="Calibri" pitchFamily="34" charset="-120"/>
              </a:rPr>
              <a:t>Luis Mendez · CSE5825 Project 0</a:t>
            </a:r>
            <a:endParaRPr lang="en-US" sz="1100" dirty="0"/>
          </a:p>
        </p:txBody>
      </p:sp>
      <p:sp>
        <p:nvSpPr>
          <p:cNvPr id="7" name="Text 5"/>
          <p:cNvSpPr txBox="1"/>
          <p:nvPr/>
        </p:nvSpPr>
        <p:spPr>
          <a:xfrm>
            <a:off x="10725912" y="6355080"/>
            <a:ext cx="914400" cy="274320"/>
          </a:xfrm>
          <a:prstGeom prst="rect">
            <a:avLst/>
          </a:prstGeom>
          <a:noFill/>
          <a:ln/>
        </p:spPr>
        <p:txBody>
          <a:bodyPr wrap="square" lIns="0" tIns="0" rIns="0" bIns="0" rtlCol="0" anchor="ctr"/>
          <a:lstStyle/>
          <a:p>
            <a:pPr algn="r" indent="0" marL="0">
              <a:buNone/>
            </a:pPr>
            <a:r>
              <a:rPr lang="en-US" sz="1100" dirty="0">
                <a:solidFill>
                  <a:srgbClr val="C9D2E3"/>
                </a:solidFill>
                <a:latin typeface="Calibri" pitchFamily="34" charset="0"/>
                <a:ea typeface="Calibri" pitchFamily="34" charset="-122"/>
                <a:cs typeface="Calibri" pitchFamily="34" charset="-120"/>
              </a:rPr>
              <a:t>7</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Is LLM math skill real, or memorized?</dc:title>
  <dc:subject>PptxGenJS Presentation</dc:subject>
  <dc:creator>Luis Mendez</dc:creator>
  <cp:lastModifiedBy>Luis Mendez</cp:lastModifiedBy>
  <cp:revision>1</cp:revision>
  <dcterms:created xsi:type="dcterms:W3CDTF">2026-10-01T11:27:10Z</dcterms:created>
  <dcterms:modified xsi:type="dcterms:W3CDTF">2026-10-01T11:27:10Z</dcterms:modified>
</cp:coreProperties>
</file>