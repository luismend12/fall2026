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3" r:id="rId3"/>
    <p:sldId id="257" r:id="rId4"/>
    <p:sldId id="258" r:id="rId5"/>
    <p:sldId id="259" r:id="rId6"/>
    <p:sldId id="260" r:id="rId7"/>
    <p:sldId id="261" r:id="rId8"/>
    <p:sldId id="264"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609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Luis. My project asks a simple question about graph neural networks: which edges in a graph should the model actually trust? I want to answer it with a Bayesian model that uses an LLM to read the node texts, so we get not just a decision but uncertainty about each edge.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background before the problem. A graph neural network learns a vector for each node by repeatedly looking at its neighbors. In each layer, every neighbor sends its current vector along the edge, the node aggregates those messages, for example with a degree-normalized average in a GCN, and then applies learned weights and a nonlinearity. Two layers mean information travels two hops. The task is node classification: a few nodes are labeled and the model predicts the rest. This works because of homophily: linked nodes usually share a label. But that also means the GNN trusts every edge, which is exactly the problem I want to look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GNNs work by passing messages along edges, and they assume every neighbor is reliable. In practice edges can be noisy or deliberately injected, and an attacker can add edges between nodes whose texts look related, so the fake edges are hard to spot. We have two kinds of evidence about each edge, the graph structure and the node texts, and an LLM can read the texts and judge whether a link makes sense, but its judgments are noisy and current defenses combine these signals with hand-made rules. My goal is to treat each edge's reliability as a hidden variable and infer it the Bayesian 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use four standard graphs where every node has text: Cora, CiteSeer and PubMed are citation networks of papers, and WikiCS is a network of Wikipedia computer science articles. Each node has its raw text, a topic label, and citation or hyperlink edges. To study unreliable edges, I'll inject fake edges between nodes whose texts look related, from 5 to 40 percent of the edge count, and have an LLM read both endpoint texts of every edge and rate whether the link makes sense, with SBERT similarity as a cheaper baseline. Because I inject the edges myself, I know exactly which ones are fake.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model is Bayes' rule, applied to every edge. The hidden question is whether the edge is real or injected. The prior comes from text: an LLM reads both nodes' texts and rates whether the link makes sense, and I treat that rating as noisy evidence rather than truth. The likelihood comes from structure: whether the two endpoints' representations agree during propagation. Multiplying them gives a posterior probability that the edge is real, with uncertainty. The GNN then weights each message by that posterior, its own weights get an approximate posterior too, and the result is node predictions with uncertainty.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hypotheses. One: combining the text prior with the structural likelihood finds injected edges better than either source alone, measured by AUROC. Two: a Bayesian GNN should be more uncertain on the nodes that received fake edges, and stay better calibrated as the attack grows. Three: an LLM that reads both texts should give a better prior than plain embedding similarity, and the gain should be biggest on graphs where the text predicts the labels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testable is that I inject the fake edges myself, so I know the true answer for every edge. That means I can check the edge posteriors directly against ground truth, at every attack size from 5 to 40 percent, instead of only looking at final accuracy.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 inject the fake edges myself, I can score the edge posteriors directly. For H1 and H3, fake-edge detection is measured with AUROC, the chance a random fake edge is ranked as less trustworthy than a random real one, plus AUPRC, which matters when fakes are rare. For H2, calibration is measured with expected calibration error and reliability diagrams, along with negative log-likelihood and Brier score, and uncertainty AUROC checks whether uncertainty actually flags the attacked nodes. Throughout, I also report accuracy at every attack budget.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trust the results, I'll first simulate graphs where I control which edges are fake and check that the posterior recovers them. Then I'll compare fake-edge detection using the LLM only, structure only and both, check how well calibrated the LLM's ratings are, check calibration with reliability diagrams on clean and attacked graphs, run a posterior predictive check on label agreement along edges, and compare three ways of approximating the posterior. I'm looking for one or two teammates interested in graph learning, LLMs or Bayesian modeling. Thanks!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ctr"/>
          <a:lstStyle/>
          <a:p>
            <a:pPr marL="0" indent="0">
              <a:buNone/>
            </a:pPr>
            <a:r>
              <a:rPr lang="en-US" sz="1400" b="1" kern="0" spc="400" dirty="0">
                <a:solidFill>
                  <a:srgbClr val="F2A65A"/>
                </a:solidFill>
                <a:latin typeface="Calibri" pitchFamily="34" charset="0"/>
                <a:ea typeface="Calibri" pitchFamily="34" charset="-122"/>
                <a:cs typeface="Calibri" pitchFamily="34" charset="-120"/>
              </a:rPr>
              <a:t>CSE5825 · PROJECT 0 PITCH</a:t>
            </a:r>
            <a:endParaRPr lang="en-US" sz="1400" dirty="0"/>
          </a:p>
        </p:txBody>
      </p:sp>
      <p:sp>
        <p:nvSpPr>
          <p:cNvPr id="3" name="Text 1"/>
          <p:cNvSpPr txBox="1"/>
          <p:nvPr/>
        </p:nvSpPr>
        <p:spPr>
          <a:xfrm>
            <a:off x="731520" y="1737360"/>
            <a:ext cx="7498080" cy="201168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Which edges can a GNN trust?</a:t>
            </a:r>
            <a:endParaRPr lang="en-US" sz="4800" dirty="0"/>
          </a:p>
        </p:txBody>
      </p:sp>
      <p:sp>
        <p:nvSpPr>
          <p:cNvPr id="4" name="Text 2"/>
          <p:cNvSpPr txBox="1"/>
          <p:nvPr/>
        </p:nvSpPr>
        <p:spPr>
          <a:xfrm>
            <a:off x="731520" y="3886200"/>
            <a:ext cx="7498080" cy="822960"/>
          </a:xfrm>
          <a:prstGeom prst="rect">
            <a:avLst/>
          </a:prstGeom>
          <a:noFill/>
          <a:ln/>
        </p:spPr>
        <p:txBody>
          <a:bodyPr wrap="square" lIns="0" tIns="0" rIns="0" bIns="0" rtlCol="0" anchor="t"/>
          <a:lstStyle/>
          <a:p>
            <a:pPr marL="0" indent="0">
              <a:buNone/>
            </a:pPr>
            <a:r>
              <a:rPr lang="en-US" sz="2200" dirty="0">
                <a:solidFill>
                  <a:srgbClr val="C9D2E3"/>
                </a:solidFill>
                <a:latin typeface="Calibri" pitchFamily="34" charset="0"/>
                <a:ea typeface="Calibri" pitchFamily="34" charset="-122"/>
                <a:cs typeface="Calibri" pitchFamily="34" charset="-120"/>
              </a:rPr>
              <a:t>A Bayesian view of edge reliability, with LLMs reading the node text</a:t>
            </a:r>
            <a:endParaRPr lang="en-US" sz="2200" dirty="0"/>
          </a:p>
        </p:txBody>
      </p:sp>
      <p:sp>
        <p:nvSpPr>
          <p:cNvPr id="5" name="Text 3"/>
          <p:cNvSpPr txBox="1"/>
          <p:nvPr/>
        </p:nvSpPr>
        <p:spPr>
          <a:xfrm>
            <a:off x="731520" y="5669280"/>
            <a:ext cx="5486400" cy="3657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Luis Mendez</a:t>
            </a:r>
            <a:endParaRPr lang="en-US" sz="1800" dirty="0"/>
          </a:p>
        </p:txBody>
      </p:sp>
      <p:sp>
        <p:nvSpPr>
          <p:cNvPr id="6" name="Shape 4"/>
          <p:cNvSpPr/>
          <p:nvPr/>
        </p:nvSpPr>
        <p:spPr>
          <a:xfrm>
            <a:off x="8778240" y="1828800"/>
            <a:ext cx="2743200" cy="2743200"/>
          </a:xfrm>
          <a:prstGeom prst="ellipse">
            <a:avLst/>
          </a:prstGeom>
          <a:solidFill>
            <a:srgbClr val="B4540A"/>
          </a:solidFill>
          <a:ln w="12700">
            <a:solidFill>
              <a:srgbClr val="B4540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64040" y="25146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GNN Backgroun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Background: graph neural networks</a:t>
            </a:r>
          </a:p>
        </p:txBody>
      </p:sp>
      <p:sp>
        <p:nvSpPr>
          <p:cNvPr id="3" name="Text 3"/>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2000" i="1" dirty="0">
                <a:solidFill>
                  <a:srgbClr val="14213D"/>
                </a:solidFill>
                <a:latin typeface="Cambria" pitchFamily="34" charset="0"/>
                <a:ea typeface="Cambria" pitchFamily="34" charset="-122"/>
                <a:cs typeface="Cambria" pitchFamily="34" charset="-120"/>
              </a:rPr>
              <a:t>A GNN learns a vector for each node by repeatedly mixing in its neighbors’ vectors.</a:t>
            </a:r>
          </a:p>
        </p:txBody>
      </p:sp>
      <p:sp>
        <p:nvSpPr>
          <p:cNvPr id="4" name="Shape 4"/>
          <p:cNvSpPr/>
          <p:nvPr/>
        </p:nvSpPr>
        <p:spPr>
          <a:xfrm>
            <a:off x="548640" y="1783080"/>
            <a:ext cx="4754880" cy="260604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cxnSp>
        <p:nvCxnSpPr>
          <p:cNvPr id="5" name="Arrow 5"/>
          <p:cNvCxnSpPr/>
          <p:nvPr/>
        </p:nvCxnSpPr>
        <p:spPr>
          <a:xfrm>
            <a:off x="1610295" y="2399766"/>
            <a:ext cx="946471" cy="378588"/>
          </a:xfrm>
          <a:prstGeom prst="line">
            <a:avLst/>
          </a:prstGeom>
          <a:ln w="28575">
            <a:solidFill>
              <a:srgbClr val="4A5568"/>
            </a:solidFill>
            <a:tailEnd type="triangle" w="med" len="med"/>
          </a:ln>
        </p:spPr>
      </p:cxnSp>
      <p:cxnSp>
        <p:nvCxnSpPr>
          <p:cNvPr id="6" name="Arrow 6"/>
          <p:cNvCxnSpPr/>
          <p:nvPr/>
        </p:nvCxnSpPr>
        <p:spPr>
          <a:xfrm flipV="1">
            <a:off x="1610295" y="3073806"/>
            <a:ext cx="946471" cy="378588"/>
          </a:xfrm>
          <a:prstGeom prst="line">
            <a:avLst/>
          </a:prstGeom>
          <a:ln w="28575">
            <a:solidFill>
              <a:srgbClr val="4A5568"/>
            </a:solidFill>
            <a:tailEnd type="triangle" w="med" len="med"/>
          </a:ln>
        </p:spPr>
      </p:cxnSp>
      <p:cxnSp>
        <p:nvCxnSpPr>
          <p:cNvPr id="7" name="Arrow 7"/>
          <p:cNvCxnSpPr/>
          <p:nvPr/>
        </p:nvCxnSpPr>
        <p:spPr>
          <a:xfrm flipH="1">
            <a:off x="3295395" y="2399766"/>
            <a:ext cx="946471" cy="378588"/>
          </a:xfrm>
          <a:prstGeom prst="line">
            <a:avLst/>
          </a:prstGeom>
          <a:ln w="28575">
            <a:solidFill>
              <a:srgbClr val="4A5568"/>
            </a:solidFill>
            <a:tailEnd type="triangle" w="med" len="med"/>
          </a:ln>
        </p:spPr>
      </p:cxnSp>
      <p:cxnSp>
        <p:nvCxnSpPr>
          <p:cNvPr id="8" name="Arrow 8"/>
          <p:cNvCxnSpPr/>
          <p:nvPr/>
        </p:nvCxnSpPr>
        <p:spPr>
          <a:xfrm flipH="1" flipV="1">
            <a:off x="3295395" y="3073806"/>
            <a:ext cx="946471" cy="378588"/>
          </a:xfrm>
          <a:prstGeom prst="line">
            <a:avLst/>
          </a:prstGeom>
          <a:ln w="28575">
            <a:solidFill>
              <a:srgbClr val="4A5568"/>
            </a:solidFill>
            <a:tailEnd type="triangle" w="med" len="med"/>
          </a:ln>
        </p:spPr>
      </p:cxnSp>
      <p:sp>
        <p:nvSpPr>
          <p:cNvPr id="9" name="Shape 9"/>
          <p:cNvSpPr/>
          <p:nvPr/>
        </p:nvSpPr>
        <p:spPr>
          <a:xfrm>
            <a:off x="1074420" y="203454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0" name="Shape 10"/>
          <p:cNvSpPr/>
          <p:nvPr/>
        </p:nvSpPr>
        <p:spPr>
          <a:xfrm>
            <a:off x="1074420" y="331470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1" name="Shape 11"/>
          <p:cNvSpPr/>
          <p:nvPr/>
        </p:nvSpPr>
        <p:spPr>
          <a:xfrm>
            <a:off x="4274820" y="203454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2" name="Shape 12"/>
          <p:cNvSpPr/>
          <p:nvPr/>
        </p:nvSpPr>
        <p:spPr>
          <a:xfrm>
            <a:off x="4274820" y="331470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3" name="Shape 13"/>
          <p:cNvSpPr/>
          <p:nvPr/>
        </p:nvSpPr>
        <p:spPr>
          <a:xfrm>
            <a:off x="2583180" y="2583180"/>
            <a:ext cx="685800" cy="685800"/>
          </a:xfrm>
          <a:prstGeom prst="ellipse">
            <a:avLst/>
          </a:prstGeom>
          <a:solidFill>
            <a:srgbClr val="B4540A"/>
          </a:solidFill>
          <a:ln w="19050">
            <a:solidFill>
              <a:srgbClr val="B4540A"/>
            </a:solidFill>
          </a:ln>
        </p:spPr>
        <p:txBody>
          <a:bodyPr lIns="0" tIns="0" rIns="0" bIns="0" anchor="ctr"/>
          <a:lstStyle/>
          <a:p>
            <a:pPr marL="0" indent="0" algn="ctr">
              <a:buNone/>
            </a:pPr>
            <a:r>
              <a:rPr lang="en-US" sz="2000" b="1" i="1" dirty="0">
                <a:solidFill>
                  <a:srgbClr val="FFFFFF"/>
                </a:solidFill>
                <a:latin typeface="Cambria" pitchFamily="34" charset="0"/>
                <a:ea typeface="Cambria" pitchFamily="34" charset="-122"/>
                <a:cs typeface="Cambria" pitchFamily="34" charset="-120"/>
              </a:rPr>
              <a:t>i</a:t>
            </a:r>
          </a:p>
        </p:txBody>
      </p:sp>
      <p:sp>
        <p:nvSpPr>
          <p:cNvPr id="14" name="Text 14"/>
          <p:cNvSpPr txBox="1"/>
          <p:nvPr/>
        </p:nvSpPr>
        <p:spPr>
          <a:xfrm>
            <a:off x="777240" y="4005072"/>
            <a:ext cx="4297680" cy="27432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Each arrow carries a message h</a:t>
            </a:r>
            <a:r>
              <a:rPr lang="en-US" sz="1200" baseline="-25000" dirty="0">
                <a:solidFill>
                  <a:srgbClr val="4A5568"/>
                </a:solidFill>
                <a:latin typeface="Calibri" pitchFamily="34" charset="0"/>
                <a:ea typeface="Calibri" pitchFamily="34" charset="-122"/>
                <a:cs typeface="Calibri" pitchFamily="34" charset="-120"/>
              </a:rPr>
              <a:t>j</a:t>
            </a:r>
            <a:r>
              <a:rPr lang="en-US" sz="1200" dirty="0">
                <a:solidFill>
                  <a:srgbClr val="4A5568"/>
                </a:solidFill>
                <a:latin typeface="Calibri" pitchFamily="34" charset="0"/>
                <a:ea typeface="Calibri" pitchFamily="34" charset="-122"/>
                <a:cs typeface="Calibri" pitchFamily="34" charset="-120"/>
              </a:rPr>
              <a:t> from a neighbor into node i</a:t>
            </a:r>
          </a:p>
        </p:txBody>
      </p:sp>
      <p:sp>
        <p:nvSpPr>
          <p:cNvPr id="15" name="Shape 15"/>
          <p:cNvSpPr/>
          <p:nvPr/>
        </p:nvSpPr>
        <p:spPr>
          <a:xfrm>
            <a:off x="548640" y="4617720"/>
            <a:ext cx="4754880" cy="128016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6" name="Text 16"/>
          <p:cNvSpPr txBox="1"/>
          <p:nvPr/>
        </p:nvSpPr>
        <p:spPr>
          <a:xfrm>
            <a:off x="777240" y="4754880"/>
            <a:ext cx="4297680" cy="10515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WHY IT WORKS: HOMOPHILY</a:t>
            </a:r>
          </a:p>
          <a:p>
            <a:pPr marL="0" indent="0">
              <a:buNone/>
            </a:pPr>
            <a:r>
              <a:rPr lang="en-US" sz="1500" dirty="0">
                <a:solidFill>
                  <a:srgbClr val="14213D"/>
                </a:solidFill>
                <a:latin typeface="Calibri" pitchFamily="34" charset="0"/>
                <a:ea typeface="Calibri" pitchFamily="34" charset="-122"/>
                <a:cs typeface="Calibri" pitchFamily="34" charset="-120"/>
              </a:rPr>
              <a:t>Linked nodes usually share a label, so neighbors are good evidence. A wrong edge pulls a node toward the wrong class.</a:t>
            </a:r>
          </a:p>
        </p:txBody>
      </p:sp>
      <p:sp>
        <p:nvSpPr>
          <p:cNvPr id="17" name="Shape 17"/>
          <p:cNvSpPr/>
          <p:nvPr/>
        </p:nvSpPr>
        <p:spPr>
          <a:xfrm>
            <a:off x="5852160" y="17830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p>
        </p:txBody>
      </p:sp>
      <p:sp>
        <p:nvSpPr>
          <p:cNvPr id="18" name="Text 18"/>
          <p:cNvSpPr txBox="1"/>
          <p:nvPr/>
        </p:nvSpPr>
        <p:spPr>
          <a:xfrm>
            <a:off x="6629400" y="17556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Message</a:t>
            </a:r>
          </a:p>
          <a:p>
            <a:pPr marL="0" indent="0">
              <a:buNone/>
            </a:pPr>
            <a:r>
              <a:rPr lang="en-US" sz="1400" dirty="0">
                <a:solidFill>
                  <a:srgbClr val="4A5568"/>
                </a:solidFill>
                <a:latin typeface="Calibri" pitchFamily="34" charset="0"/>
                <a:ea typeface="Calibri" pitchFamily="34" charset="-122"/>
                <a:cs typeface="Calibri" pitchFamily="34" charset="-120"/>
              </a:rPr>
              <a:t>Each neighbor j sends its current vector h</a:t>
            </a:r>
            <a:r>
              <a:rPr lang="en-US" sz="1400" baseline="-25000" dirty="0">
                <a:solidFill>
                  <a:srgbClr val="4A5568"/>
                </a:solidFill>
                <a:latin typeface="Calibri" pitchFamily="34" charset="0"/>
                <a:ea typeface="Calibri" pitchFamily="34" charset="-122"/>
                <a:cs typeface="Calibri" pitchFamily="34" charset="-120"/>
              </a:rPr>
              <a:t>j</a:t>
            </a:r>
            <a:r>
              <a:rPr lang="en-US" sz="1400" dirty="0">
                <a:solidFill>
                  <a:srgbClr val="4A5568"/>
                </a:solidFill>
                <a:latin typeface="Calibri" pitchFamily="34" charset="0"/>
                <a:ea typeface="Calibri" pitchFamily="34" charset="-122"/>
                <a:cs typeface="Calibri" pitchFamily="34" charset="-120"/>
              </a:rPr>
              <a:t> along the edge (i, j).</a:t>
            </a:r>
          </a:p>
        </p:txBody>
      </p:sp>
      <p:sp>
        <p:nvSpPr>
          <p:cNvPr id="19" name="Shape 19"/>
          <p:cNvSpPr/>
          <p:nvPr/>
        </p:nvSpPr>
        <p:spPr>
          <a:xfrm>
            <a:off x="5852160" y="26974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p>
        </p:txBody>
      </p:sp>
      <p:sp>
        <p:nvSpPr>
          <p:cNvPr id="20" name="Text 20"/>
          <p:cNvSpPr txBox="1"/>
          <p:nvPr/>
        </p:nvSpPr>
        <p:spPr>
          <a:xfrm>
            <a:off x="6629400" y="26700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Aggregate</a:t>
            </a:r>
          </a:p>
          <a:p>
            <a:pPr marL="0" indent="0">
              <a:buNone/>
            </a:pPr>
            <a:r>
              <a:rPr lang="en-US" sz="1400" dirty="0">
                <a:solidFill>
                  <a:srgbClr val="4A5568"/>
                </a:solidFill>
                <a:latin typeface="Calibri" pitchFamily="34" charset="0"/>
                <a:ea typeface="Calibri" pitchFamily="34" charset="-122"/>
                <a:cs typeface="Calibri" pitchFamily="34" charset="-120"/>
              </a:rPr>
              <a:t>Node i combines incoming messages, e.g. a degree-normalized average (GCN) or learned attention weights (GAT).</a:t>
            </a:r>
          </a:p>
        </p:txBody>
      </p:sp>
      <p:sp>
        <p:nvSpPr>
          <p:cNvPr id="21" name="Shape 21"/>
          <p:cNvSpPr/>
          <p:nvPr/>
        </p:nvSpPr>
        <p:spPr>
          <a:xfrm>
            <a:off x="5852160" y="36118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p>
        </p:txBody>
      </p:sp>
      <p:sp>
        <p:nvSpPr>
          <p:cNvPr id="22" name="Text 22"/>
          <p:cNvSpPr txBox="1"/>
          <p:nvPr/>
        </p:nvSpPr>
        <p:spPr>
          <a:xfrm>
            <a:off x="6629400" y="35844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Update</a:t>
            </a:r>
          </a:p>
          <a:p>
            <a:pPr marL="0" indent="0">
              <a:buNone/>
            </a:pPr>
            <a:r>
              <a:rPr lang="en-US" sz="1400" dirty="0">
                <a:solidFill>
                  <a:srgbClr val="4A5568"/>
                </a:solidFill>
                <a:latin typeface="Calibri" pitchFamily="34" charset="0"/>
                <a:ea typeface="Calibri" pitchFamily="34" charset="-122"/>
                <a:cs typeface="Calibri" pitchFamily="34" charset="-120"/>
              </a:rPr>
              <a:t>Apply learned weights W and a nonlinearity. Two layers let information travel two hops.</a:t>
            </a:r>
          </a:p>
        </p:txBody>
      </p:sp>
      <p:sp>
        <p:nvSpPr>
          <p:cNvPr id="23" name="Shape 23"/>
          <p:cNvSpPr/>
          <p:nvPr/>
        </p:nvSpPr>
        <p:spPr>
          <a:xfrm>
            <a:off x="5852160" y="4617720"/>
            <a:ext cx="5760720" cy="128016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24" name="Text 24"/>
          <p:cNvSpPr txBox="1"/>
          <p:nvPr/>
        </p:nvSpPr>
        <p:spPr>
          <a:xfrm>
            <a:off x="6080760" y="4754880"/>
            <a:ext cx="5303520" cy="10515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ONE GCN LAYER</a:t>
            </a:r>
          </a:p>
          <a:p>
            <a:pPr marL="0" indent="0">
              <a:spcAft>
                <a:spcPts val="500"/>
              </a:spcAft>
              <a:buNone/>
            </a:pP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i</a:t>
            </a:r>
            <a:r>
              <a:rPr lang="en-US" sz="1800" baseline="30000" dirty="0">
                <a:solidFill>
                  <a:srgbClr val="14213D"/>
                </a:solidFill>
                <a:latin typeface="Cambria" pitchFamily="34" charset="0"/>
                <a:ea typeface="Cambria" pitchFamily="34" charset="-122"/>
                <a:cs typeface="Cambria" pitchFamily="34" charset="-120"/>
              </a:rPr>
              <a:t>(ℓ+1)</a:t>
            </a:r>
            <a:r>
              <a:rPr lang="en-US" sz="1800" dirty="0">
                <a:solidFill>
                  <a:srgbClr val="14213D"/>
                </a:solidFill>
                <a:latin typeface="Cambria" pitchFamily="34" charset="0"/>
                <a:ea typeface="Cambria" pitchFamily="34" charset="-122"/>
                <a:cs typeface="Cambria" pitchFamily="34" charset="-120"/>
              </a:rPr>
              <a:t> = σ( Σ</a:t>
            </a:r>
            <a:r>
              <a:rPr lang="en-US" sz="1800" baseline="-25000" dirty="0">
                <a:solidFill>
                  <a:srgbClr val="14213D"/>
                </a:solidFill>
                <a:latin typeface="Cambria" pitchFamily="34" charset="0"/>
                <a:ea typeface="Cambria" pitchFamily="34" charset="-122"/>
                <a:cs typeface="Cambria" pitchFamily="34" charset="-120"/>
              </a:rPr>
              <a:t>j ∈ N(i) ∪ {i}</a:t>
            </a:r>
            <a:r>
              <a:rPr lang="en-US" sz="1800" dirty="0">
                <a:solidFill>
                  <a:srgbClr val="14213D"/>
                </a:solidFill>
                <a:latin typeface="Cambria" pitchFamily="34" charset="0"/>
                <a:ea typeface="Cambria" pitchFamily="34" charset="-122"/>
                <a:cs typeface="Cambria" pitchFamily="34" charset="-120"/>
              </a:rPr>
              <a:t>  </a:t>
            </a:r>
            <a:r>
              <a:rPr lang="en-US" sz="1800" i="1" dirty="0">
                <a:solidFill>
                  <a:srgbClr val="14213D"/>
                </a:solidFill>
                <a:latin typeface="Cambria" pitchFamily="34" charset="0"/>
                <a:ea typeface="Cambria" pitchFamily="34" charset="-122"/>
                <a:cs typeface="Cambria" pitchFamily="34" charset="-120"/>
              </a:rPr>
              <a:t>W</a:t>
            </a:r>
            <a:r>
              <a:rPr lang="en-US" sz="1800" baseline="30000" dirty="0">
                <a:solidFill>
                  <a:srgbClr val="14213D"/>
                </a:solidFill>
                <a:latin typeface="Cambria" pitchFamily="34" charset="0"/>
                <a:ea typeface="Cambria" pitchFamily="34" charset="-122"/>
                <a:cs typeface="Cambria" pitchFamily="34" charset="-120"/>
              </a:rPr>
              <a:t>(ℓ)</a:t>
            </a: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j</a:t>
            </a:r>
            <a:r>
              <a:rPr lang="en-US" sz="1800" baseline="30000" dirty="0">
                <a:solidFill>
                  <a:srgbClr val="14213D"/>
                </a:solidFill>
                <a:latin typeface="Cambria" pitchFamily="34" charset="0"/>
                <a:ea typeface="Cambria" pitchFamily="34" charset="-122"/>
                <a:cs typeface="Cambria" pitchFamily="34" charset="-120"/>
              </a:rPr>
              <a:t>(ℓ)</a:t>
            </a:r>
            <a:r>
              <a:rPr lang="en-US" sz="1800" dirty="0">
                <a:solidFill>
                  <a:srgbClr val="14213D"/>
                </a:solidFill>
                <a:latin typeface="Cambria" pitchFamily="34" charset="0"/>
                <a:ea typeface="Cambria" pitchFamily="34" charset="-122"/>
                <a:cs typeface="Cambria" pitchFamily="34" charset="-120"/>
              </a:rPr>
              <a:t> / √(d</a:t>
            </a:r>
            <a:r>
              <a:rPr lang="en-US" sz="1800" baseline="-25000" dirty="0">
                <a:solidFill>
                  <a:srgbClr val="14213D"/>
                </a:solidFill>
                <a:latin typeface="Cambria" pitchFamily="34" charset="0"/>
                <a:ea typeface="Cambria" pitchFamily="34" charset="-122"/>
                <a:cs typeface="Cambria" pitchFamily="34" charset="-120"/>
              </a:rPr>
              <a:t>i</a:t>
            </a:r>
            <a:r>
              <a:rPr lang="en-US" sz="1800" dirty="0">
                <a:solidFill>
                  <a:srgbClr val="14213D"/>
                </a:solidFill>
                <a:latin typeface="Cambria" pitchFamily="34" charset="0"/>
                <a:ea typeface="Cambria" pitchFamily="34" charset="-122"/>
                <a:cs typeface="Cambria" pitchFamily="34" charset="-120"/>
              </a:rPr>
              <a:t>d</a:t>
            </a:r>
            <a:r>
              <a:rPr lang="en-US" sz="1800" baseline="-25000" dirty="0">
                <a:solidFill>
                  <a:srgbClr val="14213D"/>
                </a:solidFill>
                <a:latin typeface="Cambria" pitchFamily="34" charset="0"/>
                <a:ea typeface="Cambria" pitchFamily="34" charset="-122"/>
                <a:cs typeface="Cambria" pitchFamily="34" charset="-120"/>
              </a:rPr>
              <a:t>j</a:t>
            </a:r>
            <a:r>
              <a:rPr lang="en-US" sz="1800" dirty="0">
                <a:solidFill>
                  <a:srgbClr val="14213D"/>
                </a:solidFill>
                <a:latin typeface="Cambria" pitchFamily="34" charset="0"/>
                <a:ea typeface="Cambria" pitchFamily="34" charset="-122"/>
                <a:cs typeface="Cambria" pitchFamily="34" charset="-120"/>
              </a:rPr>
              <a:t>) )</a:t>
            </a:r>
          </a:p>
          <a:p>
            <a:pPr marL="0" indent="0">
              <a:buNone/>
            </a:pPr>
            <a:r>
              <a:rPr lang="en-US" sz="1200" dirty="0">
                <a:solidFill>
                  <a:srgbClr val="4A5568"/>
                </a:solidFill>
                <a:latin typeface="Calibri" pitchFamily="34" charset="0"/>
                <a:ea typeface="Calibri" pitchFamily="34" charset="-122"/>
                <a:cs typeface="Calibri" pitchFamily="34" charset="-120"/>
              </a:rPr>
              <a:t>N(i) = neighbors of i, d = degree (with self-loop), σ = nonlinearity</a:t>
            </a:r>
          </a:p>
        </p:txBody>
      </p:sp>
      <p:sp>
        <p:nvSpPr>
          <p:cNvPr id="25" name="Text 25"/>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p>
        </p:txBody>
      </p:sp>
      <p:sp>
        <p:nvSpPr>
          <p:cNvPr id="26" name="Text 26"/>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Motivation</a:t>
            </a:r>
            <a:endParaRPr lang="en-US" sz="3600" dirty="0"/>
          </a:p>
        </p:txBody>
      </p:sp>
      <p:sp>
        <p:nvSpPr>
          <p:cNvPr id="3" name="Text 1"/>
          <p:cNvSpPr txBox="1"/>
          <p:nvPr/>
        </p:nvSpPr>
        <p:spPr>
          <a:xfrm>
            <a:off x="548640" y="1463040"/>
            <a:ext cx="5029200" cy="2194560"/>
          </a:xfrm>
          <a:prstGeom prst="rect">
            <a:avLst/>
          </a:prstGeom>
          <a:noFill/>
          <a:ln/>
        </p:spPr>
        <p:txBody>
          <a:bodyPr wrap="square" lIns="0" tIns="0" rIns="0" bIns="0" rtlCol="0" anchor="t"/>
          <a:lstStyle/>
          <a:p>
            <a:pPr marL="0" indent="0">
              <a:buNone/>
            </a:pPr>
            <a:r>
              <a:rPr lang="en-US" sz="2600" i="1" dirty="0">
                <a:solidFill>
                  <a:srgbClr val="14213D"/>
                </a:solidFill>
                <a:latin typeface="Cambria" pitchFamily="34" charset="0"/>
                <a:ea typeface="Cambria" pitchFamily="34" charset="-122"/>
                <a:cs typeface="Cambria" pitchFamily="34" charset="-120"/>
              </a:rPr>
              <a:t>GNNs learn by passing messages along edges. But what if some edges are wrong?</a:t>
            </a:r>
            <a:endParaRPr lang="en-US" sz="2600" dirty="0"/>
          </a:p>
        </p:txBody>
      </p:sp>
      <p:sp>
        <p:nvSpPr>
          <p:cNvPr id="4" name="Shape 2"/>
          <p:cNvSpPr/>
          <p:nvPr/>
        </p:nvSpPr>
        <p:spPr>
          <a:xfrm>
            <a:off x="548640" y="4206240"/>
            <a:ext cx="5029200" cy="1325880"/>
          </a:xfrm>
          <a:prstGeom prst="roundRect">
            <a:avLst>
              <a:gd name="adj" fmla="val 8276"/>
            </a:avLst>
          </a:prstGeom>
          <a:solidFill>
            <a:srgbClr val="F4F5F8"/>
          </a:solidFill>
          <a:ln w="12700">
            <a:solidFill>
              <a:srgbClr val="F4F5F8"/>
            </a:solidFill>
            <a:prstDash val="solid"/>
          </a:ln>
        </p:spPr>
        <p:txBody>
          <a:bodyPr/>
          <a:lstStyle/>
          <a:p>
            <a:endParaRPr lang="en-US"/>
          </a:p>
        </p:txBody>
      </p:sp>
      <p:sp>
        <p:nvSpPr>
          <p:cNvPr id="5" name="Text 3"/>
          <p:cNvSpPr txBox="1"/>
          <p:nvPr/>
        </p:nvSpPr>
        <p:spPr>
          <a:xfrm>
            <a:off x="822960" y="4389120"/>
            <a:ext cx="4480560" cy="100584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GOAL</a:t>
            </a:r>
            <a:endParaRPr lang="en-US" sz="1300" dirty="0"/>
          </a:p>
          <a:p>
            <a:pPr marL="0" indent="0">
              <a:spcAft>
                <a:spcPts val="600"/>
              </a:spcAft>
              <a:buNone/>
            </a:pPr>
            <a:r>
              <a:rPr lang="en-US" sz="1800" dirty="0">
                <a:solidFill>
                  <a:srgbClr val="14213D"/>
                </a:solidFill>
                <a:latin typeface="Calibri" pitchFamily="34" charset="0"/>
                <a:ea typeface="Calibri" pitchFamily="34" charset="-122"/>
                <a:cs typeface="Calibri" pitchFamily="34" charset="-120"/>
              </a:rPr>
              <a:t>Treat each edge’s reliability as a hidden variable, and infer it with uncertainty.</a:t>
            </a:r>
            <a:endParaRPr lang="en-US" sz="1300" dirty="0"/>
          </a:p>
        </p:txBody>
      </p:sp>
      <p:sp>
        <p:nvSpPr>
          <p:cNvPr id="6" name="Shape 4"/>
          <p:cNvSpPr/>
          <p:nvPr/>
        </p:nvSpPr>
        <p:spPr>
          <a:xfrm>
            <a:off x="6217920" y="14630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400800" y="1645920"/>
            <a:ext cx="365760" cy="365760"/>
          </a:xfrm>
          <a:prstGeom prst="rect">
            <a:avLst/>
          </a:prstGeom>
        </p:spPr>
      </p:pic>
      <p:sp>
        <p:nvSpPr>
          <p:cNvPr id="8" name="Text 5"/>
          <p:cNvSpPr txBox="1"/>
          <p:nvPr/>
        </p:nvSpPr>
        <p:spPr>
          <a:xfrm>
            <a:off x="7178040" y="141732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GNNs trust every edge</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Message passing assumes each neighbor is reliable evidence about a node.</a:t>
            </a:r>
            <a:endParaRPr lang="en-US" sz="1800" dirty="0"/>
          </a:p>
        </p:txBody>
      </p:sp>
      <p:sp>
        <p:nvSpPr>
          <p:cNvPr id="9" name="Shape 6"/>
          <p:cNvSpPr/>
          <p:nvPr/>
        </p:nvSpPr>
        <p:spPr>
          <a:xfrm>
            <a:off x="6217920" y="292608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400800" y="3108960"/>
            <a:ext cx="365760" cy="365760"/>
          </a:xfrm>
          <a:prstGeom prst="rect">
            <a:avLst/>
          </a:prstGeom>
        </p:spPr>
      </p:pic>
      <p:sp>
        <p:nvSpPr>
          <p:cNvPr id="11" name="Text 7"/>
          <p:cNvSpPr txBox="1"/>
          <p:nvPr/>
        </p:nvSpPr>
        <p:spPr>
          <a:xfrm>
            <a:off x="7178040" y="288036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Edges can be noisy or attacked</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An attacker can add edges between nodes whose texts look related, which are hard to spot.</a:t>
            </a:r>
            <a:endParaRPr lang="en-US" sz="1800" dirty="0"/>
          </a:p>
        </p:txBody>
      </p:sp>
      <p:sp>
        <p:nvSpPr>
          <p:cNvPr id="12" name="Shape 8"/>
          <p:cNvSpPr/>
          <p:nvPr/>
        </p:nvSpPr>
        <p:spPr>
          <a:xfrm>
            <a:off x="6217920" y="438912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400800" y="4572000"/>
            <a:ext cx="365760" cy="365760"/>
          </a:xfrm>
          <a:prstGeom prst="rect">
            <a:avLst/>
          </a:prstGeom>
        </p:spPr>
      </p:pic>
      <p:sp>
        <p:nvSpPr>
          <p:cNvPr id="14" name="Text 9"/>
          <p:cNvSpPr txBox="1"/>
          <p:nvPr/>
        </p:nvSpPr>
        <p:spPr>
          <a:xfrm>
            <a:off x="7178040" y="434340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Two kinds of evidence, no principled mix</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Structure and text both say something about an edge. An LLM can read the texts, but its judgments are noisy.</a:t>
            </a:r>
            <a:endParaRPr lang="en-US" sz="1800" dirty="0"/>
          </a:p>
        </p:txBody>
      </p:sp>
      <p:sp>
        <p:nvSpPr>
          <p:cNvPr id="15" name="Text 10"/>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6" name="Text 11"/>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Datasets: four text-attributed graphs</a:t>
            </a:r>
            <a:endParaRPr lang="en-US" sz="3600" dirty="0"/>
          </a:p>
        </p:txBody>
      </p:sp>
      <p:sp>
        <p:nvSpPr>
          <p:cNvPr id="3" name="Text 1"/>
          <p:cNvSpPr txBox="1"/>
          <p:nvPr/>
        </p:nvSpPr>
        <p:spPr>
          <a:xfrm>
            <a:off x="548640"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Cora</a:t>
            </a:r>
            <a:endParaRPr lang="en-US" sz="3400" dirty="0"/>
          </a:p>
        </p:txBody>
      </p:sp>
      <p:sp>
        <p:nvSpPr>
          <p:cNvPr id="4" name="Text 2"/>
          <p:cNvSpPr txBox="1"/>
          <p:nvPr/>
        </p:nvSpPr>
        <p:spPr>
          <a:xfrm>
            <a:off x="548640"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2,708 nodes · 5,429 edges · 7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ML paper citations</a:t>
            </a:r>
            <a:endParaRPr lang="en-US" sz="1400" dirty="0"/>
          </a:p>
        </p:txBody>
      </p:sp>
      <p:sp>
        <p:nvSpPr>
          <p:cNvPr id="5" name="Text 3"/>
          <p:cNvSpPr txBox="1"/>
          <p:nvPr/>
        </p:nvSpPr>
        <p:spPr>
          <a:xfrm>
            <a:off x="3364992"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CiteSeer</a:t>
            </a:r>
            <a:endParaRPr lang="en-US" sz="3400" dirty="0"/>
          </a:p>
        </p:txBody>
      </p:sp>
      <p:sp>
        <p:nvSpPr>
          <p:cNvPr id="6" name="Text 4"/>
          <p:cNvSpPr txBox="1"/>
          <p:nvPr/>
        </p:nvSpPr>
        <p:spPr>
          <a:xfrm>
            <a:off x="3364992"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3,327 nodes · 4,732 edges · 6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CS paper citations</a:t>
            </a:r>
            <a:endParaRPr lang="en-US" sz="1400" dirty="0"/>
          </a:p>
        </p:txBody>
      </p:sp>
      <p:sp>
        <p:nvSpPr>
          <p:cNvPr id="7" name="Text 5"/>
          <p:cNvSpPr txBox="1"/>
          <p:nvPr/>
        </p:nvSpPr>
        <p:spPr>
          <a:xfrm>
            <a:off x="6181344"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PubMed</a:t>
            </a:r>
            <a:endParaRPr lang="en-US" sz="3400" dirty="0"/>
          </a:p>
        </p:txBody>
      </p:sp>
      <p:sp>
        <p:nvSpPr>
          <p:cNvPr id="8" name="Text 6"/>
          <p:cNvSpPr txBox="1"/>
          <p:nvPr/>
        </p:nvSpPr>
        <p:spPr>
          <a:xfrm>
            <a:off x="6181344"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19,717 nodes · 44,338 edges · 3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diabetes paper citations</a:t>
            </a:r>
            <a:endParaRPr lang="en-US" sz="1400" dirty="0"/>
          </a:p>
        </p:txBody>
      </p:sp>
      <p:sp>
        <p:nvSpPr>
          <p:cNvPr id="9" name="Text 7"/>
          <p:cNvSpPr txBox="1"/>
          <p:nvPr/>
        </p:nvSpPr>
        <p:spPr>
          <a:xfrm>
            <a:off x="8997696"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WikiCS</a:t>
            </a:r>
            <a:endParaRPr lang="en-US" sz="3400" dirty="0"/>
          </a:p>
        </p:txBody>
      </p:sp>
      <p:sp>
        <p:nvSpPr>
          <p:cNvPr id="10" name="Text 8"/>
          <p:cNvSpPr txBox="1"/>
          <p:nvPr/>
        </p:nvSpPr>
        <p:spPr>
          <a:xfrm>
            <a:off x="8997696"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11,701 nodes · 216,123 edges · 10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Wikipedia CS articles</a:t>
            </a:r>
            <a:endParaRPr lang="en-US" sz="1400" dirty="0"/>
          </a:p>
        </p:txBody>
      </p:sp>
      <p:sp>
        <p:nvSpPr>
          <p:cNvPr id="11" name="Shape 9"/>
          <p:cNvSpPr/>
          <p:nvPr/>
        </p:nvSpPr>
        <p:spPr>
          <a:xfrm>
            <a:off x="548640" y="3246120"/>
            <a:ext cx="5440680" cy="2743200"/>
          </a:xfrm>
          <a:prstGeom prst="roundRect">
            <a:avLst>
              <a:gd name="adj" fmla="val 4000"/>
            </a:avLst>
          </a:prstGeom>
          <a:solidFill>
            <a:srgbClr val="F4F5F8"/>
          </a:solidFill>
          <a:ln w="12700">
            <a:solidFill>
              <a:srgbClr val="F4F5F8"/>
            </a:solidFill>
            <a:prstDash val="solid"/>
          </a:ln>
        </p:spPr>
        <p:txBody>
          <a:bodyPr/>
          <a:lstStyle/>
          <a:p>
            <a:endParaRPr lang="en-US"/>
          </a:p>
        </p:txBody>
      </p:sp>
      <p:sp>
        <p:nvSpPr>
          <p:cNvPr id="12" name="Text 10"/>
          <p:cNvSpPr txBox="1"/>
          <p:nvPr/>
        </p:nvSpPr>
        <p:spPr>
          <a:xfrm>
            <a:off x="822960" y="3429000"/>
            <a:ext cx="493776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Each node comes with</a:t>
            </a:r>
            <a:endParaRPr lang="en-US" sz="1800" dirty="0"/>
          </a:p>
        </p:txBody>
      </p:sp>
      <p:sp>
        <p:nvSpPr>
          <p:cNvPr id="13" name="Text 11"/>
          <p:cNvSpPr txBox="1"/>
          <p:nvPr/>
        </p:nvSpPr>
        <p:spPr>
          <a:xfrm>
            <a:off x="822960" y="38862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Raw text: a paper’s title and abstract, or an article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 class label (the paper’s or article’s topic)</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Edges: citations or hyperlinks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Standard train / validation / test splits</a:t>
            </a:r>
            <a:endParaRPr lang="en-US" sz="1500" dirty="0"/>
          </a:p>
        </p:txBody>
      </p:sp>
      <p:sp>
        <p:nvSpPr>
          <p:cNvPr id="14" name="Shape 12"/>
          <p:cNvSpPr/>
          <p:nvPr/>
        </p:nvSpPr>
        <p:spPr>
          <a:xfrm>
            <a:off x="6199632" y="3246120"/>
            <a:ext cx="5440680" cy="2743200"/>
          </a:xfrm>
          <a:prstGeom prst="roundRect">
            <a:avLst>
              <a:gd name="adj" fmla="val 4000"/>
            </a:avLst>
          </a:prstGeom>
          <a:solidFill>
            <a:srgbClr val="14213D"/>
          </a:solidFill>
          <a:ln w="12700">
            <a:solidFill>
              <a:srgbClr val="14213D"/>
            </a:solidFill>
            <a:prstDash val="solid"/>
          </a:ln>
        </p:spPr>
        <p:txBody>
          <a:bodyPr/>
          <a:lstStyle/>
          <a:p>
            <a:endParaRPr lang="en-US"/>
          </a:p>
        </p:txBody>
      </p:sp>
      <p:sp>
        <p:nvSpPr>
          <p:cNvPr id="15" name="Text 13"/>
          <p:cNvSpPr txBox="1"/>
          <p:nvPr/>
        </p:nvSpPr>
        <p:spPr>
          <a:xfrm>
            <a:off x="6473952" y="3429000"/>
            <a:ext cx="4937760" cy="411480"/>
          </a:xfrm>
          <a:prstGeom prst="rect">
            <a:avLst/>
          </a:prstGeom>
          <a:noFill/>
          <a:ln/>
        </p:spPr>
        <p:txBody>
          <a:bodyPr wrap="square" lIns="0" tIns="0" rIns="0" bIns="0" rtlCol="0" anchor="ctr"/>
          <a:lstStyle/>
          <a:p>
            <a:pPr marL="0" indent="0">
              <a:buNone/>
            </a:pPr>
            <a:r>
              <a:rPr lang="en-US" sz="1800" b="1" dirty="0">
                <a:solidFill>
                  <a:srgbClr val="F2A65A"/>
                </a:solidFill>
                <a:latin typeface="Calibri" pitchFamily="34" charset="0"/>
                <a:ea typeface="Calibri" pitchFamily="34" charset="-122"/>
                <a:cs typeface="Calibri" pitchFamily="34" charset="-120"/>
              </a:rPr>
              <a:t>What I add</a:t>
            </a:r>
            <a:endParaRPr lang="en-US" sz="1800" dirty="0"/>
          </a:p>
        </p:txBody>
      </p:sp>
      <p:sp>
        <p:nvSpPr>
          <p:cNvPr id="16" name="Text 14"/>
          <p:cNvSpPr txBox="1"/>
          <p:nvPr/>
        </p:nvSpPr>
        <p:spPr>
          <a:xfrm>
            <a:off x="6473952" y="3886200"/>
            <a:ext cx="4937760" cy="1920240"/>
          </a:xfrm>
          <a:prstGeom prst="rect">
            <a:avLst/>
          </a:prstGeom>
          <a:noFill/>
          <a:ln/>
        </p:spPr>
        <p:txBody>
          <a:bodyPr wrap="square" lIns="0" tIns="0" rIns="0" bIns="0" rtlCol="0" anchor="t"/>
          <a:lstStyle/>
          <a:p>
            <a:pPr marL="0" indent="0">
              <a:spcAft>
                <a:spcPts val="1000"/>
              </a:spcAft>
              <a:buNone/>
            </a:pPr>
            <a:r>
              <a:rPr lang="en-US" sz="1600" dirty="0">
                <a:solidFill>
                  <a:srgbClr val="FFFFFF"/>
                </a:solidFill>
                <a:latin typeface="Calibri" pitchFamily="34" charset="0"/>
                <a:ea typeface="Calibri" pitchFamily="34" charset="-122"/>
                <a:cs typeface="Calibri" pitchFamily="34" charset="-120"/>
              </a:rPr>
              <a:t>Injected edges between textually similar non-neighbors, at 5–40% of the edge count</a:t>
            </a:r>
            <a:endParaRPr lang="en-US" sz="1600" dirty="0"/>
          </a:p>
          <a:p>
            <a:pPr marL="0" indent="0">
              <a:spcAft>
                <a:spcPts val="1000"/>
              </a:spcAft>
              <a:buNone/>
            </a:pPr>
            <a:r>
              <a:rPr lang="en-US" sz="1600" dirty="0">
                <a:solidFill>
                  <a:srgbClr val="FFFFFF"/>
                </a:solidFill>
                <a:latin typeface="Calibri" pitchFamily="34" charset="0"/>
                <a:ea typeface="Calibri" pitchFamily="34" charset="-122"/>
                <a:cs typeface="Calibri" pitchFamily="34" charset="-120"/>
              </a:rPr>
              <a:t>An LLM score for every edge: it reads both texts and rates whether the link makes sense (SBERT similarity as a cheaper baseline)</a:t>
            </a:r>
            <a:endParaRPr lang="en-US" sz="1600" dirty="0"/>
          </a:p>
          <a:p>
            <a:pPr marL="0" indent="0">
              <a:spcAft>
                <a:spcPts val="1000"/>
              </a:spcAft>
              <a:buNone/>
            </a:pPr>
            <a:r>
              <a:rPr lang="en-US" sz="1600" b="1" dirty="0">
                <a:solidFill>
                  <a:srgbClr val="FFFFFF"/>
                </a:solidFill>
                <a:latin typeface="Calibri" pitchFamily="34" charset="0"/>
                <a:ea typeface="Calibri" pitchFamily="34" charset="-122"/>
                <a:cs typeface="Calibri" pitchFamily="34" charset="-120"/>
              </a:rPr>
              <a:t>→ ground truth: which edges are real and which are fake</a:t>
            </a:r>
            <a:endParaRPr lang="en-US" sz="1600" dirty="0"/>
          </a:p>
        </p:txBody>
      </p:sp>
      <p:sp>
        <p:nvSpPr>
          <p:cNvPr id="17" name="Text 15"/>
          <p:cNvSpPr txBox="1"/>
          <p:nvPr/>
        </p:nvSpPr>
        <p:spPr>
          <a:xfrm>
            <a:off x="548640" y="6080760"/>
            <a:ext cx="10972800" cy="2286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Sources: Cora, CiteSeer, PubMed (Sen et al., 2008) · WikiCS (Mernyei &amp; Cangea, 2020) · counts are the standard versions</a:t>
            </a:r>
            <a:endParaRPr lang="en-US" sz="1000" dirty="0"/>
          </a:p>
        </p:txBody>
      </p:sp>
      <p:sp>
        <p:nvSpPr>
          <p:cNvPr id="18" name="Text 16"/>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9" name="Text 17"/>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5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Approach: Bayes’ rule for every edge</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ctr"/>
          <a:lstStyle/>
          <a:p>
            <a:pPr marL="0" indent="0">
              <a:buNone/>
            </a:pPr>
            <a:r>
              <a:rPr lang="en-US" sz="1600" dirty="0">
                <a:solidFill>
                  <a:srgbClr val="4A5568"/>
                </a:solidFill>
                <a:latin typeface="Calibri" pitchFamily="34" charset="0"/>
                <a:ea typeface="Calibri" pitchFamily="34" charset="-122"/>
                <a:cs typeface="Calibri" pitchFamily="34" charset="-120"/>
              </a:rPr>
              <a:t>Hidden question for each edge: is it real (</a:t>
            </a:r>
            <a:r>
              <a:rPr lang="en-US" sz="1600" i="1" dirty="0">
                <a:solidFill>
                  <a:srgbClr val="4A5568"/>
                </a:solidFill>
                <a:latin typeface="Calibri" pitchFamily="34" charset="0"/>
                <a:ea typeface="Calibri" pitchFamily="34" charset="-122"/>
                <a:cs typeface="Calibri" pitchFamily="34" charset="-120"/>
              </a:rPr>
              <a:t>z</a:t>
            </a:r>
            <a:r>
              <a:rPr lang="en-US" sz="1600" i="1" baseline="-40000" dirty="0">
                <a:solidFill>
                  <a:srgbClr val="4A5568"/>
                </a:solidFill>
                <a:latin typeface="Calibri" pitchFamily="34" charset="0"/>
                <a:ea typeface="Calibri" pitchFamily="34" charset="-122"/>
                <a:cs typeface="Calibri" pitchFamily="34" charset="-120"/>
              </a:rPr>
              <a:t>ij</a:t>
            </a:r>
            <a:r>
              <a:rPr lang="en-US" sz="1600" dirty="0">
                <a:solidFill>
                  <a:srgbClr val="4A5568"/>
                </a:solidFill>
                <a:latin typeface="Calibri" pitchFamily="34" charset="0"/>
                <a:ea typeface="Calibri" pitchFamily="34" charset="-122"/>
                <a:cs typeface="Calibri" pitchFamily="34" charset="-120"/>
              </a:rPr>
              <a:t>  = 1) or injected (</a:t>
            </a:r>
            <a:r>
              <a:rPr lang="en-US" sz="1600" i="1" dirty="0">
                <a:solidFill>
                  <a:srgbClr val="4A5568"/>
                </a:solidFill>
                <a:latin typeface="Calibri" pitchFamily="34" charset="0"/>
                <a:ea typeface="Calibri" pitchFamily="34" charset="-122"/>
                <a:cs typeface="Calibri" pitchFamily="34" charset="-120"/>
              </a:rPr>
              <a:t>z</a:t>
            </a:r>
            <a:r>
              <a:rPr lang="en-US" sz="1600" i="1" baseline="-40000" dirty="0">
                <a:solidFill>
                  <a:srgbClr val="4A5568"/>
                </a:solidFill>
                <a:latin typeface="Calibri" pitchFamily="34" charset="0"/>
                <a:ea typeface="Calibri" pitchFamily="34" charset="-122"/>
                <a:cs typeface="Calibri" pitchFamily="34" charset="-120"/>
              </a:rPr>
              <a:t>ij</a:t>
            </a:r>
            <a:r>
              <a:rPr lang="en-US" sz="1600" dirty="0">
                <a:solidFill>
                  <a:srgbClr val="4A5568"/>
                </a:solidFill>
                <a:latin typeface="Calibri" pitchFamily="34" charset="0"/>
                <a:ea typeface="Calibri" pitchFamily="34" charset="-122"/>
                <a:cs typeface="Calibri" pitchFamily="34" charset="-120"/>
              </a:rPr>
              <a:t>  = 0)?</a:t>
            </a:r>
            <a:endParaRPr lang="en-US" sz="1600" dirty="0"/>
          </a:p>
        </p:txBody>
      </p:sp>
      <p:sp>
        <p:nvSpPr>
          <p:cNvPr id="4" name="Shape 2"/>
          <p:cNvSpPr/>
          <p:nvPr/>
        </p:nvSpPr>
        <p:spPr>
          <a:xfrm>
            <a:off x="548640" y="1737360"/>
            <a:ext cx="3200400" cy="2606040"/>
          </a:xfrm>
          <a:prstGeom prst="roundRect">
            <a:avLst>
              <a:gd name="adj" fmla="val 4211"/>
            </a:avLst>
          </a:prstGeom>
          <a:solidFill>
            <a:srgbClr val="FFFFFF"/>
          </a:solidFill>
          <a:ln w="12700">
            <a:solidFill>
              <a:srgbClr val="FFFFFF"/>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822960"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2148840"/>
            <a:ext cx="274320" cy="274320"/>
          </a:xfrm>
          <a:prstGeom prst="rect">
            <a:avLst/>
          </a:prstGeom>
        </p:spPr>
      </p:pic>
      <p:sp>
        <p:nvSpPr>
          <p:cNvPr id="7" name="Text 4"/>
          <p:cNvSpPr txBox="1"/>
          <p:nvPr/>
        </p:nvSpPr>
        <p:spPr>
          <a:xfrm>
            <a:off x="1508760" y="2011680"/>
            <a:ext cx="2057400" cy="548640"/>
          </a:xfrm>
          <a:prstGeom prst="rect">
            <a:avLst/>
          </a:prstGeom>
          <a:noFill/>
          <a:ln/>
        </p:spPr>
        <p:txBody>
          <a:bodyPr wrap="square" lIns="0" tIns="0" rIns="0" bIns="0" rtlCol="0" anchor="ctr"/>
          <a:lstStyle/>
          <a:p>
            <a:pPr marL="0" indent="0">
              <a:buNone/>
            </a:pPr>
            <a:r>
              <a:rPr lang="en-US" sz="1200" b="1" kern="0" spc="150" dirty="0">
                <a:solidFill>
                  <a:srgbClr val="B4540A"/>
                </a:solidFill>
                <a:latin typeface="Calibri" pitchFamily="34" charset="0"/>
                <a:ea typeface="Calibri" pitchFamily="34" charset="-122"/>
                <a:cs typeface="Calibri" pitchFamily="34" charset="-120"/>
              </a:rPr>
              <a:t>PRIOR · TEXT</a:t>
            </a:r>
            <a:endParaRPr lang="en-US" sz="1200" dirty="0"/>
          </a:p>
        </p:txBody>
      </p:sp>
      <p:sp>
        <p:nvSpPr>
          <p:cNvPr id="8" name="Text 5"/>
          <p:cNvSpPr txBox="1"/>
          <p:nvPr/>
        </p:nvSpPr>
        <p:spPr>
          <a:xfrm>
            <a:off x="822960" y="2697480"/>
            <a:ext cx="2651760" cy="457200"/>
          </a:xfrm>
          <a:prstGeom prst="rect">
            <a:avLst/>
          </a:prstGeom>
          <a:noFill/>
          <a:ln/>
        </p:spPr>
        <p:txBody>
          <a:bodyPr wrap="square" lIns="0" tIns="0" rIns="0" bIns="0" rtlCol="0" anchor="ctr"/>
          <a:lstStyle/>
          <a:p>
            <a:pPr marL="0" indent="0">
              <a:buNone/>
            </a:pPr>
            <a:r>
              <a:rPr lang="en-US" sz="2000" dirty="0">
                <a:solidFill>
                  <a:srgbClr val="14213D"/>
                </a:solidFill>
                <a:latin typeface="Cambria Math" pitchFamily="34" charset="0"/>
                <a:ea typeface="Cambria Math" pitchFamily="34" charset="-122"/>
                <a:cs typeface="Cambria Math" pitchFamily="34" charset="-120"/>
              </a:rPr>
              <a:t>p(</a:t>
            </a:r>
            <a:r>
              <a:rPr lang="en-US" sz="2000" i="1" dirty="0">
                <a:solidFill>
                  <a:srgbClr val="14213D"/>
                </a:solidFill>
                <a:latin typeface="Cambria Math" pitchFamily="34" charset="0"/>
                <a:ea typeface="Cambria Math" pitchFamily="34" charset="-122"/>
                <a:cs typeface="Cambria Math" pitchFamily="34" charset="-120"/>
              </a:rPr>
              <a:t>z</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 1 | </a:t>
            </a:r>
            <a:r>
              <a:rPr lang="en-US" sz="2000" i="1" dirty="0">
                <a:solidFill>
                  <a:srgbClr val="14213D"/>
                </a:solidFill>
                <a:latin typeface="Cambria Math" pitchFamily="34" charset="0"/>
                <a:ea typeface="Cambria Math" pitchFamily="34" charset="-122"/>
                <a:cs typeface="Cambria Math" pitchFamily="34" charset="-120"/>
              </a:rPr>
              <a:t>s</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a:t>
            </a:r>
            <a:endParaRPr lang="en-US" sz="2000" dirty="0"/>
          </a:p>
        </p:txBody>
      </p:sp>
      <p:sp>
        <p:nvSpPr>
          <p:cNvPr id="9" name="Text 6"/>
          <p:cNvSpPr txBox="1"/>
          <p:nvPr/>
        </p:nvSpPr>
        <p:spPr>
          <a:xfrm>
            <a:off x="822960" y="3246120"/>
            <a:ext cx="2651760" cy="96012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An LLM reads both nodes’ texts and rates whether the link makes sense. Treated as noisy evidence.</a:t>
            </a:r>
            <a:endParaRPr lang="en-US" sz="1400" dirty="0"/>
          </a:p>
        </p:txBody>
      </p:sp>
      <p:sp>
        <p:nvSpPr>
          <p:cNvPr id="10" name="Text 7"/>
          <p:cNvSpPr txBox="1"/>
          <p:nvPr/>
        </p:nvSpPr>
        <p:spPr>
          <a:xfrm>
            <a:off x="3749040" y="1737360"/>
            <a:ext cx="745236" cy="2606040"/>
          </a:xfrm>
          <a:prstGeom prst="rect">
            <a:avLst/>
          </a:prstGeom>
          <a:noFill/>
          <a:ln/>
        </p:spPr>
        <p:txBody>
          <a:bodyPr wrap="square" lIns="0" tIns="0" rIns="0" bIns="0" rtlCol="0" anchor="ctr"/>
          <a:lstStyle/>
          <a:p>
            <a:pPr marL="0" indent="0" algn="ctr">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1" name="Shape 8"/>
          <p:cNvSpPr/>
          <p:nvPr/>
        </p:nvSpPr>
        <p:spPr>
          <a:xfrm>
            <a:off x="4494276" y="1737360"/>
            <a:ext cx="3200400" cy="2606040"/>
          </a:xfrm>
          <a:prstGeom prst="roundRect">
            <a:avLst>
              <a:gd name="adj" fmla="val 4211"/>
            </a:avLst>
          </a:prstGeom>
          <a:solidFill>
            <a:srgbClr val="FFFFFF"/>
          </a:solidFill>
          <a:ln w="12700">
            <a:solidFill>
              <a:srgbClr val="FFFFFF"/>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9"/>
          <p:cNvSpPr/>
          <p:nvPr/>
        </p:nvSpPr>
        <p:spPr>
          <a:xfrm>
            <a:off x="4768596"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905756" y="2148840"/>
            <a:ext cx="274320" cy="274320"/>
          </a:xfrm>
          <a:prstGeom prst="rect">
            <a:avLst/>
          </a:prstGeom>
        </p:spPr>
      </p:pic>
      <p:sp>
        <p:nvSpPr>
          <p:cNvPr id="14" name="Text 10"/>
          <p:cNvSpPr txBox="1"/>
          <p:nvPr/>
        </p:nvSpPr>
        <p:spPr>
          <a:xfrm>
            <a:off x="5454396" y="2011680"/>
            <a:ext cx="2057400" cy="548640"/>
          </a:xfrm>
          <a:prstGeom prst="rect">
            <a:avLst/>
          </a:prstGeom>
          <a:noFill/>
          <a:ln/>
        </p:spPr>
        <p:txBody>
          <a:bodyPr wrap="square" lIns="0" tIns="0" rIns="0" bIns="0" rtlCol="0" anchor="ctr"/>
          <a:lstStyle/>
          <a:p>
            <a:pPr marL="0" indent="0">
              <a:buNone/>
            </a:pPr>
            <a:r>
              <a:rPr lang="en-US" sz="1200" b="1" kern="0" spc="150" dirty="0">
                <a:solidFill>
                  <a:srgbClr val="B4540A"/>
                </a:solidFill>
                <a:latin typeface="Calibri" pitchFamily="34" charset="0"/>
                <a:ea typeface="Calibri" pitchFamily="34" charset="-122"/>
                <a:cs typeface="Calibri" pitchFamily="34" charset="-120"/>
              </a:rPr>
              <a:t>LIKELIHOOD · GRAPH</a:t>
            </a:r>
            <a:endParaRPr lang="en-US" sz="1200" dirty="0"/>
          </a:p>
        </p:txBody>
      </p:sp>
      <p:sp>
        <p:nvSpPr>
          <p:cNvPr id="15" name="Text 11"/>
          <p:cNvSpPr txBox="1"/>
          <p:nvPr/>
        </p:nvSpPr>
        <p:spPr>
          <a:xfrm>
            <a:off x="4768596" y="2697480"/>
            <a:ext cx="2651760" cy="457200"/>
          </a:xfrm>
          <a:prstGeom prst="rect">
            <a:avLst/>
          </a:prstGeom>
          <a:noFill/>
          <a:ln/>
        </p:spPr>
        <p:txBody>
          <a:bodyPr wrap="square" lIns="0" tIns="0" rIns="0" bIns="0" rtlCol="0" anchor="ctr"/>
          <a:lstStyle/>
          <a:p>
            <a:pPr marL="0" indent="0">
              <a:buNone/>
            </a:pPr>
            <a:r>
              <a:rPr lang="en-US" sz="2000" dirty="0">
                <a:solidFill>
                  <a:srgbClr val="14213D"/>
                </a:solidFill>
                <a:latin typeface="Cambria Math" pitchFamily="34" charset="0"/>
                <a:ea typeface="Cambria Math" pitchFamily="34" charset="-122"/>
                <a:cs typeface="Cambria Math" pitchFamily="34" charset="-120"/>
              </a:rPr>
              <a:t>p(</a:t>
            </a:r>
            <a:r>
              <a:rPr lang="en-US" sz="2000" i="1" dirty="0">
                <a:solidFill>
                  <a:srgbClr val="14213D"/>
                </a:solidFill>
                <a:latin typeface="Cambria Math" pitchFamily="34" charset="0"/>
                <a:ea typeface="Cambria Math" pitchFamily="34" charset="-122"/>
                <a:cs typeface="Cambria Math" pitchFamily="34" charset="-120"/>
              </a:rPr>
              <a:t>d</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 </a:t>
            </a:r>
            <a:r>
              <a:rPr lang="en-US" sz="2000" i="1" dirty="0">
                <a:solidFill>
                  <a:srgbClr val="14213D"/>
                </a:solidFill>
                <a:latin typeface="Cambria Math" pitchFamily="34" charset="0"/>
                <a:ea typeface="Cambria Math" pitchFamily="34" charset="-122"/>
                <a:cs typeface="Cambria Math" pitchFamily="34" charset="-120"/>
              </a:rPr>
              <a:t>z</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a:t>
            </a:r>
            <a:endParaRPr lang="en-US" sz="2000" dirty="0"/>
          </a:p>
        </p:txBody>
      </p:sp>
      <p:sp>
        <p:nvSpPr>
          <p:cNvPr id="16" name="Text 12"/>
          <p:cNvSpPr txBox="1"/>
          <p:nvPr/>
        </p:nvSpPr>
        <p:spPr>
          <a:xfrm>
            <a:off x="4768596" y="3246120"/>
            <a:ext cx="2651760" cy="96012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Do the endpoints’ representations agree during propagation? Fake edges tend to join mismatched nodes.</a:t>
            </a:r>
            <a:endParaRPr lang="en-US" sz="1400" dirty="0"/>
          </a:p>
        </p:txBody>
      </p:sp>
      <p:sp>
        <p:nvSpPr>
          <p:cNvPr id="17" name="Text 13"/>
          <p:cNvSpPr txBox="1"/>
          <p:nvPr/>
        </p:nvSpPr>
        <p:spPr>
          <a:xfrm>
            <a:off x="7694676" y="1737360"/>
            <a:ext cx="745236" cy="2606040"/>
          </a:xfrm>
          <a:prstGeom prst="rect">
            <a:avLst/>
          </a:prstGeom>
          <a:noFill/>
          <a:ln/>
        </p:spPr>
        <p:txBody>
          <a:bodyPr wrap="square" lIns="0" tIns="0" rIns="0" bIns="0" rtlCol="0" anchor="ctr"/>
          <a:lstStyle/>
          <a:p>
            <a:pPr marL="0" indent="0" algn="ctr">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8" name="Shape 14"/>
          <p:cNvSpPr/>
          <p:nvPr/>
        </p:nvSpPr>
        <p:spPr>
          <a:xfrm>
            <a:off x="8439912" y="1737360"/>
            <a:ext cx="3200400" cy="2606040"/>
          </a:xfrm>
          <a:prstGeom prst="roundRect">
            <a:avLst>
              <a:gd name="adj" fmla="val 4211"/>
            </a:avLst>
          </a:prstGeom>
          <a:solidFill>
            <a:srgbClr val="14213D"/>
          </a:solidFill>
          <a:ln w="12700">
            <a:solidFill>
              <a:srgbClr val="14213D"/>
            </a:solidFill>
            <a:prstDash val="solid"/>
          </a:ln>
          <a:effectLst>
            <a:outerShdw blurRad="76200" dist="25400" dir="5400000" algn="bl" rotWithShape="0">
              <a:srgbClr val="000000">
                <a:alpha val="8000"/>
              </a:srgbClr>
            </a:outerShdw>
          </a:effectLst>
        </p:spPr>
        <p:txBody>
          <a:bodyPr/>
          <a:lstStyle/>
          <a:p>
            <a:endParaRPr lang="en-US"/>
          </a:p>
        </p:txBody>
      </p:sp>
      <p:sp>
        <p:nvSpPr>
          <p:cNvPr id="19" name="Shape 15"/>
          <p:cNvSpPr/>
          <p:nvPr/>
        </p:nvSpPr>
        <p:spPr>
          <a:xfrm>
            <a:off x="8714232"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851392" y="2148840"/>
            <a:ext cx="274320" cy="274320"/>
          </a:xfrm>
          <a:prstGeom prst="rect">
            <a:avLst/>
          </a:prstGeom>
        </p:spPr>
      </p:pic>
      <p:sp>
        <p:nvSpPr>
          <p:cNvPr id="21" name="Text 16"/>
          <p:cNvSpPr txBox="1"/>
          <p:nvPr/>
        </p:nvSpPr>
        <p:spPr>
          <a:xfrm>
            <a:off x="9400032" y="2011680"/>
            <a:ext cx="2057400" cy="548640"/>
          </a:xfrm>
          <a:prstGeom prst="rect">
            <a:avLst/>
          </a:prstGeom>
          <a:noFill/>
          <a:ln/>
        </p:spPr>
        <p:txBody>
          <a:bodyPr wrap="square" lIns="0" tIns="0" rIns="0" bIns="0" rtlCol="0" anchor="ctr"/>
          <a:lstStyle/>
          <a:p>
            <a:pPr marL="0" indent="0">
              <a:buNone/>
            </a:pPr>
            <a:r>
              <a:rPr lang="en-US" sz="1200" b="1" kern="0" spc="150" dirty="0">
                <a:solidFill>
                  <a:srgbClr val="F2A65A"/>
                </a:solidFill>
                <a:latin typeface="Calibri" pitchFamily="34" charset="0"/>
                <a:ea typeface="Calibri" pitchFamily="34" charset="-122"/>
                <a:cs typeface="Calibri" pitchFamily="34" charset="-120"/>
              </a:rPr>
              <a:t>POSTERIOR</a:t>
            </a:r>
            <a:endParaRPr lang="en-US" sz="1200" dirty="0"/>
          </a:p>
        </p:txBody>
      </p:sp>
      <p:sp>
        <p:nvSpPr>
          <p:cNvPr id="22" name="Text 17"/>
          <p:cNvSpPr txBox="1"/>
          <p:nvPr/>
        </p:nvSpPr>
        <p:spPr>
          <a:xfrm>
            <a:off x="8714232" y="2697480"/>
            <a:ext cx="2651760" cy="457200"/>
          </a:xfrm>
          <a:prstGeom prst="rect">
            <a:avLst/>
          </a:prstGeom>
          <a:noFill/>
          <a:ln/>
        </p:spPr>
        <p:txBody>
          <a:bodyPr wrap="square" lIns="0" tIns="0" rIns="0" bIns="0" rtlCol="0" anchor="ctr"/>
          <a:lstStyle/>
          <a:p>
            <a:pPr marL="0" indent="0">
              <a:buNone/>
            </a:pPr>
            <a:r>
              <a:rPr lang="en-US" sz="2000" dirty="0">
                <a:solidFill>
                  <a:srgbClr val="FFFFFF"/>
                </a:solidFill>
                <a:latin typeface="Cambria Math" pitchFamily="34" charset="0"/>
                <a:ea typeface="Cambria Math" pitchFamily="34" charset="-122"/>
                <a:cs typeface="Cambria Math" pitchFamily="34" charset="-120"/>
              </a:rPr>
              <a:t>p(</a:t>
            </a:r>
            <a:r>
              <a:rPr lang="en-US" sz="2000" i="1" dirty="0">
                <a:solidFill>
                  <a:srgbClr val="FFFFFF"/>
                </a:solidFill>
                <a:latin typeface="Cambria Math" pitchFamily="34" charset="0"/>
                <a:ea typeface="Cambria Math" pitchFamily="34" charset="-122"/>
                <a:cs typeface="Cambria Math" pitchFamily="34" charset="-120"/>
              </a:rPr>
              <a:t>z</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 1 | </a:t>
            </a:r>
            <a:r>
              <a:rPr lang="en-US" sz="2000" i="1" dirty="0">
                <a:solidFill>
                  <a:srgbClr val="FFFFFF"/>
                </a:solidFill>
                <a:latin typeface="Cambria Math" pitchFamily="34" charset="0"/>
                <a:ea typeface="Cambria Math" pitchFamily="34" charset="-122"/>
                <a:cs typeface="Cambria Math" pitchFamily="34" charset="-120"/>
              </a:rPr>
              <a:t>s</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 </a:t>
            </a:r>
            <a:r>
              <a:rPr lang="en-US" sz="2000" i="1" dirty="0">
                <a:solidFill>
                  <a:srgbClr val="FFFFFF"/>
                </a:solidFill>
                <a:latin typeface="Cambria Math" pitchFamily="34" charset="0"/>
                <a:ea typeface="Cambria Math" pitchFamily="34" charset="-122"/>
                <a:cs typeface="Cambria Math" pitchFamily="34" charset="-120"/>
              </a:rPr>
              <a:t>d</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a:t>
            </a:r>
            <a:endParaRPr lang="en-US" sz="2000" dirty="0"/>
          </a:p>
        </p:txBody>
      </p:sp>
      <p:sp>
        <p:nvSpPr>
          <p:cNvPr id="23" name="Text 18"/>
          <p:cNvSpPr txBox="1"/>
          <p:nvPr/>
        </p:nvSpPr>
        <p:spPr>
          <a:xfrm>
            <a:off x="8714232" y="3246120"/>
            <a:ext cx="2651760" cy="960120"/>
          </a:xfrm>
          <a:prstGeom prst="rect">
            <a:avLst/>
          </a:prstGeom>
          <a:noFill/>
          <a:ln/>
        </p:spPr>
        <p:txBody>
          <a:bodyPr wrap="square" lIns="0" tIns="0" rIns="0" bIns="0" rtlCol="0" anchor="t"/>
          <a:lstStyle/>
          <a:p>
            <a:pPr marL="0" indent="0">
              <a:buNone/>
            </a:pPr>
            <a:r>
              <a:rPr lang="en-US" sz="1400" dirty="0">
                <a:solidFill>
                  <a:srgbClr val="C9D2E3"/>
                </a:solidFill>
                <a:latin typeface="Calibri" pitchFamily="34" charset="0"/>
                <a:ea typeface="Calibri" pitchFamily="34" charset="-122"/>
                <a:cs typeface="Calibri" pitchFamily="34" charset="-120"/>
              </a:rPr>
              <a:t>Probability the edge is real, with uncertainty, combining both sources of evidence.</a:t>
            </a:r>
            <a:endParaRPr lang="en-US" sz="1400" dirty="0"/>
          </a:p>
        </p:txBody>
      </p:sp>
      <p:sp>
        <p:nvSpPr>
          <p:cNvPr id="24" name="Shape 19"/>
          <p:cNvSpPr/>
          <p:nvPr/>
        </p:nvSpPr>
        <p:spPr>
          <a:xfrm>
            <a:off x="548640" y="4617720"/>
            <a:ext cx="11091672" cy="1280160"/>
          </a:xfrm>
          <a:prstGeom prst="roundRect">
            <a:avLst>
              <a:gd name="adj" fmla="val 8571"/>
            </a:avLst>
          </a:prstGeom>
          <a:solidFill>
            <a:srgbClr val="FFFFFF"/>
          </a:solidFill>
          <a:ln w="12700">
            <a:solidFill>
              <a:srgbClr val="FFFFFF"/>
            </a:solidFill>
            <a:prstDash val="solid"/>
          </a:ln>
        </p:spPr>
        <p:txBody>
          <a:bodyPr/>
          <a:lstStyle/>
          <a:p>
            <a:endParaRPr lang="en-US"/>
          </a:p>
        </p:txBody>
      </p:sp>
      <p:sp>
        <p:nvSpPr>
          <p:cNvPr id="25" name="Text 20"/>
          <p:cNvSpPr txBox="1"/>
          <p:nvPr/>
        </p:nvSpPr>
        <p:spPr>
          <a:xfrm>
            <a:off x="822960" y="4617720"/>
            <a:ext cx="822960" cy="1280160"/>
          </a:xfrm>
          <a:prstGeom prst="rect">
            <a:avLst/>
          </a:prstGeom>
          <a:noFill/>
          <a:ln/>
        </p:spPr>
        <p:txBody>
          <a:bodyPr wrap="square" lIns="0" tIns="0" rIns="0" bIns="0" rtlCol="0" anchor="ctr"/>
          <a:lstStyle/>
          <a:p>
            <a:pPr marL="0" indent="0">
              <a:buNone/>
            </a:pPr>
            <a:r>
              <a:rPr lang="en-US" sz="1300" b="1" kern="0" spc="300" dirty="0">
                <a:solidFill>
                  <a:srgbClr val="B4540A"/>
                </a:solidFill>
                <a:latin typeface="Calibri" pitchFamily="34" charset="0"/>
                <a:ea typeface="Calibri" pitchFamily="34" charset="-122"/>
                <a:cs typeface="Calibri" pitchFamily="34" charset="-120"/>
              </a:rPr>
              <a:t>THEN</a:t>
            </a:r>
            <a:endParaRPr lang="en-US" sz="1300" dirty="0"/>
          </a:p>
        </p:txBody>
      </p:sp>
      <p:sp>
        <p:nvSpPr>
          <p:cNvPr id="26" name="Shape 21"/>
          <p:cNvSpPr/>
          <p:nvPr/>
        </p:nvSpPr>
        <p:spPr>
          <a:xfrm>
            <a:off x="1737360"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27" name="Text 22"/>
          <p:cNvSpPr txBox="1"/>
          <p:nvPr/>
        </p:nvSpPr>
        <p:spPr>
          <a:xfrm>
            <a:off x="1920240" y="4846320"/>
            <a:ext cx="2423160" cy="822960"/>
          </a:xfrm>
          <a:prstGeom prst="rect">
            <a:avLst/>
          </a:prstGeom>
          <a:noFill/>
          <a:ln/>
        </p:spPr>
        <p:txBody>
          <a:bodyPr wrap="square" lIns="0" tIns="0" rIns="0" bIns="0" rtlCol="0" anchor="ctr"/>
          <a:lstStyle/>
          <a:p>
            <a:pPr marL="0" indent="0">
              <a:buNone/>
            </a:pPr>
            <a:r>
              <a:rPr lang="en-US" sz="1400" dirty="0">
                <a:solidFill>
                  <a:srgbClr val="14213D"/>
                </a:solidFill>
                <a:latin typeface="Calibri" pitchFamily="34" charset="0"/>
                <a:ea typeface="Calibri" pitchFamily="34" charset="-122"/>
                <a:cs typeface="Calibri" pitchFamily="34" charset="-120"/>
              </a:rPr>
              <a:t>Weight each GNN message by its edge’s posterior</a:t>
            </a:r>
            <a:endParaRPr lang="en-US" sz="1400" dirty="0"/>
          </a:p>
        </p:txBody>
      </p:sp>
      <p:sp>
        <p:nvSpPr>
          <p:cNvPr id="28" name="Shape 23"/>
          <p:cNvSpPr/>
          <p:nvPr/>
        </p:nvSpPr>
        <p:spPr>
          <a:xfrm>
            <a:off x="4590288" y="5102352"/>
            <a:ext cx="384048" cy="310896"/>
          </a:xfrm>
          <a:prstGeom prst="rightArrow">
            <a:avLst/>
          </a:prstGeom>
          <a:solidFill>
            <a:srgbClr val="B4540A"/>
          </a:solidFill>
          <a:ln w="12700">
            <a:solidFill>
              <a:srgbClr val="B4540A"/>
            </a:solidFill>
            <a:prstDash val="solid"/>
          </a:ln>
        </p:spPr>
        <p:txBody>
          <a:bodyPr/>
          <a:lstStyle/>
          <a:p>
            <a:endParaRPr lang="en-US"/>
          </a:p>
        </p:txBody>
      </p:sp>
      <p:sp>
        <p:nvSpPr>
          <p:cNvPr id="29" name="Shape 24"/>
          <p:cNvSpPr/>
          <p:nvPr/>
        </p:nvSpPr>
        <p:spPr>
          <a:xfrm>
            <a:off x="5047488"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30" name="Text 25"/>
          <p:cNvSpPr txBox="1"/>
          <p:nvPr/>
        </p:nvSpPr>
        <p:spPr>
          <a:xfrm>
            <a:off x="5230368" y="4846320"/>
            <a:ext cx="2423160" cy="822960"/>
          </a:xfrm>
          <a:prstGeom prst="rect">
            <a:avLst/>
          </a:prstGeom>
          <a:noFill/>
          <a:ln/>
        </p:spPr>
        <p:txBody>
          <a:bodyPr wrap="square" lIns="0" tIns="0" rIns="0" bIns="0" rtlCol="0" anchor="ctr"/>
          <a:lstStyle/>
          <a:p>
            <a:pPr marL="0" indent="0">
              <a:buNone/>
            </a:pPr>
            <a:r>
              <a:rPr lang="en-US" sz="1400" dirty="0">
                <a:solidFill>
                  <a:srgbClr val="14213D"/>
                </a:solidFill>
                <a:latin typeface="Calibri" pitchFamily="34" charset="0"/>
                <a:ea typeface="Calibri" pitchFamily="34" charset="-122"/>
                <a:cs typeface="Calibri" pitchFamily="34" charset="-120"/>
              </a:rPr>
              <a:t>Give GNN weights </a:t>
            </a:r>
            <a:r>
              <a:rPr lang="en-US" sz="1400" i="1" dirty="0">
                <a:solidFill>
                  <a:srgbClr val="14213D"/>
                </a:solidFill>
                <a:latin typeface="Calibri" pitchFamily="34" charset="0"/>
                <a:ea typeface="Calibri" pitchFamily="34" charset="-122"/>
                <a:cs typeface="Calibri" pitchFamily="34" charset="-120"/>
              </a:rPr>
              <a:t>W</a:t>
            </a:r>
            <a:r>
              <a:rPr lang="en-US" sz="1400" dirty="0">
                <a:solidFill>
                  <a:srgbClr val="14213D"/>
                </a:solidFill>
                <a:latin typeface="Calibri" pitchFamily="34" charset="0"/>
                <a:ea typeface="Calibri" pitchFamily="34" charset="-122"/>
                <a:cs typeface="Calibri" pitchFamily="34" charset="-120"/>
              </a:rPr>
              <a:t> a posterior too (MC dropout, ensembles, VI)</a:t>
            </a:r>
            <a:endParaRPr lang="en-US" sz="1400" dirty="0"/>
          </a:p>
        </p:txBody>
      </p:sp>
      <p:sp>
        <p:nvSpPr>
          <p:cNvPr id="31" name="Shape 26"/>
          <p:cNvSpPr/>
          <p:nvPr/>
        </p:nvSpPr>
        <p:spPr>
          <a:xfrm>
            <a:off x="7900416" y="5102352"/>
            <a:ext cx="384048" cy="310896"/>
          </a:xfrm>
          <a:prstGeom prst="rightArrow">
            <a:avLst/>
          </a:prstGeom>
          <a:solidFill>
            <a:srgbClr val="B4540A"/>
          </a:solidFill>
          <a:ln w="12700">
            <a:solidFill>
              <a:srgbClr val="B4540A"/>
            </a:solidFill>
            <a:prstDash val="solid"/>
          </a:ln>
        </p:spPr>
        <p:txBody>
          <a:bodyPr/>
          <a:lstStyle/>
          <a:p>
            <a:endParaRPr lang="en-US"/>
          </a:p>
        </p:txBody>
      </p:sp>
      <p:sp>
        <p:nvSpPr>
          <p:cNvPr id="32" name="Shape 27"/>
          <p:cNvSpPr/>
          <p:nvPr/>
        </p:nvSpPr>
        <p:spPr>
          <a:xfrm>
            <a:off x="8357616"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33" name="Text 28"/>
          <p:cNvSpPr txBox="1"/>
          <p:nvPr/>
        </p:nvSpPr>
        <p:spPr>
          <a:xfrm>
            <a:off x="8540496" y="4846320"/>
            <a:ext cx="2423160" cy="82296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Predict node labels with uncertainty</a:t>
            </a:r>
            <a:endParaRPr lang="en-US" sz="1400" dirty="0"/>
          </a:p>
        </p:txBody>
      </p:sp>
      <p:sp>
        <p:nvSpPr>
          <p:cNvPr id="34" name="Text 29"/>
          <p:cNvSpPr txBox="1"/>
          <p:nvPr/>
        </p:nvSpPr>
        <p:spPr>
          <a:xfrm>
            <a:off x="548640" y="6035040"/>
            <a:ext cx="11091672"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Hidden: </a:t>
            </a:r>
            <a:r>
              <a:rPr lang="en-US" sz="1200" i="1" dirty="0">
                <a:solidFill>
                  <a:srgbClr val="4A5568"/>
                </a:solidFill>
                <a:latin typeface="Calibri" pitchFamily="34" charset="0"/>
                <a:ea typeface="Calibri" pitchFamily="34" charset="-122"/>
                <a:cs typeface="Calibri" pitchFamily="34" charset="-120"/>
              </a:rPr>
              <a:t>z</a:t>
            </a:r>
            <a:r>
              <a:rPr lang="en-US" sz="1200" i="1" baseline="-40000" dirty="0">
                <a:solidFill>
                  <a:srgbClr val="4A5568"/>
                </a:solidFill>
                <a:latin typeface="Calibri" pitchFamily="34" charset="0"/>
                <a:ea typeface="Calibri" pitchFamily="34" charset="-122"/>
                <a:cs typeface="Calibri" pitchFamily="34" charset="-120"/>
              </a:rPr>
              <a:t>ij</a:t>
            </a:r>
            <a:r>
              <a:rPr lang="en-US" sz="1200" dirty="0">
                <a:solidFill>
                  <a:srgbClr val="4A5568"/>
                </a:solidFill>
                <a:latin typeface="Calibri" pitchFamily="34" charset="0"/>
                <a:ea typeface="Calibri" pitchFamily="34" charset="-122"/>
                <a:cs typeface="Calibri" pitchFamily="34" charset="-120"/>
              </a:rPr>
              <a:t> , </a:t>
            </a:r>
            <a:r>
              <a:rPr lang="en-US" sz="1200" i="1" dirty="0">
                <a:solidFill>
                  <a:srgbClr val="4A5568"/>
                </a:solidFill>
                <a:latin typeface="Calibri" pitchFamily="34" charset="0"/>
                <a:ea typeface="Calibri" pitchFamily="34" charset="-122"/>
                <a:cs typeface="Calibri" pitchFamily="34" charset="-120"/>
              </a:rPr>
              <a:t>W</a:t>
            </a:r>
            <a:r>
              <a:rPr lang="en-US" sz="1200" dirty="0">
                <a:solidFill>
                  <a:srgbClr val="4A5568"/>
                </a:solidFill>
                <a:latin typeface="Calibri" pitchFamily="34" charset="0"/>
                <a:ea typeface="Calibri" pitchFamily="34" charset="-122"/>
                <a:cs typeface="Calibri" pitchFamily="34" charset="-120"/>
              </a:rPr>
              <a:t>   ·   Observed: node texts, edges (incl. injected), training labels, LLM scores </a:t>
            </a:r>
            <a:r>
              <a:rPr lang="en-US" sz="1200" i="1" dirty="0">
                <a:solidFill>
                  <a:srgbClr val="4A5568"/>
                </a:solidFill>
                <a:latin typeface="Calibri" pitchFamily="34" charset="0"/>
                <a:ea typeface="Calibri" pitchFamily="34" charset="-122"/>
                <a:cs typeface="Calibri" pitchFamily="34" charset="-120"/>
              </a:rPr>
              <a:t>s</a:t>
            </a:r>
            <a:r>
              <a:rPr lang="en-US" sz="1200" i="1" baseline="-40000" dirty="0">
                <a:solidFill>
                  <a:srgbClr val="4A5568"/>
                </a:solidFill>
                <a:latin typeface="Calibri" pitchFamily="34" charset="0"/>
                <a:ea typeface="Calibri" pitchFamily="34" charset="-122"/>
                <a:cs typeface="Calibri" pitchFamily="34" charset="-120"/>
              </a:rPr>
              <a:t>ij</a:t>
            </a:r>
            <a:r>
              <a:rPr lang="en-US" sz="1200" dirty="0">
                <a:solidFill>
                  <a:srgbClr val="4A5568"/>
                </a:solidFill>
                <a:latin typeface="Calibri" pitchFamily="34" charset="0"/>
                <a:ea typeface="Calibri" pitchFamily="34" charset="-122"/>
                <a:cs typeface="Calibri" pitchFamily="34" charset="-120"/>
              </a:rPr>
              <a:t> </a:t>
            </a:r>
            <a:endParaRPr lang="en-US" sz="1200" dirty="0"/>
          </a:p>
        </p:txBody>
      </p:sp>
      <p:sp>
        <p:nvSpPr>
          <p:cNvPr id="35" name="Text 30"/>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36" name="Text 31"/>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Three hypotheses</a:t>
            </a:r>
            <a:endParaRPr lang="en-US" sz="3600" dirty="0"/>
          </a:p>
        </p:txBody>
      </p:sp>
      <p:sp>
        <p:nvSpPr>
          <p:cNvPr id="3" name="Shape 1"/>
          <p:cNvSpPr/>
          <p:nvPr/>
        </p:nvSpPr>
        <p:spPr>
          <a:xfrm>
            <a:off x="54864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4" name="Shape 2"/>
          <p:cNvSpPr/>
          <p:nvPr/>
        </p:nvSpPr>
        <p:spPr>
          <a:xfrm>
            <a:off x="86868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51560" y="1874520"/>
            <a:ext cx="365760" cy="365760"/>
          </a:xfrm>
          <a:prstGeom prst="rect">
            <a:avLst/>
          </a:prstGeom>
        </p:spPr>
      </p:pic>
      <p:sp>
        <p:nvSpPr>
          <p:cNvPr id="6" name="Text 3"/>
          <p:cNvSpPr txBox="1"/>
          <p:nvPr/>
        </p:nvSpPr>
        <p:spPr>
          <a:xfrm>
            <a:off x="178308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H1</a:t>
            </a:r>
            <a:endParaRPr lang="en-US" sz="3000" dirty="0"/>
          </a:p>
        </p:txBody>
      </p:sp>
      <p:sp>
        <p:nvSpPr>
          <p:cNvPr id="7" name="Text 4"/>
          <p:cNvSpPr txBox="1"/>
          <p:nvPr/>
        </p:nvSpPr>
        <p:spPr>
          <a:xfrm>
            <a:off x="86868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Text and structure together find fake edges</a:t>
            </a:r>
            <a:endParaRPr lang="en-US" sz="1900" dirty="0"/>
          </a:p>
        </p:txBody>
      </p:sp>
      <p:sp>
        <p:nvSpPr>
          <p:cNvPr id="8" name="Text 5"/>
          <p:cNvSpPr txBox="1"/>
          <p:nvPr/>
        </p:nvSpPr>
        <p:spPr>
          <a:xfrm>
            <a:off x="86868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Combining the text prior with the structural likelihood detects injected edges better than either source alone.</a:t>
            </a:r>
            <a:endParaRPr lang="en-US" sz="1500" dirty="0"/>
          </a:p>
        </p:txBody>
      </p:sp>
      <p:sp>
        <p:nvSpPr>
          <p:cNvPr id="9" name="Shape 6"/>
          <p:cNvSpPr/>
          <p:nvPr/>
        </p:nvSpPr>
        <p:spPr>
          <a:xfrm>
            <a:off x="77724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10" name="Text 7"/>
          <p:cNvSpPr txBox="1"/>
          <p:nvPr/>
        </p:nvSpPr>
        <p:spPr>
          <a:xfrm>
            <a:off x="91440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AUROC for fake-edge detection</a:t>
            </a:r>
            <a:endParaRPr lang="en-US" sz="1300" dirty="0"/>
          </a:p>
        </p:txBody>
      </p:sp>
      <p:sp>
        <p:nvSpPr>
          <p:cNvPr id="11" name="Shape 8"/>
          <p:cNvSpPr/>
          <p:nvPr/>
        </p:nvSpPr>
        <p:spPr>
          <a:xfrm>
            <a:off x="434340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12" name="Shape 9"/>
          <p:cNvSpPr/>
          <p:nvPr/>
        </p:nvSpPr>
        <p:spPr>
          <a:xfrm>
            <a:off x="466344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846320" y="1874520"/>
            <a:ext cx="365760" cy="365760"/>
          </a:xfrm>
          <a:prstGeom prst="rect">
            <a:avLst/>
          </a:prstGeom>
        </p:spPr>
      </p:pic>
      <p:sp>
        <p:nvSpPr>
          <p:cNvPr id="14" name="Text 10"/>
          <p:cNvSpPr txBox="1"/>
          <p:nvPr/>
        </p:nvSpPr>
        <p:spPr>
          <a:xfrm>
            <a:off x="557784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H2</a:t>
            </a:r>
            <a:endParaRPr lang="en-US" sz="3000" dirty="0"/>
          </a:p>
        </p:txBody>
      </p:sp>
      <p:sp>
        <p:nvSpPr>
          <p:cNvPr id="15" name="Text 11"/>
          <p:cNvSpPr txBox="1"/>
          <p:nvPr/>
        </p:nvSpPr>
        <p:spPr>
          <a:xfrm>
            <a:off x="466344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Uncertainty flags attacked nodes</a:t>
            </a:r>
            <a:endParaRPr lang="en-US" sz="1900" dirty="0"/>
          </a:p>
        </p:txBody>
      </p:sp>
      <p:sp>
        <p:nvSpPr>
          <p:cNvPr id="16" name="Text 12"/>
          <p:cNvSpPr txBox="1"/>
          <p:nvPr/>
        </p:nvSpPr>
        <p:spPr>
          <a:xfrm>
            <a:off x="466344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A Bayesian GNN is more uncertain on nodes that received fake edges, and stays better calibrated as the attack grows.</a:t>
            </a:r>
            <a:endParaRPr lang="en-US" sz="1500" dirty="0"/>
          </a:p>
        </p:txBody>
      </p:sp>
      <p:sp>
        <p:nvSpPr>
          <p:cNvPr id="17" name="Shape 13"/>
          <p:cNvSpPr/>
          <p:nvPr/>
        </p:nvSpPr>
        <p:spPr>
          <a:xfrm>
            <a:off x="457200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18" name="Text 14"/>
          <p:cNvSpPr txBox="1"/>
          <p:nvPr/>
        </p:nvSpPr>
        <p:spPr>
          <a:xfrm>
            <a:off x="470916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ECE and uncertainty vs. attack size</a:t>
            </a:r>
            <a:endParaRPr lang="en-US" sz="1300" dirty="0"/>
          </a:p>
        </p:txBody>
      </p:sp>
      <p:sp>
        <p:nvSpPr>
          <p:cNvPr id="19" name="Shape 15"/>
          <p:cNvSpPr/>
          <p:nvPr/>
        </p:nvSpPr>
        <p:spPr>
          <a:xfrm>
            <a:off x="813816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20" name="Shape 16"/>
          <p:cNvSpPr/>
          <p:nvPr/>
        </p:nvSpPr>
        <p:spPr>
          <a:xfrm>
            <a:off x="845820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8641080" y="1874520"/>
            <a:ext cx="365760" cy="365760"/>
          </a:xfrm>
          <a:prstGeom prst="rect">
            <a:avLst/>
          </a:prstGeom>
        </p:spPr>
      </p:pic>
      <p:sp>
        <p:nvSpPr>
          <p:cNvPr id="22" name="Text 17"/>
          <p:cNvSpPr txBox="1"/>
          <p:nvPr/>
        </p:nvSpPr>
        <p:spPr>
          <a:xfrm>
            <a:off x="937260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H3</a:t>
            </a:r>
            <a:endParaRPr lang="en-US" sz="3000" dirty="0"/>
          </a:p>
        </p:txBody>
      </p:sp>
      <p:sp>
        <p:nvSpPr>
          <p:cNvPr id="23" name="Text 18"/>
          <p:cNvSpPr txBox="1"/>
          <p:nvPr/>
        </p:nvSpPr>
        <p:spPr>
          <a:xfrm>
            <a:off x="845820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LLMs make a better prior than embeddings</a:t>
            </a:r>
            <a:endParaRPr lang="en-US" sz="1900" dirty="0"/>
          </a:p>
        </p:txBody>
      </p:sp>
      <p:sp>
        <p:nvSpPr>
          <p:cNvPr id="24" name="Text 19"/>
          <p:cNvSpPr txBox="1"/>
          <p:nvPr/>
        </p:nvSpPr>
        <p:spPr>
          <a:xfrm>
            <a:off x="845820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An LLM’s rating of each edge beats embedding similarity as a prior, most on graphs where text predicts labels well.</a:t>
            </a:r>
            <a:endParaRPr lang="en-US" sz="1500" dirty="0"/>
          </a:p>
        </p:txBody>
      </p:sp>
      <p:sp>
        <p:nvSpPr>
          <p:cNvPr id="25" name="Shape 20"/>
          <p:cNvSpPr/>
          <p:nvPr/>
        </p:nvSpPr>
        <p:spPr>
          <a:xfrm>
            <a:off x="836676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26" name="Text 21"/>
          <p:cNvSpPr txBox="1"/>
          <p:nvPr/>
        </p:nvSpPr>
        <p:spPr>
          <a:xfrm>
            <a:off x="850392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AUROC, LLM vs. SBERT prior, per dataset</a:t>
            </a:r>
            <a:endParaRPr lang="en-US" sz="1300" dirty="0"/>
          </a:p>
        </p:txBody>
      </p:sp>
      <p:sp>
        <p:nvSpPr>
          <p:cNvPr id="27" name="Text 22"/>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28" name="Text 23"/>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B4540A"/>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marL="0" indent="0">
              <a:buNone/>
            </a:pPr>
            <a:r>
              <a:rPr lang="en-US" sz="1400" b="1" kern="0" spc="400" dirty="0">
                <a:solidFill>
                  <a:srgbClr val="FBF7F0"/>
                </a:solidFill>
                <a:latin typeface="Calibri" pitchFamily="34" charset="0"/>
                <a:ea typeface="Calibri" pitchFamily="34" charset="-122"/>
                <a:cs typeface="Calibri" pitchFamily="34" charset="-120"/>
              </a:rPr>
              <a:t>WHY THIS IS TESTABLE</a:t>
            </a:r>
            <a:endParaRPr lang="en-US" sz="1400" dirty="0"/>
          </a:p>
        </p:txBody>
      </p:sp>
      <p:sp>
        <p:nvSpPr>
          <p:cNvPr id="3" name="Text 1"/>
          <p:cNvSpPr txBox="1"/>
          <p:nvPr/>
        </p:nvSpPr>
        <p:spPr>
          <a:xfrm>
            <a:off x="731520" y="1234440"/>
            <a:ext cx="10698480" cy="1325880"/>
          </a:xfrm>
          <a:prstGeom prst="rect">
            <a:avLst/>
          </a:prstGeom>
          <a:noFill/>
          <a:ln/>
        </p:spPr>
        <p:txBody>
          <a:bodyPr wrap="square" lIns="0" tIns="0" rIns="0" bIns="0" rtlCol="0" anchor="t"/>
          <a:lstStyle/>
          <a:p>
            <a:pPr marL="0" indent="0">
              <a:buNone/>
            </a:pPr>
            <a:r>
              <a:rPr lang="en-US" sz="3600" b="1" dirty="0">
                <a:solidFill>
                  <a:srgbClr val="FBF7F0"/>
                </a:solidFill>
                <a:latin typeface="Cambria" pitchFamily="34" charset="0"/>
                <a:ea typeface="Cambria" pitchFamily="34" charset="-122"/>
                <a:cs typeface="Cambria" pitchFamily="34" charset="-120"/>
              </a:rPr>
              <a:t>We inject the fake edges ourselves, so we know exactly which ones are fake.</a:t>
            </a:r>
            <a:endParaRPr lang="en-US" sz="3600" dirty="0"/>
          </a:p>
        </p:txBody>
      </p:sp>
      <p:sp>
        <p:nvSpPr>
          <p:cNvPr id="4" name="Text 2"/>
          <p:cNvSpPr txBox="1"/>
          <p:nvPr/>
        </p:nvSpPr>
        <p:spPr>
          <a:xfrm>
            <a:off x="731520" y="2697480"/>
            <a:ext cx="10698480" cy="548640"/>
          </a:xfrm>
          <a:prstGeom prst="rect">
            <a:avLst/>
          </a:prstGeom>
          <a:noFill/>
          <a:ln/>
        </p:spPr>
        <p:txBody>
          <a:bodyPr wrap="square" lIns="0" tIns="0" rIns="0" bIns="0" rtlCol="0" anchor="ctr"/>
          <a:lstStyle/>
          <a:p>
            <a:pPr marL="0" indent="0">
              <a:buNone/>
            </a:pPr>
            <a:r>
              <a:rPr lang="en-US" sz="2000" dirty="0">
                <a:solidFill>
                  <a:srgbClr val="FBF7F0"/>
                </a:solidFill>
                <a:latin typeface="Calibri" pitchFamily="34" charset="0"/>
                <a:ea typeface="Calibri" pitchFamily="34" charset="-122"/>
                <a:cs typeface="Calibri" pitchFamily="34" charset="-120"/>
              </a:rPr>
              <a:t>Every edge posterior can be checked against ground truth.</a:t>
            </a:r>
            <a:endParaRPr lang="en-US" sz="2000" dirty="0"/>
          </a:p>
        </p:txBody>
      </p:sp>
      <p:sp>
        <p:nvSpPr>
          <p:cNvPr id="5" name="Shape 3"/>
          <p:cNvSpPr/>
          <p:nvPr/>
        </p:nvSpPr>
        <p:spPr>
          <a:xfrm>
            <a:off x="73152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6" name="Text 4"/>
          <p:cNvSpPr txBox="1"/>
          <p:nvPr/>
        </p:nvSpPr>
        <p:spPr>
          <a:xfrm>
            <a:off x="100584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Clean graph</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real edges only</a:t>
            </a:r>
            <a:endParaRPr lang="en-US" sz="2200" dirty="0"/>
          </a:p>
        </p:txBody>
      </p:sp>
      <p:sp>
        <p:nvSpPr>
          <p:cNvPr id="7" name="Shape 5"/>
          <p:cNvSpPr/>
          <p:nvPr/>
        </p:nvSpPr>
        <p:spPr>
          <a:xfrm>
            <a:off x="3913632" y="4434840"/>
            <a:ext cx="502920" cy="457200"/>
          </a:xfrm>
          <a:prstGeom prst="rightArrow">
            <a:avLst/>
          </a:prstGeom>
          <a:solidFill>
            <a:srgbClr val="FBF7F0"/>
          </a:solidFill>
          <a:ln w="12700">
            <a:solidFill>
              <a:srgbClr val="FBF7F0"/>
            </a:solidFill>
            <a:prstDash val="solid"/>
          </a:ln>
        </p:spPr>
        <p:txBody>
          <a:bodyPr/>
          <a:lstStyle/>
          <a:p>
            <a:endParaRPr lang="en-US"/>
          </a:p>
        </p:txBody>
      </p:sp>
      <p:sp>
        <p:nvSpPr>
          <p:cNvPr id="8" name="Shape 6"/>
          <p:cNvSpPr/>
          <p:nvPr/>
        </p:nvSpPr>
        <p:spPr>
          <a:xfrm>
            <a:off x="448056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9" name="Text 7"/>
          <p:cNvSpPr txBox="1"/>
          <p:nvPr/>
        </p:nvSpPr>
        <p:spPr>
          <a:xfrm>
            <a:off x="475488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Attack</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add 5–40% fake edges</a:t>
            </a:r>
            <a:endParaRPr lang="en-US" sz="2200" dirty="0"/>
          </a:p>
        </p:txBody>
      </p:sp>
      <p:sp>
        <p:nvSpPr>
          <p:cNvPr id="10" name="Shape 8"/>
          <p:cNvSpPr/>
          <p:nvPr/>
        </p:nvSpPr>
        <p:spPr>
          <a:xfrm>
            <a:off x="7662672" y="4434840"/>
            <a:ext cx="502920" cy="457200"/>
          </a:xfrm>
          <a:prstGeom prst="rightArrow">
            <a:avLst/>
          </a:prstGeom>
          <a:solidFill>
            <a:srgbClr val="FBF7F0"/>
          </a:solidFill>
          <a:ln w="12700">
            <a:solidFill>
              <a:srgbClr val="FBF7F0"/>
            </a:solidFill>
            <a:prstDash val="solid"/>
          </a:ln>
        </p:spPr>
        <p:txBody>
          <a:bodyPr/>
          <a:lstStyle/>
          <a:p>
            <a:endParaRPr lang="en-US"/>
          </a:p>
        </p:txBody>
      </p:sp>
      <p:sp>
        <p:nvSpPr>
          <p:cNvPr id="11" name="Shape 9"/>
          <p:cNvSpPr/>
          <p:nvPr/>
        </p:nvSpPr>
        <p:spPr>
          <a:xfrm>
            <a:off x="822960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12" name="Text 10"/>
          <p:cNvSpPr txBox="1"/>
          <p:nvPr/>
        </p:nvSpPr>
        <p:spPr>
          <a:xfrm>
            <a:off x="850392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Score</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posterior vs. the true labels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Metrics">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Metrics: how each hypothesis is scored</a:t>
            </a:r>
          </a:p>
        </p:txBody>
      </p:sp>
      <p:sp>
        <p:nvSpPr>
          <p:cNvPr id="3" name="Text 3"/>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2000" i="1" dirty="0">
                <a:solidFill>
                  <a:srgbClr val="14213D"/>
                </a:solidFill>
                <a:latin typeface="Cambria" pitchFamily="34" charset="0"/>
                <a:ea typeface="Cambria" pitchFamily="34" charset="-122"/>
                <a:cs typeface="Cambria" pitchFamily="34" charset="-120"/>
              </a:rPr>
              <a:t>Ground truth on injected edges lets me score the posteriors directly, not just final accuracy.</a:t>
            </a:r>
          </a:p>
        </p:txBody>
      </p:sp>
      <p:sp>
        <p:nvSpPr>
          <p:cNvPr id="4" name="Shape 4"/>
          <p:cNvSpPr/>
          <p:nvPr/>
        </p:nvSpPr>
        <p:spPr>
          <a:xfrm>
            <a:off x="548640"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5" name="Text 5"/>
          <p:cNvSpPr txBox="1"/>
          <p:nvPr/>
        </p:nvSpPr>
        <p:spPr>
          <a:xfrm>
            <a:off x="777240"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H1 · H3</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AUROC</a:t>
            </a:r>
          </a:p>
          <a:p>
            <a:pPr marL="0" indent="0">
              <a:buNone/>
            </a:pPr>
            <a:r>
              <a:rPr lang="en-US" sz="1400" dirty="0">
                <a:solidFill>
                  <a:srgbClr val="4A5568"/>
                </a:solidFill>
                <a:latin typeface="Calibri" pitchFamily="34" charset="0"/>
                <a:ea typeface="Calibri" pitchFamily="34" charset="-122"/>
                <a:cs typeface="Calibri" pitchFamily="34" charset="-120"/>
              </a:rPr>
              <a:t>Fake-edge detection: rank edges by 1 − </a:t>
            </a:r>
            <a:r>
              <a:rPr lang="en-US" sz="1400" i="1" dirty="0">
                <a:solidFill>
                  <a:srgbClr val="4A5568"/>
                </a:solidFill>
                <a:latin typeface="Calibri" pitchFamily="34" charset="0"/>
                <a:ea typeface="Calibri" pitchFamily="34" charset="-122"/>
                <a:cs typeface="Calibri" pitchFamily="34" charset="-120"/>
              </a:rPr>
              <a:t>q</a:t>
            </a:r>
            <a:r>
              <a:rPr lang="en-US" sz="1400" baseline="-25000" dirty="0">
                <a:solidFill>
                  <a:srgbClr val="4A5568"/>
                </a:solidFill>
                <a:latin typeface="Calibri" pitchFamily="34" charset="0"/>
                <a:ea typeface="Calibri" pitchFamily="34" charset="-122"/>
                <a:cs typeface="Calibri" pitchFamily="34" charset="-120"/>
              </a:rPr>
              <a:t>ij</a:t>
            </a:r>
            <a:r>
              <a:rPr lang="en-US" sz="1400" dirty="0">
                <a:solidFill>
                  <a:srgbClr val="4A5568"/>
                </a:solidFill>
                <a:latin typeface="Calibri" pitchFamily="34" charset="0"/>
                <a:ea typeface="Calibri" pitchFamily="34" charset="-122"/>
                <a:cs typeface="Calibri" pitchFamily="34" charset="-120"/>
              </a:rPr>
              <a:t>. Probability a random fake edge outranks a random real one (0.5 = chance, 1 = perfect).</a:t>
            </a:r>
          </a:p>
        </p:txBody>
      </p:sp>
      <p:sp>
        <p:nvSpPr>
          <p:cNvPr id="6" name="Shape 6"/>
          <p:cNvSpPr/>
          <p:nvPr/>
        </p:nvSpPr>
        <p:spPr>
          <a:xfrm>
            <a:off x="4334256"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7" name="Text 7"/>
          <p:cNvSpPr txBox="1"/>
          <p:nvPr/>
        </p:nvSpPr>
        <p:spPr>
          <a:xfrm>
            <a:off x="4562856"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H1</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AUPRC</a:t>
            </a:r>
          </a:p>
          <a:p>
            <a:pPr marL="0" indent="0">
              <a:buNone/>
            </a:pPr>
            <a:r>
              <a:rPr lang="en-US" sz="1400" dirty="0">
                <a:solidFill>
                  <a:srgbClr val="4A5568"/>
                </a:solidFill>
                <a:latin typeface="Calibri" pitchFamily="34" charset="0"/>
                <a:ea typeface="Calibri" pitchFamily="34" charset="-122"/>
                <a:cs typeface="Calibri" pitchFamily="34" charset="-120"/>
              </a:rPr>
              <a:t>Area under precision–recall. More informative when fakes are rare: at a 5% budget only about 1 in 20 edges is fake.</a:t>
            </a:r>
          </a:p>
        </p:txBody>
      </p:sp>
      <p:sp>
        <p:nvSpPr>
          <p:cNvPr id="8" name="Shape 8"/>
          <p:cNvSpPr/>
          <p:nvPr/>
        </p:nvSpPr>
        <p:spPr>
          <a:xfrm>
            <a:off x="8119872"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9" name="Text 9"/>
          <p:cNvSpPr txBox="1"/>
          <p:nvPr/>
        </p:nvSpPr>
        <p:spPr>
          <a:xfrm>
            <a:off x="8348472"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ALL</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Accuracy under attack</a:t>
            </a:r>
          </a:p>
          <a:p>
            <a:pPr marL="0" indent="0">
              <a:buNone/>
            </a:pPr>
            <a:r>
              <a:rPr lang="en-US" sz="1400" dirty="0">
                <a:solidFill>
                  <a:srgbClr val="4A5568"/>
                </a:solidFill>
                <a:latin typeface="Calibri" pitchFamily="34" charset="0"/>
                <a:ea typeface="Calibri" pitchFamily="34" charset="-122"/>
                <a:cs typeface="Calibri" pitchFamily="34" charset="-120"/>
              </a:rPr>
              <a:t>Node-classification accuracy at each budget (5–40%), so robustness doesn’t come at the cost of accuracy.</a:t>
            </a:r>
          </a:p>
        </p:txBody>
      </p:sp>
      <p:sp>
        <p:nvSpPr>
          <p:cNvPr id="10" name="Shape 10"/>
          <p:cNvSpPr/>
          <p:nvPr/>
        </p:nvSpPr>
        <p:spPr>
          <a:xfrm>
            <a:off x="548640"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1" name="Text 11"/>
          <p:cNvSpPr txBox="1"/>
          <p:nvPr/>
        </p:nvSpPr>
        <p:spPr>
          <a:xfrm>
            <a:off x="777240"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Expected calibration error</a:t>
            </a:r>
          </a:p>
          <a:p>
            <a:pPr marL="0" indent="0">
              <a:buNone/>
            </a:pPr>
            <a:r>
              <a:rPr lang="en-US" sz="1400" dirty="0">
                <a:solidFill>
                  <a:srgbClr val="4A5568"/>
                </a:solidFill>
                <a:latin typeface="Calibri" pitchFamily="34" charset="0"/>
                <a:ea typeface="Calibri" pitchFamily="34" charset="-122"/>
                <a:cs typeface="Calibri" pitchFamily="34" charset="-120"/>
              </a:rPr>
              <a:t>Average gap between confidence and accuracy across confidence bins. Shown as a reliability diagram.</a:t>
            </a:r>
          </a:p>
        </p:txBody>
      </p:sp>
      <p:sp>
        <p:nvSpPr>
          <p:cNvPr id="12" name="Shape 12"/>
          <p:cNvSpPr/>
          <p:nvPr/>
        </p:nvSpPr>
        <p:spPr>
          <a:xfrm>
            <a:off x="4334256"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3" name="Text 13"/>
          <p:cNvSpPr txBox="1"/>
          <p:nvPr/>
        </p:nvSpPr>
        <p:spPr>
          <a:xfrm>
            <a:off x="4562856"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NLL and Brier score</a:t>
            </a:r>
          </a:p>
          <a:p>
            <a:pPr marL="0" indent="0">
              <a:buNone/>
            </a:pPr>
            <a:r>
              <a:rPr lang="en-US" sz="1400" dirty="0">
                <a:solidFill>
                  <a:srgbClr val="4A5568"/>
                </a:solidFill>
                <a:latin typeface="Calibri" pitchFamily="34" charset="0"/>
                <a:ea typeface="Calibri" pitchFamily="34" charset="-122"/>
                <a:cs typeface="Calibri" pitchFamily="34" charset="-120"/>
              </a:rPr>
              <a:t>Proper scoring rules: they reward being accurate and honestly confident at the same time.</a:t>
            </a:r>
          </a:p>
        </p:txBody>
      </p:sp>
      <p:sp>
        <p:nvSpPr>
          <p:cNvPr id="14" name="Shape 14"/>
          <p:cNvSpPr/>
          <p:nvPr/>
        </p:nvSpPr>
        <p:spPr>
          <a:xfrm>
            <a:off x="8119872"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5" name="Text 15"/>
          <p:cNvSpPr txBox="1"/>
          <p:nvPr/>
        </p:nvSpPr>
        <p:spPr>
          <a:xfrm>
            <a:off x="8348472"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Uncertainty AUROC</a:t>
            </a:r>
          </a:p>
          <a:p>
            <a:pPr marL="0" indent="0">
              <a:buNone/>
            </a:pPr>
            <a:r>
              <a:rPr lang="en-US" sz="1400" dirty="0">
                <a:solidFill>
                  <a:srgbClr val="4A5568"/>
                </a:solidFill>
                <a:latin typeface="Calibri" pitchFamily="34" charset="0"/>
                <a:ea typeface="Calibri" pitchFamily="34" charset="-122"/>
                <a:cs typeface="Calibri" pitchFamily="34" charset="-120"/>
              </a:rPr>
              <a:t>Does predictive (epistemic) uncertainty separate attacked nodes, those touching a fake edge, from clean ones?</a:t>
            </a:r>
          </a:p>
        </p:txBody>
      </p:sp>
      <p:sp>
        <p:nvSpPr>
          <p:cNvPr id="16" name="Text 16"/>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p>
        </p:txBody>
      </p:sp>
      <p:sp>
        <p:nvSpPr>
          <p:cNvPr id="17" name="Text 17"/>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How I’ll check it</a:t>
            </a:r>
            <a:endParaRPr lang="en-US" sz="3600" dirty="0"/>
          </a:p>
        </p:txBody>
      </p:sp>
      <p:sp>
        <p:nvSpPr>
          <p:cNvPr id="3" name="Text 1"/>
          <p:cNvSpPr txBox="1"/>
          <p:nvPr/>
        </p:nvSpPr>
        <p:spPr>
          <a:xfrm>
            <a:off x="548640" y="1463040"/>
            <a:ext cx="630936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Simulate graphs with known fake edges and check the posterior recovers them</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Fake-edge detection: combined vs. LLM-only vs. structure-only</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Calibrate the LLM: how often is a “plausible” rating a real edge?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Reliability diagrams and calibration error, clean vs. attacked</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Posterior predictive check: label agreement along edges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Compare MC dropout, deep ensembles and variational inference</a:t>
            </a:r>
            <a:endParaRPr lang="en-US" sz="1800" dirty="0"/>
          </a:p>
        </p:txBody>
      </p:sp>
      <p:sp>
        <p:nvSpPr>
          <p:cNvPr id="6" name="Text 4"/>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C9D2E3"/>
                </a:solidFill>
                <a:latin typeface="Calibri" pitchFamily="34" charset="0"/>
                <a:ea typeface="Calibri" pitchFamily="34" charset="-122"/>
                <a:cs typeface="Calibri" pitchFamily="34" charset="-120"/>
              </a:rPr>
              <a:t>Luis Mendez · CSE5825 Project 0</a:t>
            </a:r>
            <a:endParaRPr lang="en-US" sz="1100" dirty="0"/>
          </a:p>
        </p:txBody>
      </p:sp>
      <p:sp>
        <p:nvSpPr>
          <p:cNvPr id="7" name="Text 5"/>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C9D2E3"/>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1985</Words>
  <Application>Microsoft Office PowerPoint</Application>
  <PresentationFormat>Widescreen</PresentationFormat>
  <Paragraphs>158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edges can a GNN trust?</dc:title>
  <dc:subject>PptxGenJS Presentation</dc:subject>
  <dc:creator>Luis Mendez</dc:creator>
  <cp:lastModifiedBy>Luis Alejandro Méndez Reyes</cp:lastModifiedBy>
  <cp:revision>2</cp:revision>
  <dcterms:created xsi:type="dcterms:W3CDTF">2026-10-01T11:45:40Z</dcterms:created>
  <dcterms:modified xsi:type="dcterms:W3CDTF">2026-10-01T18:26:27Z</dcterms:modified>
</cp:coreProperties>
</file>